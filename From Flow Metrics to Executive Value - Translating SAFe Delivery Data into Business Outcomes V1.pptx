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B8_2C7610D5.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BA_79B8CA23.xml" ContentType="application/vnd.ms-powerpoint.comments+xml"/>
  <Override PartName="/ppt/notesSlides/notesSlide14.xml" ContentType="application/vnd.openxmlformats-officedocument.presentationml.notesSlide+xml"/>
  <Override PartName="/ppt/comments/modernComment_1BB_263D784F.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12" r:id="rId1"/>
    <p:sldMasterId id="2147483648" r:id="rId2"/>
  </p:sldMasterIdLst>
  <p:notesMasterIdLst>
    <p:notesMasterId r:id="rId21"/>
  </p:notesMasterIdLst>
  <p:handoutMasterIdLst>
    <p:handoutMasterId r:id="rId22"/>
  </p:handoutMasterIdLst>
  <p:sldIdLst>
    <p:sldId id="430" r:id="rId3"/>
    <p:sldId id="431" r:id="rId4"/>
    <p:sldId id="432" r:id="rId5"/>
    <p:sldId id="433" r:id="rId6"/>
    <p:sldId id="434" r:id="rId7"/>
    <p:sldId id="435" r:id="rId8"/>
    <p:sldId id="436" r:id="rId9"/>
    <p:sldId id="437" r:id="rId10"/>
    <p:sldId id="438" r:id="rId11"/>
    <p:sldId id="439" r:id="rId12"/>
    <p:sldId id="440" r:id="rId13"/>
    <p:sldId id="441" r:id="rId14"/>
    <p:sldId id="442" r:id="rId15"/>
    <p:sldId id="443" r:id="rId16"/>
    <p:sldId id="444" r:id="rId17"/>
    <p:sldId id="445" r:id="rId18"/>
    <p:sldId id="446" r:id="rId19"/>
    <p:sldId id="447" r:id="rId2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28" userDrawn="1">
          <p15:clr>
            <a:srgbClr val="A4A3A4"/>
          </p15:clr>
        </p15:guide>
        <p15:guide id="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08F43FA-D280-E621-E153-E5C0394D2F6B}" name="Prigg, Steven" initials="SP" userId="S::steven.prigg@cgi.com::4e4e984d-d810-4f88-90a6-33d3416d2c3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5296"/>
    <a:srgbClr val="695CA8"/>
    <a:srgbClr val="052126"/>
    <a:srgbClr val="043846"/>
    <a:srgbClr val="8ACBCE"/>
    <a:srgbClr val="000000"/>
    <a:srgbClr val="64539B"/>
    <a:srgbClr val="F7BA4E"/>
    <a:srgbClr val="76B6C3"/>
    <a:srgbClr val="41414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798CAA-EFF9-4EB2-9155-E9E43A6A3D84}" v="162" dt="2026-09-16T20:31:00.566"/>
  </p1510:revLst>
</p1510:revInfo>
</file>

<file path=ppt/tableStyles.xml><?xml version="1.0" encoding="utf-8"?>
<a:tblStyleLst xmlns:a="http://schemas.openxmlformats.org/drawingml/2006/main" def="{5C22544A-7EE6-4342-B048-85BDC9FD1C3A}">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3228"/>
        <p:guide/>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80000165_89F2E84.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_80000166_D4A70E7A.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_80000167_335A4738.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_80000155_89F2E84.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_80000156_D4A70E7A.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_80000157_335A4738.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0860037720981746"/>
          <c:y val="6.7796274950009963E-2"/>
        </c:manualLayout>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2"/>
              </a:solidFill>
              <a:latin typeface="+mn-lt"/>
              <a:ea typeface="+mn-ea"/>
              <a:cs typeface="+mn-cs"/>
            </a:defRPr>
          </a:pPr>
          <a:endParaRPr lang="en-US"/>
        </a:p>
      </c:txPr>
    </c:title>
    <c:autoTitleDeleted val="0"/>
    <c:plotArea>
      <c:layout>
        <c:manualLayout>
          <c:layoutTarget val="inner"/>
          <c:xMode val="edge"/>
          <c:yMode val="edge"/>
          <c:x val="0.12997345206036101"/>
          <c:y val="0.18920038509258"/>
          <c:w val="0.84332008416660897"/>
          <c:h val="0.6292610147637685"/>
        </c:manualLayout>
      </c:layout>
      <c:lineChart>
        <c:grouping val="standard"/>
        <c:varyColors val="0"/>
        <c:ser>
          <c:idx val="0"/>
          <c:order val="0"/>
          <c:tx>
            <c:strRef>
              <c:f>Sheet1!$B$1</c:f>
              <c:strCache>
                <c:ptCount val="1"/>
                <c:pt idx="0">
                  <c:v>Item1</c:v>
                </c:pt>
              </c:strCache>
            </c:strRef>
          </c:tx>
          <c:spPr>
            <a:ln w="28575" cap="rnd">
              <a:solidFill>
                <a:schemeClr val="accent1"/>
              </a:solidFill>
              <a:round/>
            </a:ln>
            <a:effectLst/>
          </c:spPr>
          <c:marker>
            <c:symbol val="none"/>
          </c:marker>
          <c:dPt>
            <c:idx val="0"/>
            <c:marker>
              <c:symbol val="none"/>
            </c:marker>
            <c:bubble3D val="0"/>
            <c:extLst>
              <c:ext xmlns:c16="http://schemas.microsoft.com/office/drawing/2014/chart" uri="{C3380CC4-5D6E-409C-BE32-E72D297353CC}">
                <c16:uniqueId val="{00000000-0885-6447-9F9E-45EEE4114580}"/>
              </c:ext>
            </c:extLst>
          </c:dPt>
          <c:dPt>
            <c:idx val="1"/>
            <c:marker>
              <c:symbol val="none"/>
            </c:marker>
            <c:bubble3D val="0"/>
            <c:extLst>
              <c:ext xmlns:c16="http://schemas.microsoft.com/office/drawing/2014/chart" uri="{C3380CC4-5D6E-409C-BE32-E72D297353CC}">
                <c16:uniqueId val="{00000001-0885-6447-9F9E-45EEE4114580}"/>
              </c:ext>
            </c:extLst>
          </c:dPt>
          <c:dPt>
            <c:idx val="2"/>
            <c:marker>
              <c:symbol val="none"/>
            </c:marker>
            <c:bubble3D val="0"/>
            <c:extLst>
              <c:ext xmlns:c16="http://schemas.microsoft.com/office/drawing/2014/chart" uri="{C3380CC4-5D6E-409C-BE32-E72D297353CC}">
                <c16:uniqueId val="{00000002-0885-6447-9F9E-45EEE4114580}"/>
              </c:ext>
            </c:extLst>
          </c:dPt>
          <c:dPt>
            <c:idx val="3"/>
            <c:marker>
              <c:symbol val="none"/>
            </c:marker>
            <c:bubble3D val="0"/>
            <c:extLst>
              <c:ext xmlns:c16="http://schemas.microsoft.com/office/drawing/2014/chart" uri="{C3380CC4-5D6E-409C-BE32-E72D297353CC}">
                <c16:uniqueId val="{00000003-0885-6447-9F9E-45EEE4114580}"/>
              </c:ext>
            </c:extLst>
          </c:dPt>
          <c:dLbls>
            <c:delete val="1"/>
          </c:dLbls>
          <c:cat>
            <c:strRef>
              <c:f>Sheet1!$A$2:$A$7</c:f>
              <c:strCache>
                <c:ptCount val="6"/>
                <c:pt idx="0">
                  <c:v>1st Qtr</c:v>
                </c:pt>
                <c:pt idx="1">
                  <c:v>2nd Qtr</c:v>
                </c:pt>
                <c:pt idx="2">
                  <c:v>3rd Qtr</c:v>
                </c:pt>
                <c:pt idx="3">
                  <c:v>4th Qtr</c:v>
                </c:pt>
                <c:pt idx="4">
                  <c:v>5th Qtr</c:v>
                </c:pt>
                <c:pt idx="5">
                  <c:v>6th Qtr</c:v>
                </c:pt>
              </c:strCache>
            </c:strRef>
          </c:cat>
          <c:val>
            <c:numRef>
              <c:f>Sheet1!$B$2:$B$7</c:f>
              <c:numCache>
                <c:formatCode>General</c:formatCode>
                <c:ptCount val="6"/>
                <c:pt idx="0">
                  <c:v>1</c:v>
                </c:pt>
                <c:pt idx="1">
                  <c:v>2</c:v>
                </c:pt>
                <c:pt idx="2">
                  <c:v>3</c:v>
                </c:pt>
                <c:pt idx="3">
                  <c:v>4</c:v>
                </c:pt>
                <c:pt idx="4">
                  <c:v>5</c:v>
                </c:pt>
                <c:pt idx="5">
                  <c:v>7</c:v>
                </c:pt>
              </c:numCache>
            </c:numRef>
          </c:val>
          <c:smooth val="0"/>
          <c:extLst>
            <c:ext xmlns:c16="http://schemas.microsoft.com/office/drawing/2014/chart" uri="{C3380CC4-5D6E-409C-BE32-E72D297353CC}">
              <c16:uniqueId val="{00000004-0885-6447-9F9E-45EEE4114580}"/>
            </c:ext>
          </c:extLst>
        </c:ser>
        <c:ser>
          <c:idx val="1"/>
          <c:order val="1"/>
          <c:tx>
            <c:strRef>
              <c:f>Sheet1!$C$1</c:f>
              <c:strCache>
                <c:ptCount val="1"/>
                <c:pt idx="0">
                  <c:v>Item2</c:v>
                </c:pt>
              </c:strCache>
            </c:strRef>
          </c:tx>
          <c:spPr>
            <a:ln w="28575" cap="rnd">
              <a:solidFill>
                <a:schemeClr val="accent2"/>
              </a:solidFill>
              <a:round/>
            </a:ln>
            <a:effectLst/>
          </c:spPr>
          <c:marker>
            <c:symbol val="none"/>
          </c:marker>
          <c:dLbls>
            <c:delete val="1"/>
          </c:dLbls>
          <c:cat>
            <c:strRef>
              <c:f>Sheet1!$A$2:$A$7</c:f>
              <c:strCache>
                <c:ptCount val="6"/>
                <c:pt idx="0">
                  <c:v>1st Qtr</c:v>
                </c:pt>
                <c:pt idx="1">
                  <c:v>2nd Qtr</c:v>
                </c:pt>
                <c:pt idx="2">
                  <c:v>3rd Qtr</c:v>
                </c:pt>
                <c:pt idx="3">
                  <c:v>4th Qtr</c:v>
                </c:pt>
                <c:pt idx="4">
                  <c:v>5th Qtr</c:v>
                </c:pt>
                <c:pt idx="5">
                  <c:v>6th Qtr</c:v>
                </c:pt>
              </c:strCache>
            </c:strRef>
          </c:cat>
          <c:val>
            <c:numRef>
              <c:f>Sheet1!$C$2:$C$7</c:f>
              <c:numCache>
                <c:formatCode>General</c:formatCode>
                <c:ptCount val="6"/>
                <c:pt idx="0">
                  <c:v>2</c:v>
                </c:pt>
                <c:pt idx="1">
                  <c:v>3</c:v>
                </c:pt>
                <c:pt idx="2">
                  <c:v>4</c:v>
                </c:pt>
                <c:pt idx="3">
                  <c:v>5</c:v>
                </c:pt>
                <c:pt idx="4">
                  <c:v>6</c:v>
                </c:pt>
                <c:pt idx="5">
                  <c:v>8</c:v>
                </c:pt>
              </c:numCache>
            </c:numRef>
          </c:val>
          <c:smooth val="0"/>
          <c:extLst>
            <c:ext xmlns:c16="http://schemas.microsoft.com/office/drawing/2014/chart" uri="{C3380CC4-5D6E-409C-BE32-E72D297353CC}">
              <c16:uniqueId val="{00000005-0885-6447-9F9E-45EEE4114580}"/>
            </c:ext>
          </c:extLst>
        </c:ser>
        <c:ser>
          <c:idx val="2"/>
          <c:order val="2"/>
          <c:tx>
            <c:strRef>
              <c:f>Sheet1!$D$1</c:f>
              <c:strCache>
                <c:ptCount val="1"/>
                <c:pt idx="0">
                  <c:v>Item3</c:v>
                </c:pt>
              </c:strCache>
            </c:strRef>
          </c:tx>
          <c:spPr>
            <a:ln w="28575" cap="rnd">
              <a:solidFill>
                <a:schemeClr val="accent3"/>
              </a:solidFill>
              <a:round/>
            </a:ln>
            <a:effectLst/>
          </c:spPr>
          <c:marker>
            <c:symbol val="none"/>
          </c:marker>
          <c:dLbls>
            <c:delete val="1"/>
          </c:dLbls>
          <c:cat>
            <c:strRef>
              <c:f>Sheet1!$A$2:$A$7</c:f>
              <c:strCache>
                <c:ptCount val="6"/>
                <c:pt idx="0">
                  <c:v>1st Qtr</c:v>
                </c:pt>
                <c:pt idx="1">
                  <c:v>2nd Qtr</c:v>
                </c:pt>
                <c:pt idx="2">
                  <c:v>3rd Qtr</c:v>
                </c:pt>
                <c:pt idx="3">
                  <c:v>4th Qtr</c:v>
                </c:pt>
                <c:pt idx="4">
                  <c:v>5th Qtr</c:v>
                </c:pt>
                <c:pt idx="5">
                  <c:v>6th Qtr</c:v>
                </c:pt>
              </c:strCache>
            </c:strRef>
          </c:cat>
          <c:val>
            <c:numRef>
              <c:f>Sheet1!$D$2:$D$7</c:f>
              <c:numCache>
                <c:formatCode>General</c:formatCode>
                <c:ptCount val="6"/>
                <c:pt idx="0">
                  <c:v>3</c:v>
                </c:pt>
                <c:pt idx="1">
                  <c:v>4</c:v>
                </c:pt>
                <c:pt idx="2">
                  <c:v>5</c:v>
                </c:pt>
                <c:pt idx="3">
                  <c:v>6</c:v>
                </c:pt>
                <c:pt idx="4">
                  <c:v>7</c:v>
                </c:pt>
                <c:pt idx="5">
                  <c:v>9</c:v>
                </c:pt>
              </c:numCache>
            </c:numRef>
          </c:val>
          <c:smooth val="0"/>
          <c:extLst>
            <c:ext xmlns:c16="http://schemas.microsoft.com/office/drawing/2014/chart" uri="{C3380CC4-5D6E-409C-BE32-E72D297353CC}">
              <c16:uniqueId val="{00000006-0885-6447-9F9E-45EEE4114580}"/>
            </c:ext>
          </c:extLst>
        </c:ser>
        <c:ser>
          <c:idx val="3"/>
          <c:order val="3"/>
          <c:tx>
            <c:strRef>
              <c:f>Sheet1!$E$1</c:f>
              <c:strCache>
                <c:ptCount val="1"/>
                <c:pt idx="0">
                  <c:v>Item4</c:v>
                </c:pt>
              </c:strCache>
            </c:strRef>
          </c:tx>
          <c:spPr>
            <a:ln w="28575" cap="rnd">
              <a:solidFill>
                <a:schemeClr val="accent4"/>
              </a:solidFill>
              <a:round/>
            </a:ln>
            <a:effectLst/>
          </c:spPr>
          <c:marker>
            <c:symbol val="none"/>
          </c:marker>
          <c:dLbls>
            <c:delete val="1"/>
          </c:dLbls>
          <c:cat>
            <c:strRef>
              <c:f>Sheet1!$A$2:$A$7</c:f>
              <c:strCache>
                <c:ptCount val="6"/>
                <c:pt idx="0">
                  <c:v>1st Qtr</c:v>
                </c:pt>
                <c:pt idx="1">
                  <c:v>2nd Qtr</c:v>
                </c:pt>
                <c:pt idx="2">
                  <c:v>3rd Qtr</c:v>
                </c:pt>
                <c:pt idx="3">
                  <c:v>4th Qtr</c:v>
                </c:pt>
                <c:pt idx="4">
                  <c:v>5th Qtr</c:v>
                </c:pt>
                <c:pt idx="5">
                  <c:v>6th Qtr</c:v>
                </c:pt>
              </c:strCache>
            </c:strRef>
          </c:cat>
          <c:val>
            <c:numRef>
              <c:f>Sheet1!$E$2:$E$7</c:f>
              <c:numCache>
                <c:formatCode>General</c:formatCode>
                <c:ptCount val="6"/>
                <c:pt idx="0">
                  <c:v>4</c:v>
                </c:pt>
                <c:pt idx="1">
                  <c:v>5</c:v>
                </c:pt>
                <c:pt idx="2">
                  <c:v>6</c:v>
                </c:pt>
                <c:pt idx="3">
                  <c:v>7</c:v>
                </c:pt>
                <c:pt idx="4">
                  <c:v>8</c:v>
                </c:pt>
                <c:pt idx="5">
                  <c:v>10</c:v>
                </c:pt>
              </c:numCache>
            </c:numRef>
          </c:val>
          <c:smooth val="0"/>
          <c:extLst>
            <c:ext xmlns:c16="http://schemas.microsoft.com/office/drawing/2014/chart" uri="{C3380CC4-5D6E-409C-BE32-E72D297353CC}">
              <c16:uniqueId val="{00000007-0885-6447-9F9E-45EEE4114580}"/>
            </c:ext>
          </c:extLst>
        </c:ser>
        <c:ser>
          <c:idx val="4"/>
          <c:order val="4"/>
          <c:tx>
            <c:strRef>
              <c:f>Sheet1!$F$1</c:f>
              <c:strCache>
                <c:ptCount val="1"/>
                <c:pt idx="0">
                  <c:v>Item5</c:v>
                </c:pt>
              </c:strCache>
            </c:strRef>
          </c:tx>
          <c:spPr>
            <a:ln w="28575" cap="rnd">
              <a:solidFill>
                <a:schemeClr val="accent5"/>
              </a:solidFill>
              <a:round/>
            </a:ln>
            <a:effectLst/>
          </c:spPr>
          <c:marker>
            <c:symbol val="none"/>
          </c:marker>
          <c:dLbls>
            <c:delete val="1"/>
          </c:dLbls>
          <c:cat>
            <c:strRef>
              <c:f>Sheet1!$A$2:$A$7</c:f>
              <c:strCache>
                <c:ptCount val="6"/>
                <c:pt idx="0">
                  <c:v>1st Qtr</c:v>
                </c:pt>
                <c:pt idx="1">
                  <c:v>2nd Qtr</c:v>
                </c:pt>
                <c:pt idx="2">
                  <c:v>3rd Qtr</c:v>
                </c:pt>
                <c:pt idx="3">
                  <c:v>4th Qtr</c:v>
                </c:pt>
                <c:pt idx="4">
                  <c:v>5th Qtr</c:v>
                </c:pt>
                <c:pt idx="5">
                  <c:v>6th Qtr</c:v>
                </c:pt>
              </c:strCache>
            </c:strRef>
          </c:cat>
          <c:val>
            <c:numRef>
              <c:f>Sheet1!$F$2:$F$7</c:f>
              <c:numCache>
                <c:formatCode>General</c:formatCode>
                <c:ptCount val="6"/>
                <c:pt idx="0">
                  <c:v>5</c:v>
                </c:pt>
                <c:pt idx="1">
                  <c:v>6</c:v>
                </c:pt>
                <c:pt idx="2">
                  <c:v>7</c:v>
                </c:pt>
                <c:pt idx="3">
                  <c:v>8</c:v>
                </c:pt>
                <c:pt idx="4">
                  <c:v>9</c:v>
                </c:pt>
                <c:pt idx="5">
                  <c:v>11</c:v>
                </c:pt>
              </c:numCache>
            </c:numRef>
          </c:val>
          <c:smooth val="0"/>
          <c:extLst>
            <c:ext xmlns:c16="http://schemas.microsoft.com/office/drawing/2014/chart" uri="{C3380CC4-5D6E-409C-BE32-E72D297353CC}">
              <c16:uniqueId val="{00000008-0885-6447-9F9E-45EEE4114580}"/>
            </c:ext>
          </c:extLst>
        </c:ser>
        <c:dLbls>
          <c:dLblPos val="ctr"/>
          <c:showLegendKey val="0"/>
          <c:showVal val="1"/>
          <c:showCatName val="0"/>
          <c:showSerName val="0"/>
          <c:showPercent val="0"/>
          <c:showBubbleSize val="0"/>
        </c:dLbls>
        <c:smooth val="0"/>
        <c:axId val="934799736"/>
        <c:axId val="934794088"/>
      </c:lineChart>
      <c:valAx>
        <c:axId val="934794088"/>
        <c:scaling>
          <c:orientation val="minMax"/>
        </c:scaling>
        <c:delete val="0"/>
        <c:axPos val="l"/>
        <c:majorGridlines>
          <c:spPr>
            <a:ln w="6350" cap="flat" cmpd="sng" algn="ctr">
              <a:solidFill>
                <a:schemeClr val="tx2">
                  <a:lumMod val="20000"/>
                  <a:lumOff val="80000"/>
                </a:schemeClr>
              </a:solidFill>
              <a:round/>
            </a:ln>
            <a:effectLst/>
          </c:spPr>
        </c:majorGridlines>
        <c:title>
          <c:overlay val="0"/>
          <c:spPr>
            <a:noFill/>
            <a:ln>
              <a:noFill/>
            </a:ln>
            <a:effectLst/>
          </c:spPr>
          <c:txPr>
            <a:bodyPr rot="-540000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934799736"/>
        <c:crosses val="autoZero"/>
        <c:crossBetween val="between"/>
      </c:valAx>
      <c:catAx>
        <c:axId val="934799736"/>
        <c:scaling>
          <c:orientation val="minMax"/>
        </c:scaling>
        <c:delete val="0"/>
        <c:axPos val="b"/>
        <c:title>
          <c:overlay val="0"/>
          <c:spPr>
            <a:noFill/>
            <a:ln>
              <a:noFill/>
            </a:ln>
            <a:effectLst/>
          </c:spPr>
          <c:txPr>
            <a:bodyPr rot="0" spcFirstLastPara="1" vertOverflow="ellipsis" vert="horz" wrap="square" anchor="ctr" anchorCtr="1"/>
            <a:lstStyle/>
            <a:p>
              <a:pPr>
                <a:defRPr sz="1100" b="0" i="0" u="none" strike="noStrike" kern="1200" baseline="0">
                  <a:solidFill>
                    <a:schemeClr val="tx2"/>
                  </a:solidFill>
                  <a:latin typeface="+mn-lt"/>
                  <a:ea typeface="+mn-ea"/>
                  <a:cs typeface="+mn-cs"/>
                </a:defRPr>
              </a:pPr>
              <a:endParaRPr lang="en-US"/>
            </a:p>
          </c:txPr>
        </c:title>
        <c:numFmt formatCode="General" sourceLinked="0"/>
        <c:majorTickMark val="none"/>
        <c:minorTickMark val="none"/>
        <c:tickLblPos val="nextTo"/>
        <c:spPr>
          <a:noFill/>
          <a:ln w="9525" cap="flat" cmpd="sng" algn="ctr">
            <a:solidFill>
              <a:schemeClr val="tx2">
                <a:lumMod val="60000"/>
                <a:lumOff val="40000"/>
              </a:schemeClr>
            </a:solidFill>
            <a:round/>
          </a:ln>
          <a:effectLst/>
        </c:spPr>
        <c:txPr>
          <a:bodyPr rot="-6000000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US"/>
          </a:p>
        </c:txPr>
        <c:crossAx val="934794088"/>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2"/>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2"/>
                </a:solidFill>
                <a:latin typeface="+mn-lt"/>
                <a:ea typeface="+mn-ea"/>
                <a:cs typeface="+mn-cs"/>
              </a:defRPr>
            </a:pPr>
            <a:r>
              <a:rPr lang="en-US" sz="1600"/>
              <a:t>Chart Title</a:t>
            </a:r>
          </a:p>
        </c:rich>
      </c:tx>
      <c:layout>
        <c:manualLayout>
          <c:xMode val="edge"/>
          <c:yMode val="edge"/>
          <c:x val="0.39540995101021958"/>
          <c:y val="5.1131451299887977E-2"/>
        </c:manualLayout>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2"/>
              </a:solidFill>
              <a:latin typeface="+mn-lt"/>
              <a:ea typeface="+mn-ea"/>
              <a:cs typeface="+mn-cs"/>
            </a:defRPr>
          </a:pPr>
          <a:endParaRPr lang="en-US"/>
        </a:p>
      </c:txPr>
    </c:title>
    <c:autoTitleDeleted val="0"/>
    <c:plotArea>
      <c:layout>
        <c:manualLayout>
          <c:layoutTarget val="inner"/>
          <c:xMode val="edge"/>
          <c:yMode val="edge"/>
          <c:x val="0.24972021278115639"/>
          <c:y val="0.15688307611270466"/>
          <c:w val="0.48545161412039844"/>
          <c:h val="0.66668477813824634"/>
        </c:manualLayout>
      </c:layout>
      <c:pieChart>
        <c:varyColors val="1"/>
        <c:ser>
          <c:idx val="0"/>
          <c:order val="0"/>
          <c:tx>
            <c:strRef>
              <c:f>Sheet1!$B$1</c:f>
              <c:strCache>
                <c:ptCount val="1"/>
                <c:pt idx="0">
                  <c:v>Series 1</c:v>
                </c:pt>
              </c:strCache>
            </c:strRef>
          </c:tx>
          <c:spPr>
            <a:ln w="12700"/>
          </c:spPr>
          <c:dPt>
            <c:idx val="0"/>
            <c:bubble3D val="0"/>
            <c:spPr>
              <a:solidFill>
                <a:schemeClr val="accent1"/>
              </a:solidFill>
              <a:ln w="12700">
                <a:solidFill>
                  <a:schemeClr val="lt1"/>
                </a:solidFill>
              </a:ln>
              <a:effectLst/>
            </c:spPr>
            <c:extLst>
              <c:ext xmlns:c16="http://schemas.microsoft.com/office/drawing/2014/chart" uri="{C3380CC4-5D6E-409C-BE32-E72D297353CC}">
                <c16:uniqueId val="{00000001-2F45-5849-A322-A6B852639B3D}"/>
              </c:ext>
            </c:extLst>
          </c:dPt>
          <c:dPt>
            <c:idx val="1"/>
            <c:bubble3D val="0"/>
            <c:spPr>
              <a:solidFill>
                <a:schemeClr val="accent2"/>
              </a:solidFill>
              <a:ln w="12700">
                <a:solidFill>
                  <a:schemeClr val="lt1"/>
                </a:solidFill>
              </a:ln>
              <a:effectLst/>
            </c:spPr>
            <c:extLst>
              <c:ext xmlns:c16="http://schemas.microsoft.com/office/drawing/2014/chart" uri="{C3380CC4-5D6E-409C-BE32-E72D297353CC}">
                <c16:uniqueId val="{00000003-2F45-5849-A322-A6B852639B3D}"/>
              </c:ext>
            </c:extLst>
          </c:dPt>
          <c:dPt>
            <c:idx val="2"/>
            <c:bubble3D val="0"/>
            <c:spPr>
              <a:solidFill>
                <a:schemeClr val="accent3"/>
              </a:solidFill>
              <a:ln w="12700">
                <a:solidFill>
                  <a:schemeClr val="lt1"/>
                </a:solidFill>
              </a:ln>
              <a:effectLst/>
            </c:spPr>
            <c:extLst>
              <c:ext xmlns:c16="http://schemas.microsoft.com/office/drawing/2014/chart" uri="{C3380CC4-5D6E-409C-BE32-E72D297353CC}">
                <c16:uniqueId val="{00000005-2F45-5849-A322-A6B852639B3D}"/>
              </c:ext>
            </c:extLst>
          </c:dPt>
          <c:dPt>
            <c:idx val="3"/>
            <c:bubble3D val="0"/>
            <c:spPr>
              <a:solidFill>
                <a:schemeClr val="accent4"/>
              </a:solidFill>
              <a:ln w="12700">
                <a:solidFill>
                  <a:schemeClr val="lt1"/>
                </a:solidFill>
              </a:ln>
              <a:effectLst/>
            </c:spPr>
            <c:extLst>
              <c:ext xmlns:c16="http://schemas.microsoft.com/office/drawing/2014/chart" uri="{C3380CC4-5D6E-409C-BE32-E72D297353CC}">
                <c16:uniqueId val="{00000007-2F45-5849-A322-A6B852639B3D}"/>
              </c:ext>
            </c:extLst>
          </c:dPt>
          <c:dPt>
            <c:idx val="4"/>
            <c:bubble3D val="0"/>
            <c:spPr>
              <a:solidFill>
                <a:schemeClr val="accent5"/>
              </a:solidFill>
              <a:ln w="12700">
                <a:solidFill>
                  <a:schemeClr val="lt1"/>
                </a:solidFill>
              </a:ln>
              <a:effectLst/>
            </c:spPr>
            <c:extLst>
              <c:ext xmlns:c16="http://schemas.microsoft.com/office/drawing/2014/chart" uri="{C3380CC4-5D6E-409C-BE32-E72D297353CC}">
                <c16:uniqueId val="{00000009-2F45-5849-A322-A6B852639B3D}"/>
              </c:ext>
            </c:extLst>
          </c:dPt>
          <c:dLbls>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4.3</c:v>
                </c:pt>
                <c:pt idx="1">
                  <c:v>2.5</c:v>
                </c:pt>
                <c:pt idx="2">
                  <c:v>3.5</c:v>
                </c:pt>
                <c:pt idx="3">
                  <c:v>4.5</c:v>
                </c:pt>
                <c:pt idx="4">
                  <c:v>2.5</c:v>
                </c:pt>
              </c:numCache>
            </c:numRef>
          </c:val>
          <c:extLst>
            <c:ext xmlns:c16="http://schemas.microsoft.com/office/drawing/2014/chart" uri="{C3380CC4-5D6E-409C-BE32-E72D297353CC}">
              <c16:uniqueId val="{0000000A-2F45-5849-A322-A6B852639B3D}"/>
            </c:ext>
          </c:extLst>
        </c:ser>
        <c:ser>
          <c:idx val="1"/>
          <c:order val="1"/>
          <c:tx>
            <c:strRef>
              <c:f>Sheet1!$C$1</c:f>
              <c:strCache>
                <c:ptCount val="1"/>
                <c:pt idx="0">
                  <c:v>Series 2</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C-2F45-5849-A322-A6B852639B3D}"/>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E-2F45-5849-A322-A6B852639B3D}"/>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0-2F45-5849-A322-A6B852639B3D}"/>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2-2F45-5849-A322-A6B852639B3D}"/>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14-2F45-5849-A322-A6B852639B3D}"/>
              </c:ext>
            </c:extLst>
          </c:dPt>
          <c:dLbls>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Category 1</c:v>
                </c:pt>
                <c:pt idx="1">
                  <c:v>Category 2</c:v>
                </c:pt>
                <c:pt idx="2">
                  <c:v>Category 3</c:v>
                </c:pt>
                <c:pt idx="3">
                  <c:v>Category 4</c:v>
                </c:pt>
                <c:pt idx="4">
                  <c:v>Category 5</c:v>
                </c:pt>
              </c:strCache>
            </c:strRef>
          </c:cat>
          <c:val>
            <c:numRef>
              <c:f>Sheet1!$C$2:$C$6</c:f>
              <c:numCache>
                <c:formatCode>General</c:formatCode>
                <c:ptCount val="5"/>
                <c:pt idx="0">
                  <c:v>2.4</c:v>
                </c:pt>
                <c:pt idx="1">
                  <c:v>4.4000000000000004</c:v>
                </c:pt>
                <c:pt idx="2">
                  <c:v>1.8</c:v>
                </c:pt>
                <c:pt idx="3">
                  <c:v>2.8</c:v>
                </c:pt>
                <c:pt idx="4">
                  <c:v>3</c:v>
                </c:pt>
              </c:numCache>
            </c:numRef>
          </c:val>
          <c:extLst>
            <c:ext xmlns:c16="http://schemas.microsoft.com/office/drawing/2014/chart" uri="{C3380CC4-5D6E-409C-BE32-E72D297353CC}">
              <c16:uniqueId val="{00000015-2F45-5849-A322-A6B852639B3D}"/>
            </c:ext>
          </c:extLst>
        </c:ser>
        <c:ser>
          <c:idx val="2"/>
          <c:order val="2"/>
          <c:tx>
            <c:strRef>
              <c:f>Sheet1!$D$1</c:f>
              <c:strCache>
                <c:ptCount val="1"/>
                <c:pt idx="0">
                  <c:v>Series 3</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17-2F45-5849-A322-A6B852639B3D}"/>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19-2F45-5849-A322-A6B852639B3D}"/>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B-2F45-5849-A322-A6B852639B3D}"/>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D-2F45-5849-A322-A6B852639B3D}"/>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1F-2F45-5849-A322-A6B852639B3D}"/>
              </c:ext>
            </c:extLst>
          </c:dPt>
          <c:dLbls>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Category 1</c:v>
                </c:pt>
                <c:pt idx="1">
                  <c:v>Category 2</c:v>
                </c:pt>
                <c:pt idx="2">
                  <c:v>Category 3</c:v>
                </c:pt>
                <c:pt idx="3">
                  <c:v>Category 4</c:v>
                </c:pt>
                <c:pt idx="4">
                  <c:v>Category 5</c:v>
                </c:pt>
              </c:strCache>
            </c:strRef>
          </c:cat>
          <c:val>
            <c:numRef>
              <c:f>Sheet1!$D$2:$D$6</c:f>
              <c:numCache>
                <c:formatCode>General</c:formatCode>
                <c:ptCount val="5"/>
                <c:pt idx="0">
                  <c:v>2</c:v>
                </c:pt>
                <c:pt idx="1">
                  <c:v>2</c:v>
                </c:pt>
                <c:pt idx="2">
                  <c:v>3</c:v>
                </c:pt>
                <c:pt idx="3">
                  <c:v>5</c:v>
                </c:pt>
                <c:pt idx="4">
                  <c:v>4</c:v>
                </c:pt>
              </c:numCache>
            </c:numRef>
          </c:val>
          <c:extLst>
            <c:ext xmlns:c16="http://schemas.microsoft.com/office/drawing/2014/chart" uri="{C3380CC4-5D6E-409C-BE32-E72D297353CC}">
              <c16:uniqueId val="{00000020-2F45-5849-A322-A6B852639B3D}"/>
            </c:ext>
          </c:extLst>
        </c:ser>
        <c:ser>
          <c:idx val="3"/>
          <c:order val="3"/>
          <c:tx>
            <c:strRef>
              <c:f>Sheet1!$E$1</c:f>
              <c:strCache>
                <c:ptCount val="1"/>
                <c:pt idx="0">
                  <c:v>Series 4</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22-2F45-5849-A322-A6B852639B3D}"/>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24-2F45-5849-A322-A6B852639B3D}"/>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26-2F45-5849-A322-A6B852639B3D}"/>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28-2F45-5849-A322-A6B852639B3D}"/>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2A-2F45-5849-A322-A6B852639B3D}"/>
              </c:ext>
            </c:extLst>
          </c:dPt>
          <c:dLbls>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Category 1</c:v>
                </c:pt>
                <c:pt idx="1">
                  <c:v>Category 2</c:v>
                </c:pt>
                <c:pt idx="2">
                  <c:v>Category 3</c:v>
                </c:pt>
                <c:pt idx="3">
                  <c:v>Category 4</c:v>
                </c:pt>
                <c:pt idx="4">
                  <c:v>Category 5</c:v>
                </c:pt>
              </c:strCache>
            </c:strRef>
          </c:cat>
          <c:val>
            <c:numRef>
              <c:f>Sheet1!$E$2:$E$6</c:f>
              <c:numCache>
                <c:formatCode>General</c:formatCode>
                <c:ptCount val="5"/>
                <c:pt idx="0">
                  <c:v>2.4</c:v>
                </c:pt>
                <c:pt idx="1">
                  <c:v>4.4000000000000004</c:v>
                </c:pt>
                <c:pt idx="2">
                  <c:v>1.8</c:v>
                </c:pt>
                <c:pt idx="3">
                  <c:v>2.8</c:v>
                </c:pt>
                <c:pt idx="4">
                  <c:v>3</c:v>
                </c:pt>
              </c:numCache>
            </c:numRef>
          </c:val>
          <c:extLst>
            <c:ext xmlns:c16="http://schemas.microsoft.com/office/drawing/2014/chart" uri="{C3380CC4-5D6E-409C-BE32-E72D297353CC}">
              <c16:uniqueId val="{0000002B-2F45-5849-A322-A6B852639B3D}"/>
            </c:ext>
          </c:extLst>
        </c:ser>
        <c:dLbls>
          <c:showLegendKey val="0"/>
          <c:showVal val="0"/>
          <c:showCatName val="1"/>
          <c:showSerName val="0"/>
          <c:showPercent val="1"/>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2"/>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0" i="0" u="none" strike="noStrike" kern="1200" spc="0" baseline="0">
              <a:solidFill>
                <a:schemeClr val="tx2"/>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2"/>
            </a:solidFill>
            <a:ln>
              <a:noFill/>
            </a:ln>
            <a:effectLst/>
          </c:spPr>
          <c:invertIfNegative val="0"/>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4.3</c:v>
                </c:pt>
                <c:pt idx="1">
                  <c:v>2.5</c:v>
                </c:pt>
                <c:pt idx="2">
                  <c:v>3.5</c:v>
                </c:pt>
                <c:pt idx="3">
                  <c:v>4.5</c:v>
                </c:pt>
                <c:pt idx="4">
                  <c:v>2.5</c:v>
                </c:pt>
              </c:numCache>
            </c:numRef>
          </c:val>
          <c:extLst>
            <c:ext xmlns:c16="http://schemas.microsoft.com/office/drawing/2014/chart" uri="{C3380CC4-5D6E-409C-BE32-E72D297353CC}">
              <c16:uniqueId val="{00000000-0114-1941-B7F8-F8D51D8965E7}"/>
            </c:ext>
          </c:extLst>
        </c:ser>
        <c:ser>
          <c:idx val="1"/>
          <c:order val="1"/>
          <c:tx>
            <c:strRef>
              <c:f>Sheet1!$C$1</c:f>
              <c:strCache>
                <c:ptCount val="1"/>
                <c:pt idx="0">
                  <c:v>Series 2</c:v>
                </c:pt>
              </c:strCache>
            </c:strRef>
          </c:tx>
          <c:spPr>
            <a:solidFill>
              <a:schemeClr val="accent4"/>
            </a:solidFill>
            <a:ln>
              <a:noFill/>
            </a:ln>
            <a:effectLst/>
          </c:spPr>
          <c:invertIfNegative val="0"/>
          <c:cat>
            <c:strRef>
              <c:f>Sheet1!$A$2:$A$6</c:f>
              <c:strCache>
                <c:ptCount val="5"/>
                <c:pt idx="0">
                  <c:v>Category 1</c:v>
                </c:pt>
                <c:pt idx="1">
                  <c:v>Category 2</c:v>
                </c:pt>
                <c:pt idx="2">
                  <c:v>Category 3</c:v>
                </c:pt>
                <c:pt idx="3">
                  <c:v>Category 4</c:v>
                </c:pt>
                <c:pt idx="4">
                  <c:v>Category 5</c:v>
                </c:pt>
              </c:strCache>
            </c:strRef>
          </c:cat>
          <c:val>
            <c:numRef>
              <c:f>Sheet1!$C$2:$C$6</c:f>
              <c:numCache>
                <c:formatCode>General</c:formatCode>
                <c:ptCount val="5"/>
                <c:pt idx="0">
                  <c:v>2.4</c:v>
                </c:pt>
                <c:pt idx="1">
                  <c:v>4.4000000000000004</c:v>
                </c:pt>
                <c:pt idx="2">
                  <c:v>1.8</c:v>
                </c:pt>
                <c:pt idx="3">
                  <c:v>2.8</c:v>
                </c:pt>
                <c:pt idx="4">
                  <c:v>3</c:v>
                </c:pt>
              </c:numCache>
            </c:numRef>
          </c:val>
          <c:extLst>
            <c:ext xmlns:c16="http://schemas.microsoft.com/office/drawing/2014/chart" uri="{C3380CC4-5D6E-409C-BE32-E72D297353CC}">
              <c16:uniqueId val="{00000001-0114-1941-B7F8-F8D51D8965E7}"/>
            </c:ext>
          </c:extLst>
        </c:ser>
        <c:ser>
          <c:idx val="2"/>
          <c:order val="2"/>
          <c:tx>
            <c:strRef>
              <c:f>Sheet1!$D$1</c:f>
              <c:strCache>
                <c:ptCount val="1"/>
                <c:pt idx="0">
                  <c:v>Series 3</c:v>
                </c:pt>
              </c:strCache>
            </c:strRef>
          </c:tx>
          <c:spPr>
            <a:solidFill>
              <a:schemeClr val="accent6"/>
            </a:solidFill>
            <a:ln>
              <a:noFill/>
            </a:ln>
            <a:effectLst/>
          </c:spPr>
          <c:invertIfNegative val="0"/>
          <c:cat>
            <c:strRef>
              <c:f>Sheet1!$A$2:$A$6</c:f>
              <c:strCache>
                <c:ptCount val="5"/>
                <c:pt idx="0">
                  <c:v>Category 1</c:v>
                </c:pt>
                <c:pt idx="1">
                  <c:v>Category 2</c:v>
                </c:pt>
                <c:pt idx="2">
                  <c:v>Category 3</c:v>
                </c:pt>
                <c:pt idx="3">
                  <c:v>Category 4</c:v>
                </c:pt>
                <c:pt idx="4">
                  <c:v>Category 5</c:v>
                </c:pt>
              </c:strCache>
            </c:strRef>
          </c:cat>
          <c:val>
            <c:numRef>
              <c:f>Sheet1!$D$2:$D$6</c:f>
              <c:numCache>
                <c:formatCode>General</c:formatCode>
                <c:ptCount val="5"/>
                <c:pt idx="0">
                  <c:v>2</c:v>
                </c:pt>
                <c:pt idx="1">
                  <c:v>2</c:v>
                </c:pt>
                <c:pt idx="2">
                  <c:v>3</c:v>
                </c:pt>
                <c:pt idx="3">
                  <c:v>5</c:v>
                </c:pt>
                <c:pt idx="4">
                  <c:v>4</c:v>
                </c:pt>
              </c:numCache>
            </c:numRef>
          </c:val>
          <c:extLst>
            <c:ext xmlns:c16="http://schemas.microsoft.com/office/drawing/2014/chart" uri="{C3380CC4-5D6E-409C-BE32-E72D297353CC}">
              <c16:uniqueId val="{00000002-0114-1941-B7F8-F8D51D8965E7}"/>
            </c:ext>
          </c:extLst>
        </c:ser>
        <c:ser>
          <c:idx val="3"/>
          <c:order val="3"/>
          <c:tx>
            <c:strRef>
              <c:f>Sheet1!$E$1</c:f>
              <c:strCache>
                <c:ptCount val="1"/>
                <c:pt idx="0">
                  <c:v>Series 4</c:v>
                </c:pt>
              </c:strCache>
            </c:strRef>
          </c:tx>
          <c:spPr>
            <a:solidFill>
              <a:schemeClr val="accent2">
                <a:lumMod val="60000"/>
              </a:schemeClr>
            </a:solidFill>
            <a:ln>
              <a:noFill/>
            </a:ln>
            <a:effectLst/>
          </c:spPr>
          <c:invertIfNegative val="0"/>
          <c:cat>
            <c:strRef>
              <c:f>Sheet1!$A$2:$A$6</c:f>
              <c:strCache>
                <c:ptCount val="5"/>
                <c:pt idx="0">
                  <c:v>Category 1</c:v>
                </c:pt>
                <c:pt idx="1">
                  <c:v>Category 2</c:v>
                </c:pt>
                <c:pt idx="2">
                  <c:v>Category 3</c:v>
                </c:pt>
                <c:pt idx="3">
                  <c:v>Category 4</c:v>
                </c:pt>
                <c:pt idx="4">
                  <c:v>Category 5</c:v>
                </c:pt>
              </c:strCache>
            </c:strRef>
          </c:cat>
          <c:val>
            <c:numRef>
              <c:f>Sheet1!$E$2:$E$6</c:f>
              <c:numCache>
                <c:formatCode>General</c:formatCode>
                <c:ptCount val="5"/>
                <c:pt idx="0">
                  <c:v>2.4</c:v>
                </c:pt>
                <c:pt idx="1">
                  <c:v>4.4000000000000004</c:v>
                </c:pt>
                <c:pt idx="2">
                  <c:v>1.8</c:v>
                </c:pt>
                <c:pt idx="3">
                  <c:v>2.8</c:v>
                </c:pt>
                <c:pt idx="4">
                  <c:v>3</c:v>
                </c:pt>
              </c:numCache>
            </c:numRef>
          </c:val>
          <c:extLst>
            <c:ext xmlns:c16="http://schemas.microsoft.com/office/drawing/2014/chart" uri="{C3380CC4-5D6E-409C-BE32-E72D297353CC}">
              <c16:uniqueId val="{00000003-0114-1941-B7F8-F8D51D8965E7}"/>
            </c:ext>
          </c:extLst>
        </c:ser>
        <c:dLbls>
          <c:showLegendKey val="0"/>
          <c:showVal val="0"/>
          <c:showCatName val="0"/>
          <c:showSerName val="0"/>
          <c:showPercent val="0"/>
          <c:showBubbleSize val="0"/>
        </c:dLbls>
        <c:gapWidth val="219"/>
        <c:overlap val="-27"/>
        <c:axId val="866396152"/>
        <c:axId val="866401656"/>
      </c:barChart>
      <c:catAx>
        <c:axId val="866396152"/>
        <c:scaling>
          <c:orientation val="minMax"/>
        </c:scaling>
        <c:delete val="0"/>
        <c:axPos val="b"/>
        <c:title>
          <c:layout>
            <c:manualLayout>
              <c:xMode val="edge"/>
              <c:yMode val="edge"/>
              <c:x val="0.44445271572023398"/>
              <c:y val="0.84654050237503897"/>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title>
        <c:numFmt formatCode="General" sourceLinked="0"/>
        <c:majorTickMark val="none"/>
        <c:minorTickMark val="none"/>
        <c:tickLblPos val="nextTo"/>
        <c:spPr>
          <a:noFill/>
          <a:ln w="9525" cap="flat" cmpd="sng" algn="ctr">
            <a:solidFill>
              <a:schemeClr val="tx2">
                <a:lumMod val="60000"/>
                <a:lumOff val="40000"/>
              </a:schemeClr>
            </a:solidFill>
            <a:round/>
          </a:ln>
          <a:effectLst/>
        </c:spPr>
        <c:txPr>
          <a:bodyPr rot="-6000000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US"/>
          </a:p>
        </c:txPr>
        <c:crossAx val="866401656"/>
        <c:crosses val="autoZero"/>
        <c:auto val="1"/>
        <c:lblAlgn val="ctr"/>
        <c:lblOffset val="100"/>
        <c:noMultiLvlLbl val="0"/>
      </c:catAx>
      <c:valAx>
        <c:axId val="866401656"/>
        <c:scaling>
          <c:orientation val="minMax"/>
        </c:scaling>
        <c:delete val="0"/>
        <c:axPos val="l"/>
        <c:majorGridlines>
          <c:spPr>
            <a:ln w="6350" cap="flat" cmpd="sng" algn="ctr">
              <a:solidFill>
                <a:schemeClr val="tx2">
                  <a:lumMod val="20000"/>
                  <a:lumOff val="80000"/>
                </a:schemeClr>
              </a:solidFill>
              <a:round/>
            </a:ln>
            <a:effectLst/>
          </c:spPr>
        </c:majorGridlines>
        <c:title>
          <c:layout>
            <c:manualLayout>
              <c:xMode val="edge"/>
              <c:yMode val="edge"/>
              <c:x val="9.4245060746393806E-3"/>
              <c:y val="0.37438124536364897"/>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8663961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2"/>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0860037720981746"/>
          <c:y val="6.7796274950009963E-2"/>
        </c:manualLayout>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2"/>
              </a:solidFill>
              <a:latin typeface="+mn-lt"/>
              <a:ea typeface="+mn-ea"/>
              <a:cs typeface="+mn-cs"/>
            </a:defRPr>
          </a:pPr>
          <a:endParaRPr lang="en-US"/>
        </a:p>
      </c:txPr>
    </c:title>
    <c:autoTitleDeleted val="0"/>
    <c:plotArea>
      <c:layout>
        <c:manualLayout>
          <c:layoutTarget val="inner"/>
          <c:xMode val="edge"/>
          <c:yMode val="edge"/>
          <c:x val="0.12997345206036101"/>
          <c:y val="0.18920038509258"/>
          <c:w val="0.84332008416660897"/>
          <c:h val="0.6292610147637685"/>
        </c:manualLayout>
      </c:layout>
      <c:lineChart>
        <c:grouping val="standard"/>
        <c:varyColors val="0"/>
        <c:ser>
          <c:idx val="0"/>
          <c:order val="0"/>
          <c:tx>
            <c:strRef>
              <c:f>Sheet1!$B$1</c:f>
              <c:strCache>
                <c:ptCount val="1"/>
                <c:pt idx="0">
                  <c:v>Item1</c:v>
                </c:pt>
              </c:strCache>
            </c:strRef>
          </c:tx>
          <c:spPr>
            <a:ln w="28575" cap="rnd">
              <a:solidFill>
                <a:schemeClr val="accent1"/>
              </a:solidFill>
              <a:round/>
            </a:ln>
            <a:effectLst/>
          </c:spPr>
          <c:marker>
            <c:symbol val="none"/>
          </c:marker>
          <c:dPt>
            <c:idx val="0"/>
            <c:marker>
              <c:symbol val="none"/>
            </c:marker>
            <c:bubble3D val="0"/>
            <c:extLst>
              <c:ext xmlns:c16="http://schemas.microsoft.com/office/drawing/2014/chart" uri="{C3380CC4-5D6E-409C-BE32-E72D297353CC}">
                <c16:uniqueId val="{00000000-0885-6447-9F9E-45EEE4114580}"/>
              </c:ext>
            </c:extLst>
          </c:dPt>
          <c:dPt>
            <c:idx val="1"/>
            <c:marker>
              <c:symbol val="none"/>
            </c:marker>
            <c:bubble3D val="0"/>
            <c:extLst>
              <c:ext xmlns:c16="http://schemas.microsoft.com/office/drawing/2014/chart" uri="{C3380CC4-5D6E-409C-BE32-E72D297353CC}">
                <c16:uniqueId val="{00000001-0885-6447-9F9E-45EEE4114580}"/>
              </c:ext>
            </c:extLst>
          </c:dPt>
          <c:dPt>
            <c:idx val="2"/>
            <c:marker>
              <c:symbol val="none"/>
            </c:marker>
            <c:bubble3D val="0"/>
            <c:extLst>
              <c:ext xmlns:c16="http://schemas.microsoft.com/office/drawing/2014/chart" uri="{C3380CC4-5D6E-409C-BE32-E72D297353CC}">
                <c16:uniqueId val="{00000002-0885-6447-9F9E-45EEE4114580}"/>
              </c:ext>
            </c:extLst>
          </c:dPt>
          <c:dPt>
            <c:idx val="3"/>
            <c:marker>
              <c:symbol val="none"/>
            </c:marker>
            <c:bubble3D val="0"/>
            <c:extLst>
              <c:ext xmlns:c16="http://schemas.microsoft.com/office/drawing/2014/chart" uri="{C3380CC4-5D6E-409C-BE32-E72D297353CC}">
                <c16:uniqueId val="{00000003-0885-6447-9F9E-45EEE4114580}"/>
              </c:ext>
            </c:extLst>
          </c:dPt>
          <c:dLbls>
            <c:delete val="1"/>
          </c:dLbls>
          <c:cat>
            <c:strRef>
              <c:f>Sheet1!$A$2:$A$7</c:f>
              <c:strCache>
                <c:ptCount val="6"/>
                <c:pt idx="0">
                  <c:v>1st Qtr</c:v>
                </c:pt>
                <c:pt idx="1">
                  <c:v>2nd Qtr</c:v>
                </c:pt>
                <c:pt idx="2">
                  <c:v>3rd Qtr</c:v>
                </c:pt>
                <c:pt idx="3">
                  <c:v>4th Qtr</c:v>
                </c:pt>
                <c:pt idx="4">
                  <c:v>5th Qtr</c:v>
                </c:pt>
                <c:pt idx="5">
                  <c:v>6th Qtr</c:v>
                </c:pt>
              </c:strCache>
            </c:strRef>
          </c:cat>
          <c:val>
            <c:numRef>
              <c:f>Sheet1!$B$2:$B$7</c:f>
              <c:numCache>
                <c:formatCode>General</c:formatCode>
                <c:ptCount val="6"/>
                <c:pt idx="0">
                  <c:v>1</c:v>
                </c:pt>
                <c:pt idx="1">
                  <c:v>2</c:v>
                </c:pt>
                <c:pt idx="2">
                  <c:v>3</c:v>
                </c:pt>
                <c:pt idx="3">
                  <c:v>4</c:v>
                </c:pt>
                <c:pt idx="4">
                  <c:v>5</c:v>
                </c:pt>
                <c:pt idx="5">
                  <c:v>7</c:v>
                </c:pt>
              </c:numCache>
            </c:numRef>
          </c:val>
          <c:smooth val="0"/>
          <c:extLst>
            <c:ext xmlns:c16="http://schemas.microsoft.com/office/drawing/2014/chart" uri="{C3380CC4-5D6E-409C-BE32-E72D297353CC}">
              <c16:uniqueId val="{00000004-0885-6447-9F9E-45EEE4114580}"/>
            </c:ext>
          </c:extLst>
        </c:ser>
        <c:ser>
          <c:idx val="1"/>
          <c:order val="1"/>
          <c:tx>
            <c:strRef>
              <c:f>Sheet1!$C$1</c:f>
              <c:strCache>
                <c:ptCount val="1"/>
                <c:pt idx="0">
                  <c:v>Item2</c:v>
                </c:pt>
              </c:strCache>
            </c:strRef>
          </c:tx>
          <c:spPr>
            <a:ln w="28575" cap="rnd">
              <a:solidFill>
                <a:schemeClr val="accent2"/>
              </a:solidFill>
              <a:round/>
            </a:ln>
            <a:effectLst/>
          </c:spPr>
          <c:marker>
            <c:symbol val="none"/>
          </c:marker>
          <c:dLbls>
            <c:delete val="1"/>
          </c:dLbls>
          <c:cat>
            <c:strRef>
              <c:f>Sheet1!$A$2:$A$7</c:f>
              <c:strCache>
                <c:ptCount val="6"/>
                <c:pt idx="0">
                  <c:v>1st Qtr</c:v>
                </c:pt>
                <c:pt idx="1">
                  <c:v>2nd Qtr</c:v>
                </c:pt>
                <c:pt idx="2">
                  <c:v>3rd Qtr</c:v>
                </c:pt>
                <c:pt idx="3">
                  <c:v>4th Qtr</c:v>
                </c:pt>
                <c:pt idx="4">
                  <c:v>5th Qtr</c:v>
                </c:pt>
                <c:pt idx="5">
                  <c:v>6th Qtr</c:v>
                </c:pt>
              </c:strCache>
            </c:strRef>
          </c:cat>
          <c:val>
            <c:numRef>
              <c:f>Sheet1!$C$2:$C$7</c:f>
              <c:numCache>
                <c:formatCode>General</c:formatCode>
                <c:ptCount val="6"/>
                <c:pt idx="0">
                  <c:v>2</c:v>
                </c:pt>
                <c:pt idx="1">
                  <c:v>3</c:v>
                </c:pt>
                <c:pt idx="2">
                  <c:v>4</c:v>
                </c:pt>
                <c:pt idx="3">
                  <c:v>5</c:v>
                </c:pt>
                <c:pt idx="4">
                  <c:v>6</c:v>
                </c:pt>
                <c:pt idx="5">
                  <c:v>8</c:v>
                </c:pt>
              </c:numCache>
            </c:numRef>
          </c:val>
          <c:smooth val="0"/>
          <c:extLst>
            <c:ext xmlns:c16="http://schemas.microsoft.com/office/drawing/2014/chart" uri="{C3380CC4-5D6E-409C-BE32-E72D297353CC}">
              <c16:uniqueId val="{00000005-0885-6447-9F9E-45EEE4114580}"/>
            </c:ext>
          </c:extLst>
        </c:ser>
        <c:ser>
          <c:idx val="2"/>
          <c:order val="2"/>
          <c:tx>
            <c:strRef>
              <c:f>Sheet1!$D$1</c:f>
              <c:strCache>
                <c:ptCount val="1"/>
                <c:pt idx="0">
                  <c:v>Item3</c:v>
                </c:pt>
              </c:strCache>
            </c:strRef>
          </c:tx>
          <c:spPr>
            <a:ln w="28575" cap="rnd">
              <a:solidFill>
                <a:schemeClr val="accent3"/>
              </a:solidFill>
              <a:round/>
            </a:ln>
            <a:effectLst/>
          </c:spPr>
          <c:marker>
            <c:symbol val="none"/>
          </c:marker>
          <c:dLbls>
            <c:delete val="1"/>
          </c:dLbls>
          <c:cat>
            <c:strRef>
              <c:f>Sheet1!$A$2:$A$7</c:f>
              <c:strCache>
                <c:ptCount val="6"/>
                <c:pt idx="0">
                  <c:v>1st Qtr</c:v>
                </c:pt>
                <c:pt idx="1">
                  <c:v>2nd Qtr</c:v>
                </c:pt>
                <c:pt idx="2">
                  <c:v>3rd Qtr</c:v>
                </c:pt>
                <c:pt idx="3">
                  <c:v>4th Qtr</c:v>
                </c:pt>
                <c:pt idx="4">
                  <c:v>5th Qtr</c:v>
                </c:pt>
                <c:pt idx="5">
                  <c:v>6th Qtr</c:v>
                </c:pt>
              </c:strCache>
            </c:strRef>
          </c:cat>
          <c:val>
            <c:numRef>
              <c:f>Sheet1!$D$2:$D$7</c:f>
              <c:numCache>
                <c:formatCode>General</c:formatCode>
                <c:ptCount val="6"/>
                <c:pt idx="0">
                  <c:v>3</c:v>
                </c:pt>
                <c:pt idx="1">
                  <c:v>4</c:v>
                </c:pt>
                <c:pt idx="2">
                  <c:v>5</c:v>
                </c:pt>
                <c:pt idx="3">
                  <c:v>6</c:v>
                </c:pt>
                <c:pt idx="4">
                  <c:v>7</c:v>
                </c:pt>
                <c:pt idx="5">
                  <c:v>9</c:v>
                </c:pt>
              </c:numCache>
            </c:numRef>
          </c:val>
          <c:smooth val="0"/>
          <c:extLst>
            <c:ext xmlns:c16="http://schemas.microsoft.com/office/drawing/2014/chart" uri="{C3380CC4-5D6E-409C-BE32-E72D297353CC}">
              <c16:uniqueId val="{00000006-0885-6447-9F9E-45EEE4114580}"/>
            </c:ext>
          </c:extLst>
        </c:ser>
        <c:ser>
          <c:idx val="3"/>
          <c:order val="3"/>
          <c:tx>
            <c:strRef>
              <c:f>Sheet1!$E$1</c:f>
              <c:strCache>
                <c:ptCount val="1"/>
                <c:pt idx="0">
                  <c:v>Item4</c:v>
                </c:pt>
              </c:strCache>
            </c:strRef>
          </c:tx>
          <c:spPr>
            <a:ln w="28575" cap="rnd">
              <a:solidFill>
                <a:schemeClr val="accent4"/>
              </a:solidFill>
              <a:round/>
            </a:ln>
            <a:effectLst/>
          </c:spPr>
          <c:marker>
            <c:symbol val="none"/>
          </c:marker>
          <c:dLbls>
            <c:delete val="1"/>
          </c:dLbls>
          <c:cat>
            <c:strRef>
              <c:f>Sheet1!$A$2:$A$7</c:f>
              <c:strCache>
                <c:ptCount val="6"/>
                <c:pt idx="0">
                  <c:v>1st Qtr</c:v>
                </c:pt>
                <c:pt idx="1">
                  <c:v>2nd Qtr</c:v>
                </c:pt>
                <c:pt idx="2">
                  <c:v>3rd Qtr</c:v>
                </c:pt>
                <c:pt idx="3">
                  <c:v>4th Qtr</c:v>
                </c:pt>
                <c:pt idx="4">
                  <c:v>5th Qtr</c:v>
                </c:pt>
                <c:pt idx="5">
                  <c:v>6th Qtr</c:v>
                </c:pt>
              </c:strCache>
            </c:strRef>
          </c:cat>
          <c:val>
            <c:numRef>
              <c:f>Sheet1!$E$2:$E$7</c:f>
              <c:numCache>
                <c:formatCode>General</c:formatCode>
                <c:ptCount val="6"/>
                <c:pt idx="0">
                  <c:v>4</c:v>
                </c:pt>
                <c:pt idx="1">
                  <c:v>5</c:v>
                </c:pt>
                <c:pt idx="2">
                  <c:v>6</c:v>
                </c:pt>
                <c:pt idx="3">
                  <c:v>7</c:v>
                </c:pt>
                <c:pt idx="4">
                  <c:v>8</c:v>
                </c:pt>
                <c:pt idx="5">
                  <c:v>10</c:v>
                </c:pt>
              </c:numCache>
            </c:numRef>
          </c:val>
          <c:smooth val="0"/>
          <c:extLst>
            <c:ext xmlns:c16="http://schemas.microsoft.com/office/drawing/2014/chart" uri="{C3380CC4-5D6E-409C-BE32-E72D297353CC}">
              <c16:uniqueId val="{00000007-0885-6447-9F9E-45EEE4114580}"/>
            </c:ext>
          </c:extLst>
        </c:ser>
        <c:ser>
          <c:idx val="4"/>
          <c:order val="4"/>
          <c:tx>
            <c:strRef>
              <c:f>Sheet1!$F$1</c:f>
              <c:strCache>
                <c:ptCount val="1"/>
                <c:pt idx="0">
                  <c:v>Item5</c:v>
                </c:pt>
              </c:strCache>
            </c:strRef>
          </c:tx>
          <c:spPr>
            <a:ln w="28575" cap="rnd">
              <a:solidFill>
                <a:schemeClr val="accent5"/>
              </a:solidFill>
              <a:round/>
            </a:ln>
            <a:effectLst/>
          </c:spPr>
          <c:marker>
            <c:symbol val="none"/>
          </c:marker>
          <c:dLbls>
            <c:delete val="1"/>
          </c:dLbls>
          <c:cat>
            <c:strRef>
              <c:f>Sheet1!$A$2:$A$7</c:f>
              <c:strCache>
                <c:ptCount val="6"/>
                <c:pt idx="0">
                  <c:v>1st Qtr</c:v>
                </c:pt>
                <c:pt idx="1">
                  <c:v>2nd Qtr</c:v>
                </c:pt>
                <c:pt idx="2">
                  <c:v>3rd Qtr</c:v>
                </c:pt>
                <c:pt idx="3">
                  <c:v>4th Qtr</c:v>
                </c:pt>
                <c:pt idx="4">
                  <c:v>5th Qtr</c:v>
                </c:pt>
                <c:pt idx="5">
                  <c:v>6th Qtr</c:v>
                </c:pt>
              </c:strCache>
            </c:strRef>
          </c:cat>
          <c:val>
            <c:numRef>
              <c:f>Sheet1!$F$2:$F$7</c:f>
              <c:numCache>
                <c:formatCode>General</c:formatCode>
                <c:ptCount val="6"/>
                <c:pt idx="0">
                  <c:v>5</c:v>
                </c:pt>
                <c:pt idx="1">
                  <c:v>6</c:v>
                </c:pt>
                <c:pt idx="2">
                  <c:v>7</c:v>
                </c:pt>
                <c:pt idx="3">
                  <c:v>8</c:v>
                </c:pt>
                <c:pt idx="4">
                  <c:v>9</c:v>
                </c:pt>
                <c:pt idx="5">
                  <c:v>11</c:v>
                </c:pt>
              </c:numCache>
            </c:numRef>
          </c:val>
          <c:smooth val="0"/>
          <c:extLst>
            <c:ext xmlns:c16="http://schemas.microsoft.com/office/drawing/2014/chart" uri="{C3380CC4-5D6E-409C-BE32-E72D297353CC}">
              <c16:uniqueId val="{00000008-0885-6447-9F9E-45EEE4114580}"/>
            </c:ext>
          </c:extLst>
        </c:ser>
        <c:dLbls>
          <c:dLblPos val="ctr"/>
          <c:showLegendKey val="0"/>
          <c:showVal val="1"/>
          <c:showCatName val="0"/>
          <c:showSerName val="0"/>
          <c:showPercent val="0"/>
          <c:showBubbleSize val="0"/>
        </c:dLbls>
        <c:smooth val="0"/>
        <c:axId val="934799736"/>
        <c:axId val="934794088"/>
      </c:lineChart>
      <c:valAx>
        <c:axId val="934794088"/>
        <c:scaling>
          <c:orientation val="minMax"/>
        </c:scaling>
        <c:delete val="0"/>
        <c:axPos val="l"/>
        <c:majorGridlines>
          <c:spPr>
            <a:ln w="6350" cap="flat" cmpd="sng" algn="ctr">
              <a:solidFill>
                <a:schemeClr val="tx2">
                  <a:lumMod val="20000"/>
                  <a:lumOff val="80000"/>
                </a:schemeClr>
              </a:solidFill>
              <a:round/>
            </a:ln>
            <a:effectLst/>
          </c:spPr>
        </c:majorGridlines>
        <c:title>
          <c:overlay val="0"/>
          <c:spPr>
            <a:noFill/>
            <a:ln>
              <a:noFill/>
            </a:ln>
            <a:effectLst/>
          </c:spPr>
          <c:txPr>
            <a:bodyPr rot="-540000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934799736"/>
        <c:crosses val="autoZero"/>
        <c:crossBetween val="between"/>
      </c:valAx>
      <c:catAx>
        <c:axId val="934799736"/>
        <c:scaling>
          <c:orientation val="minMax"/>
        </c:scaling>
        <c:delete val="0"/>
        <c:axPos val="b"/>
        <c:title>
          <c:overlay val="0"/>
          <c:spPr>
            <a:noFill/>
            <a:ln>
              <a:noFill/>
            </a:ln>
            <a:effectLst/>
          </c:spPr>
          <c:txPr>
            <a:bodyPr rot="0" spcFirstLastPara="1" vertOverflow="ellipsis" vert="horz" wrap="square" anchor="ctr" anchorCtr="1"/>
            <a:lstStyle/>
            <a:p>
              <a:pPr>
                <a:defRPr sz="1100" b="0" i="0" u="none" strike="noStrike" kern="1200" baseline="0">
                  <a:solidFill>
                    <a:schemeClr val="tx2"/>
                  </a:solidFill>
                  <a:latin typeface="+mn-lt"/>
                  <a:ea typeface="+mn-ea"/>
                  <a:cs typeface="+mn-cs"/>
                </a:defRPr>
              </a:pPr>
              <a:endParaRPr lang="en-US"/>
            </a:p>
          </c:txPr>
        </c:title>
        <c:numFmt formatCode="General" sourceLinked="0"/>
        <c:majorTickMark val="none"/>
        <c:minorTickMark val="none"/>
        <c:tickLblPos val="nextTo"/>
        <c:spPr>
          <a:noFill/>
          <a:ln w="9525" cap="flat" cmpd="sng" algn="ctr">
            <a:solidFill>
              <a:schemeClr val="tx2">
                <a:lumMod val="60000"/>
                <a:lumOff val="40000"/>
              </a:schemeClr>
            </a:solidFill>
            <a:round/>
          </a:ln>
          <a:effectLst/>
        </c:spPr>
        <c:txPr>
          <a:bodyPr rot="-6000000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US"/>
          </a:p>
        </c:txPr>
        <c:crossAx val="934794088"/>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2"/>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2"/>
                </a:solidFill>
                <a:latin typeface="+mn-lt"/>
                <a:ea typeface="+mn-ea"/>
                <a:cs typeface="+mn-cs"/>
              </a:defRPr>
            </a:pPr>
            <a:r>
              <a:rPr lang="en-US" sz="1600"/>
              <a:t>Chart Title</a:t>
            </a:r>
          </a:p>
        </c:rich>
      </c:tx>
      <c:layout>
        <c:manualLayout>
          <c:xMode val="edge"/>
          <c:yMode val="edge"/>
          <c:x val="0.39540995101021958"/>
          <c:y val="5.1131451299887977E-2"/>
        </c:manualLayout>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2"/>
              </a:solidFill>
              <a:latin typeface="+mn-lt"/>
              <a:ea typeface="+mn-ea"/>
              <a:cs typeface="+mn-cs"/>
            </a:defRPr>
          </a:pPr>
          <a:endParaRPr lang="en-US"/>
        </a:p>
      </c:txPr>
    </c:title>
    <c:autoTitleDeleted val="0"/>
    <c:plotArea>
      <c:layout>
        <c:manualLayout>
          <c:layoutTarget val="inner"/>
          <c:xMode val="edge"/>
          <c:yMode val="edge"/>
          <c:x val="0.24972021278115639"/>
          <c:y val="0.15688307611270466"/>
          <c:w val="0.48545161412039844"/>
          <c:h val="0.66668477813824634"/>
        </c:manualLayout>
      </c:layout>
      <c:pieChart>
        <c:varyColors val="1"/>
        <c:ser>
          <c:idx val="0"/>
          <c:order val="0"/>
          <c:tx>
            <c:strRef>
              <c:f>Sheet1!$B$1</c:f>
              <c:strCache>
                <c:ptCount val="1"/>
                <c:pt idx="0">
                  <c:v>Series 1</c:v>
                </c:pt>
              </c:strCache>
            </c:strRef>
          </c:tx>
          <c:spPr>
            <a:ln w="12700"/>
          </c:spPr>
          <c:dPt>
            <c:idx val="0"/>
            <c:bubble3D val="0"/>
            <c:spPr>
              <a:solidFill>
                <a:schemeClr val="accent1"/>
              </a:solidFill>
              <a:ln w="12700">
                <a:solidFill>
                  <a:schemeClr val="lt1"/>
                </a:solidFill>
              </a:ln>
              <a:effectLst/>
            </c:spPr>
            <c:extLst>
              <c:ext xmlns:c16="http://schemas.microsoft.com/office/drawing/2014/chart" uri="{C3380CC4-5D6E-409C-BE32-E72D297353CC}">
                <c16:uniqueId val="{00000001-2F45-5849-A322-A6B852639B3D}"/>
              </c:ext>
            </c:extLst>
          </c:dPt>
          <c:dPt>
            <c:idx val="1"/>
            <c:bubble3D val="0"/>
            <c:spPr>
              <a:solidFill>
                <a:schemeClr val="accent2"/>
              </a:solidFill>
              <a:ln w="12700">
                <a:solidFill>
                  <a:schemeClr val="lt1"/>
                </a:solidFill>
              </a:ln>
              <a:effectLst/>
            </c:spPr>
            <c:extLst>
              <c:ext xmlns:c16="http://schemas.microsoft.com/office/drawing/2014/chart" uri="{C3380CC4-5D6E-409C-BE32-E72D297353CC}">
                <c16:uniqueId val="{00000003-2F45-5849-A322-A6B852639B3D}"/>
              </c:ext>
            </c:extLst>
          </c:dPt>
          <c:dPt>
            <c:idx val="2"/>
            <c:bubble3D val="0"/>
            <c:spPr>
              <a:solidFill>
                <a:schemeClr val="accent3"/>
              </a:solidFill>
              <a:ln w="12700">
                <a:solidFill>
                  <a:schemeClr val="lt1"/>
                </a:solidFill>
              </a:ln>
              <a:effectLst/>
            </c:spPr>
            <c:extLst>
              <c:ext xmlns:c16="http://schemas.microsoft.com/office/drawing/2014/chart" uri="{C3380CC4-5D6E-409C-BE32-E72D297353CC}">
                <c16:uniqueId val="{00000005-2F45-5849-A322-A6B852639B3D}"/>
              </c:ext>
            </c:extLst>
          </c:dPt>
          <c:dPt>
            <c:idx val="3"/>
            <c:bubble3D val="0"/>
            <c:spPr>
              <a:solidFill>
                <a:schemeClr val="accent4"/>
              </a:solidFill>
              <a:ln w="12700">
                <a:solidFill>
                  <a:schemeClr val="lt1"/>
                </a:solidFill>
              </a:ln>
              <a:effectLst/>
            </c:spPr>
            <c:extLst>
              <c:ext xmlns:c16="http://schemas.microsoft.com/office/drawing/2014/chart" uri="{C3380CC4-5D6E-409C-BE32-E72D297353CC}">
                <c16:uniqueId val="{00000007-2F45-5849-A322-A6B852639B3D}"/>
              </c:ext>
            </c:extLst>
          </c:dPt>
          <c:dPt>
            <c:idx val="4"/>
            <c:bubble3D val="0"/>
            <c:spPr>
              <a:solidFill>
                <a:schemeClr val="accent5"/>
              </a:solidFill>
              <a:ln w="12700">
                <a:solidFill>
                  <a:schemeClr val="lt1"/>
                </a:solidFill>
              </a:ln>
              <a:effectLst/>
            </c:spPr>
            <c:extLst>
              <c:ext xmlns:c16="http://schemas.microsoft.com/office/drawing/2014/chart" uri="{C3380CC4-5D6E-409C-BE32-E72D297353CC}">
                <c16:uniqueId val="{00000009-2F45-5849-A322-A6B852639B3D}"/>
              </c:ext>
            </c:extLst>
          </c:dPt>
          <c:dLbls>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4.3</c:v>
                </c:pt>
                <c:pt idx="1">
                  <c:v>2.5</c:v>
                </c:pt>
                <c:pt idx="2">
                  <c:v>3.5</c:v>
                </c:pt>
                <c:pt idx="3">
                  <c:v>4.5</c:v>
                </c:pt>
                <c:pt idx="4">
                  <c:v>2.5</c:v>
                </c:pt>
              </c:numCache>
            </c:numRef>
          </c:val>
          <c:extLst>
            <c:ext xmlns:c16="http://schemas.microsoft.com/office/drawing/2014/chart" uri="{C3380CC4-5D6E-409C-BE32-E72D297353CC}">
              <c16:uniqueId val="{0000000A-2F45-5849-A322-A6B852639B3D}"/>
            </c:ext>
          </c:extLst>
        </c:ser>
        <c:ser>
          <c:idx val="1"/>
          <c:order val="1"/>
          <c:tx>
            <c:strRef>
              <c:f>Sheet1!$C$1</c:f>
              <c:strCache>
                <c:ptCount val="1"/>
                <c:pt idx="0">
                  <c:v>Series 2</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C-2F45-5849-A322-A6B852639B3D}"/>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E-2F45-5849-A322-A6B852639B3D}"/>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0-2F45-5849-A322-A6B852639B3D}"/>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2-2F45-5849-A322-A6B852639B3D}"/>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14-2F45-5849-A322-A6B852639B3D}"/>
              </c:ext>
            </c:extLst>
          </c:dPt>
          <c:dLbls>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Category 1</c:v>
                </c:pt>
                <c:pt idx="1">
                  <c:v>Category 2</c:v>
                </c:pt>
                <c:pt idx="2">
                  <c:v>Category 3</c:v>
                </c:pt>
                <c:pt idx="3">
                  <c:v>Category 4</c:v>
                </c:pt>
                <c:pt idx="4">
                  <c:v>Category 5</c:v>
                </c:pt>
              </c:strCache>
            </c:strRef>
          </c:cat>
          <c:val>
            <c:numRef>
              <c:f>Sheet1!$C$2:$C$6</c:f>
              <c:numCache>
                <c:formatCode>General</c:formatCode>
                <c:ptCount val="5"/>
                <c:pt idx="0">
                  <c:v>2.4</c:v>
                </c:pt>
                <c:pt idx="1">
                  <c:v>4.4000000000000004</c:v>
                </c:pt>
                <c:pt idx="2">
                  <c:v>1.8</c:v>
                </c:pt>
                <c:pt idx="3">
                  <c:v>2.8</c:v>
                </c:pt>
                <c:pt idx="4">
                  <c:v>3</c:v>
                </c:pt>
              </c:numCache>
            </c:numRef>
          </c:val>
          <c:extLst>
            <c:ext xmlns:c16="http://schemas.microsoft.com/office/drawing/2014/chart" uri="{C3380CC4-5D6E-409C-BE32-E72D297353CC}">
              <c16:uniqueId val="{00000015-2F45-5849-A322-A6B852639B3D}"/>
            </c:ext>
          </c:extLst>
        </c:ser>
        <c:ser>
          <c:idx val="2"/>
          <c:order val="2"/>
          <c:tx>
            <c:strRef>
              <c:f>Sheet1!$D$1</c:f>
              <c:strCache>
                <c:ptCount val="1"/>
                <c:pt idx="0">
                  <c:v>Series 3</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17-2F45-5849-A322-A6B852639B3D}"/>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19-2F45-5849-A322-A6B852639B3D}"/>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B-2F45-5849-A322-A6B852639B3D}"/>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D-2F45-5849-A322-A6B852639B3D}"/>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1F-2F45-5849-A322-A6B852639B3D}"/>
              </c:ext>
            </c:extLst>
          </c:dPt>
          <c:dLbls>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Category 1</c:v>
                </c:pt>
                <c:pt idx="1">
                  <c:v>Category 2</c:v>
                </c:pt>
                <c:pt idx="2">
                  <c:v>Category 3</c:v>
                </c:pt>
                <c:pt idx="3">
                  <c:v>Category 4</c:v>
                </c:pt>
                <c:pt idx="4">
                  <c:v>Category 5</c:v>
                </c:pt>
              </c:strCache>
            </c:strRef>
          </c:cat>
          <c:val>
            <c:numRef>
              <c:f>Sheet1!$D$2:$D$6</c:f>
              <c:numCache>
                <c:formatCode>General</c:formatCode>
                <c:ptCount val="5"/>
                <c:pt idx="0">
                  <c:v>2</c:v>
                </c:pt>
                <c:pt idx="1">
                  <c:v>2</c:v>
                </c:pt>
                <c:pt idx="2">
                  <c:v>3</c:v>
                </c:pt>
                <c:pt idx="3">
                  <c:v>5</c:v>
                </c:pt>
                <c:pt idx="4">
                  <c:v>4</c:v>
                </c:pt>
              </c:numCache>
            </c:numRef>
          </c:val>
          <c:extLst>
            <c:ext xmlns:c16="http://schemas.microsoft.com/office/drawing/2014/chart" uri="{C3380CC4-5D6E-409C-BE32-E72D297353CC}">
              <c16:uniqueId val="{00000020-2F45-5849-A322-A6B852639B3D}"/>
            </c:ext>
          </c:extLst>
        </c:ser>
        <c:ser>
          <c:idx val="3"/>
          <c:order val="3"/>
          <c:tx>
            <c:strRef>
              <c:f>Sheet1!$E$1</c:f>
              <c:strCache>
                <c:ptCount val="1"/>
                <c:pt idx="0">
                  <c:v>Series 4</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22-2F45-5849-A322-A6B852639B3D}"/>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24-2F45-5849-A322-A6B852639B3D}"/>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26-2F45-5849-A322-A6B852639B3D}"/>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28-2F45-5849-A322-A6B852639B3D}"/>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2A-2F45-5849-A322-A6B852639B3D}"/>
              </c:ext>
            </c:extLst>
          </c:dPt>
          <c:dLbls>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Category 1</c:v>
                </c:pt>
                <c:pt idx="1">
                  <c:v>Category 2</c:v>
                </c:pt>
                <c:pt idx="2">
                  <c:v>Category 3</c:v>
                </c:pt>
                <c:pt idx="3">
                  <c:v>Category 4</c:v>
                </c:pt>
                <c:pt idx="4">
                  <c:v>Category 5</c:v>
                </c:pt>
              </c:strCache>
            </c:strRef>
          </c:cat>
          <c:val>
            <c:numRef>
              <c:f>Sheet1!$E$2:$E$6</c:f>
              <c:numCache>
                <c:formatCode>General</c:formatCode>
                <c:ptCount val="5"/>
                <c:pt idx="0">
                  <c:v>2.4</c:v>
                </c:pt>
                <c:pt idx="1">
                  <c:v>4.4000000000000004</c:v>
                </c:pt>
                <c:pt idx="2">
                  <c:v>1.8</c:v>
                </c:pt>
                <c:pt idx="3">
                  <c:v>2.8</c:v>
                </c:pt>
                <c:pt idx="4">
                  <c:v>3</c:v>
                </c:pt>
              </c:numCache>
            </c:numRef>
          </c:val>
          <c:extLst>
            <c:ext xmlns:c16="http://schemas.microsoft.com/office/drawing/2014/chart" uri="{C3380CC4-5D6E-409C-BE32-E72D297353CC}">
              <c16:uniqueId val="{0000002B-2F45-5849-A322-A6B852639B3D}"/>
            </c:ext>
          </c:extLst>
        </c:ser>
        <c:dLbls>
          <c:showLegendKey val="0"/>
          <c:showVal val="0"/>
          <c:showCatName val="1"/>
          <c:showSerName val="0"/>
          <c:showPercent val="1"/>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2"/>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0" i="0" u="none" strike="noStrike" kern="1200" spc="0" baseline="0">
              <a:solidFill>
                <a:schemeClr val="tx2"/>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2"/>
            </a:solidFill>
            <a:ln>
              <a:noFill/>
            </a:ln>
            <a:effectLst/>
          </c:spPr>
          <c:invertIfNegative val="0"/>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4.3</c:v>
                </c:pt>
                <c:pt idx="1">
                  <c:v>2.5</c:v>
                </c:pt>
                <c:pt idx="2">
                  <c:v>3.5</c:v>
                </c:pt>
                <c:pt idx="3">
                  <c:v>4.5</c:v>
                </c:pt>
                <c:pt idx="4">
                  <c:v>2.5</c:v>
                </c:pt>
              </c:numCache>
            </c:numRef>
          </c:val>
          <c:extLst>
            <c:ext xmlns:c16="http://schemas.microsoft.com/office/drawing/2014/chart" uri="{C3380CC4-5D6E-409C-BE32-E72D297353CC}">
              <c16:uniqueId val="{00000000-0114-1941-B7F8-F8D51D8965E7}"/>
            </c:ext>
          </c:extLst>
        </c:ser>
        <c:ser>
          <c:idx val="1"/>
          <c:order val="1"/>
          <c:tx>
            <c:strRef>
              <c:f>Sheet1!$C$1</c:f>
              <c:strCache>
                <c:ptCount val="1"/>
                <c:pt idx="0">
                  <c:v>Series 2</c:v>
                </c:pt>
              </c:strCache>
            </c:strRef>
          </c:tx>
          <c:spPr>
            <a:solidFill>
              <a:schemeClr val="accent4"/>
            </a:solidFill>
            <a:ln>
              <a:noFill/>
            </a:ln>
            <a:effectLst/>
          </c:spPr>
          <c:invertIfNegative val="0"/>
          <c:cat>
            <c:strRef>
              <c:f>Sheet1!$A$2:$A$6</c:f>
              <c:strCache>
                <c:ptCount val="5"/>
                <c:pt idx="0">
                  <c:v>Category 1</c:v>
                </c:pt>
                <c:pt idx="1">
                  <c:v>Category 2</c:v>
                </c:pt>
                <c:pt idx="2">
                  <c:v>Category 3</c:v>
                </c:pt>
                <c:pt idx="3">
                  <c:v>Category 4</c:v>
                </c:pt>
                <c:pt idx="4">
                  <c:v>Category 5</c:v>
                </c:pt>
              </c:strCache>
            </c:strRef>
          </c:cat>
          <c:val>
            <c:numRef>
              <c:f>Sheet1!$C$2:$C$6</c:f>
              <c:numCache>
                <c:formatCode>General</c:formatCode>
                <c:ptCount val="5"/>
                <c:pt idx="0">
                  <c:v>2.4</c:v>
                </c:pt>
                <c:pt idx="1">
                  <c:v>4.4000000000000004</c:v>
                </c:pt>
                <c:pt idx="2">
                  <c:v>1.8</c:v>
                </c:pt>
                <c:pt idx="3">
                  <c:v>2.8</c:v>
                </c:pt>
                <c:pt idx="4">
                  <c:v>3</c:v>
                </c:pt>
              </c:numCache>
            </c:numRef>
          </c:val>
          <c:extLst>
            <c:ext xmlns:c16="http://schemas.microsoft.com/office/drawing/2014/chart" uri="{C3380CC4-5D6E-409C-BE32-E72D297353CC}">
              <c16:uniqueId val="{00000001-0114-1941-B7F8-F8D51D8965E7}"/>
            </c:ext>
          </c:extLst>
        </c:ser>
        <c:ser>
          <c:idx val="2"/>
          <c:order val="2"/>
          <c:tx>
            <c:strRef>
              <c:f>Sheet1!$D$1</c:f>
              <c:strCache>
                <c:ptCount val="1"/>
                <c:pt idx="0">
                  <c:v>Series 3</c:v>
                </c:pt>
              </c:strCache>
            </c:strRef>
          </c:tx>
          <c:spPr>
            <a:solidFill>
              <a:schemeClr val="accent6"/>
            </a:solidFill>
            <a:ln>
              <a:noFill/>
            </a:ln>
            <a:effectLst/>
          </c:spPr>
          <c:invertIfNegative val="0"/>
          <c:cat>
            <c:strRef>
              <c:f>Sheet1!$A$2:$A$6</c:f>
              <c:strCache>
                <c:ptCount val="5"/>
                <c:pt idx="0">
                  <c:v>Category 1</c:v>
                </c:pt>
                <c:pt idx="1">
                  <c:v>Category 2</c:v>
                </c:pt>
                <c:pt idx="2">
                  <c:v>Category 3</c:v>
                </c:pt>
                <c:pt idx="3">
                  <c:v>Category 4</c:v>
                </c:pt>
                <c:pt idx="4">
                  <c:v>Category 5</c:v>
                </c:pt>
              </c:strCache>
            </c:strRef>
          </c:cat>
          <c:val>
            <c:numRef>
              <c:f>Sheet1!$D$2:$D$6</c:f>
              <c:numCache>
                <c:formatCode>General</c:formatCode>
                <c:ptCount val="5"/>
                <c:pt idx="0">
                  <c:v>2</c:v>
                </c:pt>
                <c:pt idx="1">
                  <c:v>2</c:v>
                </c:pt>
                <c:pt idx="2">
                  <c:v>3</c:v>
                </c:pt>
                <c:pt idx="3">
                  <c:v>5</c:v>
                </c:pt>
                <c:pt idx="4">
                  <c:v>4</c:v>
                </c:pt>
              </c:numCache>
            </c:numRef>
          </c:val>
          <c:extLst>
            <c:ext xmlns:c16="http://schemas.microsoft.com/office/drawing/2014/chart" uri="{C3380CC4-5D6E-409C-BE32-E72D297353CC}">
              <c16:uniqueId val="{00000002-0114-1941-B7F8-F8D51D8965E7}"/>
            </c:ext>
          </c:extLst>
        </c:ser>
        <c:ser>
          <c:idx val="3"/>
          <c:order val="3"/>
          <c:tx>
            <c:strRef>
              <c:f>Sheet1!$E$1</c:f>
              <c:strCache>
                <c:ptCount val="1"/>
                <c:pt idx="0">
                  <c:v>Series 4</c:v>
                </c:pt>
              </c:strCache>
            </c:strRef>
          </c:tx>
          <c:spPr>
            <a:solidFill>
              <a:schemeClr val="accent2">
                <a:lumMod val="60000"/>
              </a:schemeClr>
            </a:solidFill>
            <a:ln>
              <a:noFill/>
            </a:ln>
            <a:effectLst/>
          </c:spPr>
          <c:invertIfNegative val="0"/>
          <c:cat>
            <c:strRef>
              <c:f>Sheet1!$A$2:$A$6</c:f>
              <c:strCache>
                <c:ptCount val="5"/>
                <c:pt idx="0">
                  <c:v>Category 1</c:v>
                </c:pt>
                <c:pt idx="1">
                  <c:v>Category 2</c:v>
                </c:pt>
                <c:pt idx="2">
                  <c:v>Category 3</c:v>
                </c:pt>
                <c:pt idx="3">
                  <c:v>Category 4</c:v>
                </c:pt>
                <c:pt idx="4">
                  <c:v>Category 5</c:v>
                </c:pt>
              </c:strCache>
            </c:strRef>
          </c:cat>
          <c:val>
            <c:numRef>
              <c:f>Sheet1!$E$2:$E$6</c:f>
              <c:numCache>
                <c:formatCode>General</c:formatCode>
                <c:ptCount val="5"/>
                <c:pt idx="0">
                  <c:v>2.4</c:v>
                </c:pt>
                <c:pt idx="1">
                  <c:v>4.4000000000000004</c:v>
                </c:pt>
                <c:pt idx="2">
                  <c:v>1.8</c:v>
                </c:pt>
                <c:pt idx="3">
                  <c:v>2.8</c:v>
                </c:pt>
                <c:pt idx="4">
                  <c:v>3</c:v>
                </c:pt>
              </c:numCache>
            </c:numRef>
          </c:val>
          <c:extLst>
            <c:ext xmlns:c16="http://schemas.microsoft.com/office/drawing/2014/chart" uri="{C3380CC4-5D6E-409C-BE32-E72D297353CC}">
              <c16:uniqueId val="{00000003-0114-1941-B7F8-F8D51D8965E7}"/>
            </c:ext>
          </c:extLst>
        </c:ser>
        <c:dLbls>
          <c:showLegendKey val="0"/>
          <c:showVal val="0"/>
          <c:showCatName val="0"/>
          <c:showSerName val="0"/>
          <c:showPercent val="0"/>
          <c:showBubbleSize val="0"/>
        </c:dLbls>
        <c:gapWidth val="219"/>
        <c:overlap val="-27"/>
        <c:axId val="866396152"/>
        <c:axId val="866401656"/>
      </c:barChart>
      <c:catAx>
        <c:axId val="866396152"/>
        <c:scaling>
          <c:orientation val="minMax"/>
        </c:scaling>
        <c:delete val="0"/>
        <c:axPos val="b"/>
        <c:title>
          <c:layout>
            <c:manualLayout>
              <c:xMode val="edge"/>
              <c:yMode val="edge"/>
              <c:x val="0.44445271572023398"/>
              <c:y val="0.84654050237503897"/>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title>
        <c:numFmt formatCode="General" sourceLinked="0"/>
        <c:majorTickMark val="none"/>
        <c:minorTickMark val="none"/>
        <c:tickLblPos val="nextTo"/>
        <c:spPr>
          <a:noFill/>
          <a:ln w="9525" cap="flat" cmpd="sng" algn="ctr">
            <a:solidFill>
              <a:schemeClr val="tx2">
                <a:lumMod val="60000"/>
                <a:lumOff val="40000"/>
              </a:schemeClr>
            </a:solidFill>
            <a:round/>
          </a:ln>
          <a:effectLst/>
        </c:spPr>
        <c:txPr>
          <a:bodyPr rot="-6000000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US"/>
          </a:p>
        </c:txPr>
        <c:crossAx val="866401656"/>
        <c:crosses val="autoZero"/>
        <c:auto val="1"/>
        <c:lblAlgn val="ctr"/>
        <c:lblOffset val="100"/>
        <c:noMultiLvlLbl val="0"/>
      </c:catAx>
      <c:valAx>
        <c:axId val="866401656"/>
        <c:scaling>
          <c:orientation val="minMax"/>
        </c:scaling>
        <c:delete val="0"/>
        <c:axPos val="l"/>
        <c:majorGridlines>
          <c:spPr>
            <a:ln w="6350" cap="flat" cmpd="sng" algn="ctr">
              <a:solidFill>
                <a:schemeClr val="tx2">
                  <a:lumMod val="20000"/>
                  <a:lumOff val="80000"/>
                </a:schemeClr>
              </a:solidFill>
              <a:round/>
            </a:ln>
            <a:effectLst/>
          </c:spPr>
        </c:majorGridlines>
        <c:title>
          <c:layout>
            <c:manualLayout>
              <c:xMode val="edge"/>
              <c:yMode val="edge"/>
              <c:x val="9.4245060746393806E-3"/>
              <c:y val="0.37438124536364897"/>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8663961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2"/>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1B8_2C7610D5.xml><?xml version="1.0" encoding="utf-8"?>
<p188:cmLst xmlns:a="http://schemas.openxmlformats.org/drawingml/2006/main" xmlns:r="http://schemas.openxmlformats.org/officeDocument/2006/relationships" xmlns:p188="http://schemas.microsoft.com/office/powerpoint/2018/8/main">
  <p188:cm id="{32100DA9-8159-4A18-846C-6D9DEEE809D4}" authorId="{808F43FA-D280-E621-E153-E5C0394D2F6B}" created="2026-09-16T19:59:21.001">
    <pc:sldMkLst xmlns:pc="http://schemas.microsoft.com/office/powerpoint/2013/main/command">
      <pc:docMk/>
      <pc:sldMk cId="745935061" sldId="440"/>
    </pc:sldMkLst>
    <p188:txBody>
      <a:bodyPr/>
      <a:lstStyle/>
      <a:p>
        <a:r>
          <a:rPr lang="en-US"/>
          <a:t>Where to Obtain the Values From: Sprint Reports in JIRA with completed sprint story point velocity</a:t>
        </a:r>
      </a:p>
    </p188:txBody>
  </p188:cm>
  <p188:cm id="{88C60919-949E-456C-BF4F-CE6A0F964F1C}" authorId="{808F43FA-D280-E621-E153-E5C0394D2F6B}" created="2026-09-16T20:06:55.043">
    <pc:sldMkLst xmlns:pc="http://schemas.microsoft.com/office/powerpoint/2013/main/command">
      <pc:docMk/>
      <pc:sldMk cId="745935061" sldId="440"/>
    </pc:sldMkLst>
    <p188:txBody>
      <a:bodyPr/>
      <a:lstStyle/>
      <a:p>
        <a:r>
          <a:rPr lang="en-US"/>
          <a:t>What Scenario Could Result in This Metric: Increase in Flow Velocity may come from engineer’s usage of AI tools (e.g. GitHub CoPilot) to be more efficient in developing application code</a:t>
        </a:r>
      </a:p>
    </p188:txBody>
  </p188:cm>
</p188:cmLst>
</file>

<file path=ppt/comments/modernComment_1BA_79B8CA23.xml><?xml version="1.0" encoding="utf-8"?>
<p188:cmLst xmlns:a="http://schemas.openxmlformats.org/drawingml/2006/main" xmlns:r="http://schemas.openxmlformats.org/officeDocument/2006/relationships" xmlns:p188="http://schemas.microsoft.com/office/powerpoint/2018/8/main">
  <p188:cm id="{F45C6DFE-F4AA-4D08-B04F-949E36AF8516}" authorId="{808F43FA-D280-E621-E153-E5C0394D2F6B}" created="2026-09-16T20:26:52.128">
    <ac:deMkLst xmlns:ac="http://schemas.microsoft.com/office/drawing/2013/main/command">
      <pc:docMk xmlns:pc="http://schemas.microsoft.com/office/powerpoint/2013/main/command"/>
      <pc:sldMk xmlns:pc="http://schemas.microsoft.com/office/powerpoint/2013/main/command" cId="2042153507" sldId="442"/>
      <ac:spMk id="14" creationId="{00000000-0000-0000-0000-000000000000}"/>
    </ac:deMkLst>
    <p188:txBody>
      <a:bodyPr/>
      <a:lstStyle/>
      <a:p>
        <a:r>
          <a:rPr lang="en-US"/>
          <a:t>Where Does this Metric Come From: Look at Epics Managed within a Team Project Space Within JIRA. Engineering These Epics should also align with Scope Statements. Look at Engineering Spend via Clarizen budgets</a:t>
        </a:r>
      </a:p>
    </p188:txBody>
  </p188:cm>
  <p188:cm id="{AB544635-E051-43D9-9B64-6B8C4DCBA637}" authorId="{808F43FA-D280-E621-E153-E5C0394D2F6B}" created="2026-09-16T20:27:50.197">
    <ac:deMkLst xmlns:ac="http://schemas.microsoft.com/office/drawing/2013/main/command">
      <pc:docMk xmlns:pc="http://schemas.microsoft.com/office/powerpoint/2013/main/command"/>
      <pc:sldMk xmlns:pc="http://schemas.microsoft.com/office/powerpoint/2013/main/command" cId="2042153507" sldId="442"/>
      <ac:spMk id="14" creationId="{00000000-0000-0000-0000-000000000000}"/>
    </ac:deMkLst>
    <p188:txBody>
      <a:bodyPr/>
      <a:lstStyle/>
      <a:p>
        <a:r>
          <a:rPr lang="en-US"/>
          <a:t>How Might This Scenario Happen: Product Management/Owners closer to align to Business Objectives and better define Product Backlog features with associated business value. No unexpected Epics added to a given FixVersion</a:t>
        </a:r>
      </a:p>
    </p188:txBody>
  </p188:cm>
</p188:cmLst>
</file>

<file path=ppt/comments/modernComment_1BB_263D784F.xml><?xml version="1.0" encoding="utf-8"?>
<p188:cmLst xmlns:a="http://schemas.openxmlformats.org/drawingml/2006/main" xmlns:r="http://schemas.openxmlformats.org/officeDocument/2006/relationships" xmlns:p188="http://schemas.microsoft.com/office/powerpoint/2018/8/main">
  <p188:cm id="{3CEEFF98-47D7-4A63-A9A1-82893510D899}" authorId="{808F43FA-D280-E621-E153-E5C0394D2F6B}" created="2026-09-16T20:20:17.690">
    <ac:txMkLst xmlns:ac="http://schemas.microsoft.com/office/drawing/2013/main/command">
      <pc:docMk xmlns:pc="http://schemas.microsoft.com/office/powerpoint/2013/main/command"/>
      <pc:sldMk xmlns:pc="http://schemas.microsoft.com/office/powerpoint/2013/main/command" cId="641562703" sldId="443"/>
      <ac:spMk id="13" creationId="{00000000-0000-0000-0000-000000000000}"/>
      <ac:txMk cp="0" len="32">
        <ac:context len="33" hash="2902519481"/>
      </ac:txMk>
    </ac:txMkLst>
    <p188:pos x="2030972" y="217841"/>
    <p188:txBody>
      <a:bodyPr/>
      <a:lstStyle/>
      <a:p>
        <a:r>
          <a:rPr lang="en-US"/>
          <a:t>Where to Get Data From: Bug Tickets in JIRA and Incident tickets in ServiceNow</a:t>
        </a:r>
      </a:p>
    </p188:txBody>
  </p188:cm>
  <p188:cm id="{44D789D4-0198-4DC0-917B-878D48CB3430}" authorId="{808F43FA-D280-E621-E153-E5C0394D2F6B}" created="2026-09-16T20:21:02.289">
    <ac:txMkLst xmlns:ac="http://schemas.microsoft.com/office/drawing/2013/main/command">
      <pc:docMk xmlns:pc="http://schemas.microsoft.com/office/powerpoint/2013/main/command"/>
      <pc:sldMk xmlns:pc="http://schemas.microsoft.com/office/powerpoint/2013/main/command" cId="641562703" sldId="443"/>
      <ac:spMk id="13" creationId="{00000000-0000-0000-0000-000000000000}"/>
      <ac:txMk cp="0" len="32">
        <ac:context len="33" hash="2902519481"/>
      </ac:txMk>
    </ac:txMkLst>
    <p188:pos x="2030972" y="217841"/>
    <p188:txBody>
      <a:bodyPr/>
      <a:lstStyle/>
      <a:p>
        <a:r>
          <a:rPr lang="en-US"/>
          <a:t>What Could Have Happened: During a Production release, 5 P2 incidents may have been raised which correlate to 5 bugs within the JIRA Backlog. These bugs were identified during E2E Testing but never remediated.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CE78A69-1316-B645-8182-2FF9A4C23BB9}" type="datetimeFigureOut">
              <a:rPr lang="en-US" smtClean="0">
                <a:latin typeface="Arial" panose="020B0604020202020204" pitchFamily="34" charset="0"/>
              </a:rPr>
              <a:t>9/16/2026</a:t>
            </a:fld>
            <a:endParaRPr lang="en-US">
              <a:latin typeface="Arial" panose="020B0604020202020204"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BB3637D-478F-7F4C-AD36-D7225A9842AD}"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30701469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Arial" panose="020B0604020202020204" pitchFamily="34" charset="0"/>
              </a:defRPr>
            </a:lvl1pPr>
          </a:lstStyle>
          <a:p>
            <a:fld id="{F03E1C90-3623-4E4E-AB2B-94BAA74BC3D7}" type="datetimeFigureOut">
              <a:rPr lang="en-US" smtClean="0"/>
              <a:pPr/>
              <a:t>9/16/2026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53E66F53-367B-DA44-BD0F-DD424DCA2273}" type="slidenum">
              <a:rPr lang="en-US" smtClean="0"/>
              <a:pPr/>
              <a:t>‹#›</a:t>
            </a:fld>
            <a:endParaRPr lang="en-US"/>
          </a:p>
        </p:txBody>
      </p:sp>
    </p:spTree>
    <p:extLst>
      <p:ext uri="{BB962C8B-B14F-4D97-AF65-F5344CB8AC3E}">
        <p14:creationId xmlns:p14="http://schemas.microsoft.com/office/powerpoint/2010/main" val="253426784"/>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b="0" i="0" kern="1200">
        <a:solidFill>
          <a:schemeClr val="tx1"/>
        </a:solidFill>
        <a:latin typeface="Arial" panose="020B0604020202020204" pitchFamily="34" charset="0"/>
        <a:ea typeface="+mn-ea"/>
        <a:cs typeface="+mn-cs"/>
      </a:defRPr>
    </a:lvl1pPr>
    <a:lvl2pPr marL="457200" algn="l" defTabSz="457200" rtl="0" eaLnBrk="1" latinLnBrk="0" hangingPunct="1">
      <a:defRPr sz="1200" b="0" i="0" kern="1200">
        <a:solidFill>
          <a:schemeClr val="tx1"/>
        </a:solidFill>
        <a:latin typeface="Arial" panose="020B0604020202020204" pitchFamily="34" charset="0"/>
        <a:ea typeface="+mn-ea"/>
        <a:cs typeface="+mn-cs"/>
      </a:defRPr>
    </a:lvl2pPr>
    <a:lvl3pPr marL="914400" algn="l" defTabSz="457200" rtl="0" eaLnBrk="1" latinLnBrk="0" hangingPunct="1">
      <a:defRPr sz="1200" b="0" i="0" kern="1200">
        <a:solidFill>
          <a:schemeClr val="tx1"/>
        </a:solidFill>
        <a:latin typeface="Arial" panose="020B0604020202020204" pitchFamily="34" charset="0"/>
        <a:ea typeface="+mn-ea"/>
        <a:cs typeface="+mn-cs"/>
      </a:defRPr>
    </a:lvl3pPr>
    <a:lvl4pPr marL="1371600" algn="l" defTabSz="457200" rtl="0" eaLnBrk="1" latinLnBrk="0" hangingPunct="1">
      <a:defRPr sz="1200" b="0" i="0" kern="1200">
        <a:solidFill>
          <a:schemeClr val="tx1"/>
        </a:solidFill>
        <a:latin typeface="Arial" panose="020B0604020202020204" pitchFamily="34" charset="0"/>
        <a:ea typeface="+mn-ea"/>
        <a:cs typeface="+mn-cs"/>
      </a:defRPr>
    </a:lvl4pPr>
    <a:lvl5pPr marL="1828800" algn="l" defTabSz="457200" rtl="0" eaLnBrk="1" latinLnBrk="0" hangingPunct="1">
      <a:defRPr sz="1200" b="0" i="0" kern="1200">
        <a:solidFill>
          <a:schemeClr val="tx1"/>
        </a:solidFill>
        <a:latin typeface="Arial" panose="020B0604020202020204" pitchFamily="34" charset="0"/>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Open by framing the problem: many transformation leaders are not facing resistance to Agile or Lean; they are facing a reasonable demand to show business return. Organizations have invested in new roles, ceremonies, governance, tooling, and ways of working, and executives eventually ask what the business received in return. </a:t>
            </a:r>
            <a:r>
              <a:rPr lang="en-US" sz="1200" b="1"/>
              <a:t>We will translate delivery data into the language executives and Finance use—dollars, timing, capacity, risk, and investment decisions.</a:t>
            </a:r>
          </a:p>
          <a:p>
            <a:r>
              <a:rPr lang="en-US" sz="1200" b="1"/>
              <a:t>Transition: </a:t>
            </a:r>
            <a:r>
              <a:rPr lang="en-US" sz="1200"/>
              <a:t>Let’s begin with what you will be able to do by the end of the session.</a:t>
            </a:r>
          </a:p>
        </p:txBody>
      </p:sp>
      <p:sp>
        <p:nvSpPr>
          <p:cNvPr id="4" name="Slide Number Placeholder 3"/>
          <p:cNvSpPr>
            <a:spLocks noGrp="1"/>
          </p:cNvSpPr>
          <p:nvPr>
            <p:ph type="sldNum" sz="quarter" idx="5"/>
          </p:nvPr>
        </p:nvSpPr>
        <p:spPr/>
        <p:txBody>
          <a:bodyPr/>
          <a:lstStyle/>
          <a:p>
            <a:fld id="{53E66F53-367B-DA44-BD0F-DD424DCA2273}" type="slidenum">
              <a:rPr lang="en-US" smtClean="0"/>
              <a:pPr/>
              <a:t>1</a:t>
            </a:fld>
            <a:endParaRPr lang="en-US"/>
          </a:p>
        </p:txBody>
      </p:sp>
    </p:spTree>
    <p:extLst>
      <p:ext uri="{BB962C8B-B14F-4D97-AF65-F5344CB8AC3E}">
        <p14:creationId xmlns:p14="http://schemas.microsoft.com/office/powerpoint/2010/main" val="3109523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Introduce yourself briefly: John Pavlov, Vice President and Consulting Expert at CGI. Position your perspective at the intersection of delivery transformation, operational data, and executive business conversations. Explain the gap you have observed: organizations can become very good at measuring how work moves without becoming equally good at explaining what that movement is worth to the business.</a:t>
            </a:r>
          </a:p>
          <a:p>
            <a:r>
              <a:rPr lang="en-US" sz="1200" b="1"/>
              <a:t>Transition: </a:t>
            </a:r>
            <a:r>
              <a:rPr lang="en-US" sz="1200"/>
              <a:t>Here is the practical outcome I want you to leave with today.</a:t>
            </a:r>
          </a:p>
        </p:txBody>
      </p:sp>
      <p:sp>
        <p:nvSpPr>
          <p:cNvPr id="4" name="Slide Number Placeholder 3"/>
          <p:cNvSpPr>
            <a:spLocks noGrp="1"/>
          </p:cNvSpPr>
          <p:nvPr>
            <p:ph type="sldNum" sz="quarter" idx="5"/>
          </p:nvPr>
        </p:nvSpPr>
        <p:spPr/>
        <p:txBody>
          <a:bodyPr/>
          <a:lstStyle/>
          <a:p>
            <a:fld id="{53E66F53-367B-DA44-BD0F-DD424DCA2273}" type="slidenum">
              <a:rPr lang="en-US" smtClean="0"/>
              <a:pPr/>
              <a:t>2</a:t>
            </a:fld>
            <a:endParaRPr lang="en-US"/>
          </a:p>
        </p:txBody>
      </p:sp>
    </p:spTree>
    <p:extLst>
      <p:ext uri="{BB962C8B-B14F-4D97-AF65-F5344CB8AC3E}">
        <p14:creationId xmlns:p14="http://schemas.microsoft.com/office/powerpoint/2010/main" val="2297003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By the end of the session, participants should be able to translate Flow Metrics into business outcomes, build transparent economic estimates, and use the results to support executive decisions. Walk through the three outcomes.</a:t>
            </a:r>
          </a:p>
          <a:p>
            <a:r>
              <a:rPr lang="en-US" sz="1200" b="1"/>
              <a:t>Reinforce the takeaway</a:t>
            </a:r>
            <a:r>
              <a:rPr lang="en-US" sz="1200"/>
              <a:t>: a practical model, worked examples, and a path to begin applying it.</a:t>
            </a:r>
          </a:p>
          <a:p>
            <a:r>
              <a:rPr lang="en-US" sz="1200" b="1"/>
              <a:t>Transition</a:t>
            </a:r>
            <a:r>
              <a:rPr lang="en-US" sz="1200"/>
              <a:t>: Why is this translation necessary? Because transformation fatigue is often a value-visibility problem.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The organization invests in transformation through new roles, ceremonies, tooling, and governance. Delivery teams then report operational improvements such as velocity, time, efficiency, and quality. The executive question is reasonable: where is the business value? The problem is not the question; it is that we often answer it only in delivery language.</a:t>
            </a:r>
          </a:p>
          <a:p>
            <a:r>
              <a:rPr lang="en-US" sz="1200" b="1"/>
              <a:t>Emphasize</a:t>
            </a:r>
            <a:r>
              <a:rPr lang="en-US" sz="1200"/>
              <a:t>: transformation fatigue is often not resistance to change. It is resistance to transformation whose value is difficult to see.</a:t>
            </a:r>
          </a:p>
          <a:p>
            <a:r>
              <a:rPr lang="en-US" sz="1200" b="1"/>
              <a:t>Transition</a:t>
            </a:r>
            <a:r>
              <a:rPr lang="en-US" sz="1200"/>
              <a:t>: Let’s test how confidently we can explain that value today.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Quick pulse check. Ask for a show of hands: who can explain the business value of their transformation in one sentence without using Agile terminology? Pause and scan the room.</a:t>
            </a:r>
          </a:p>
          <a:p>
            <a:r>
              <a:rPr lang="en-US" sz="1200"/>
              <a:t>Then ask participants to keep their hands raised if the answer includes dollars, capacity, timing, risk, or an investment decision.</a:t>
            </a:r>
          </a:p>
          <a:p>
            <a:r>
              <a:rPr lang="en-US" sz="1200"/>
              <a:t>Point out where confidence drops. Many organizations can describe delivery improvement; fewer can connect it to an outcome leaders can act on. That is the gap this session will close.</a:t>
            </a:r>
          </a:p>
          <a:p>
            <a:r>
              <a:rPr lang="en-US" sz="1200" b="1"/>
              <a:t>Transition</a:t>
            </a:r>
            <a:r>
              <a:rPr lang="en-US" sz="1200"/>
              <a:t>: The conversation changes when we ask one central question.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Ask the central question verbatim, then pause: What business outcome changed—and how did improved flow contribute?</a:t>
            </a:r>
          </a:p>
          <a:p>
            <a:r>
              <a:rPr lang="en-US" sz="1200"/>
              <a:t>Explain that Flow Metrics are evidence, not the end goal. Their purpose is to help explain movement in outcomes such as earlier value, usable capacity, lower cost, reduced risk, higher quality, or improved customer results.</a:t>
            </a:r>
          </a:p>
          <a:p>
            <a:r>
              <a:rPr lang="en-US" sz="1200"/>
              <a:t>Reinforce the frame on the right: metrics provide evidence; outcomes drive decisions. This moves the discussion from whether the transformation is busy to whether it is creating credible value.</a:t>
            </a:r>
          </a:p>
          <a:p>
            <a:r>
              <a:rPr lang="en-US" sz="1200" b="1"/>
              <a:t>Transition</a:t>
            </a:r>
            <a:r>
              <a:rPr lang="en-US" sz="1200"/>
              <a:t>: To make that connection consistently, we need a value-realization layer.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AA560-DC1D-6DC7-B678-C2E71139E8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BD830B-FFB9-14D7-0799-EA8B0B039C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DFF2BE-B332-F5E2-A5D2-A9383DDA81D3}"/>
              </a:ext>
            </a:extLst>
          </p:cNvPr>
          <p:cNvSpPr>
            <a:spLocks noGrp="1"/>
          </p:cNvSpPr>
          <p:nvPr>
            <p:ph type="body" idx="1"/>
          </p:nvPr>
        </p:nvSpPr>
        <p:spPr/>
        <p:txBody>
          <a:bodyPr/>
          <a:lstStyle/>
          <a:p>
            <a:r>
              <a:rPr lang="en-US" sz="1200"/>
              <a:t>Explain the missing interpretation layer. Flow Velocity can signal capacity; Flow Time can signal the timing of value; Flow Efficiency can indicate capacity recovery; Blocked Time can expose productivity loss; Quality can support cost-avoidance estimates; and Predictability can strengthen investment confidence.</a:t>
            </a:r>
          </a:p>
          <a:p>
            <a:r>
              <a:rPr lang="en-US" sz="1200"/>
              <a:t>Mention that the underlying evidence can come from systems such as Jira, Jira Align, ServiceNow, Azure DevOps, or similar delivery platforms.</a:t>
            </a:r>
          </a:p>
          <a:p>
            <a:r>
              <a:rPr lang="en-US" sz="1200" b="1"/>
              <a:t>Emphasize</a:t>
            </a:r>
            <a:r>
              <a:rPr lang="en-US" sz="1200"/>
              <a:t>: operational data is evidence for economic value; it is not the value itself. We do not need another metric—we need a disciplined translation.</a:t>
            </a:r>
          </a:p>
          <a:p>
            <a:r>
              <a:rPr lang="en-US" sz="1200" b="1"/>
              <a:t>Transition</a:t>
            </a:r>
            <a:r>
              <a:rPr lang="en-US" sz="1200"/>
              <a:t>: The Value Translation Chain shows how to make that translation one layer at a time.</a:t>
            </a:r>
          </a:p>
        </p:txBody>
      </p:sp>
      <p:sp>
        <p:nvSpPr>
          <p:cNvPr id="4" name="Slide Number Placeholder 3">
            <a:extLst>
              <a:ext uri="{FF2B5EF4-FFF2-40B4-BE49-F238E27FC236}">
                <a16:creationId xmlns:a16="http://schemas.microsoft.com/office/drawing/2014/main" id="{26FB9DBE-BFB0-3A42-7AC8-8471625E17C9}"/>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7795334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Walk left to right through the five translation layers. First, Flow Metrics show what changed in delivery. Second, operational change explains what that improvement enabled. Third, the business effect explains why it matters. Fourth, agreed assumptions create an economic estimate. Fifth, the estimate informs an executive decision.</a:t>
            </a:r>
          </a:p>
          <a:p>
            <a:r>
              <a:rPr lang="en-US" sz="1200" b="1"/>
              <a:t>Clarify</a:t>
            </a:r>
            <a:r>
              <a:rPr lang="en-US" sz="1200"/>
              <a:t> that the model does not claim a Flow Metric is a dollar value. It creates a defensible estimate from evidence, assumptions, attribution, and ranges.</a:t>
            </a:r>
          </a:p>
          <a:p>
            <a:r>
              <a:rPr lang="en-US" sz="1200" b="1"/>
              <a:t>Use the line at the bottom: </a:t>
            </a:r>
            <a:r>
              <a:rPr lang="en-US" sz="1200"/>
              <a:t>metrics are evidence; economics creates relevance; confidence creates credibility; decisions create value.</a:t>
            </a:r>
          </a:p>
          <a:p>
            <a:r>
              <a:rPr lang="en-US" sz="1200" b="1"/>
              <a:t>Emphasize</a:t>
            </a:r>
            <a:r>
              <a:rPr lang="en-US" sz="1200"/>
              <a:t> the guardrail: do not monetize every metric.</a:t>
            </a:r>
          </a:p>
          <a:p>
            <a:r>
              <a:rPr lang="en-US" sz="1200" b="1"/>
              <a:t>Transition</a:t>
            </a:r>
            <a:r>
              <a:rPr lang="en-US" sz="1200"/>
              <a:t>: Before applying formulas, we need rules that keep the math credible.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Introduce</a:t>
            </a:r>
            <a:r>
              <a:rPr lang="en-US" sz="1200"/>
              <a:t> five credibility guardrails. Start with a defensible baseline. Make attribution explicit. Avoid double counting overlapping benefits. Use ranges rather than false precision. Label whether a figure represents economic value, avoided cost, or realized cash.</a:t>
            </a:r>
          </a:p>
          <a:p>
            <a:r>
              <a:rPr lang="en-US" sz="1200"/>
              <a:t>Stress that credibility beats precision. A model is useful because leaders trust its logic—not because a spreadsheet displays six decimal places.</a:t>
            </a:r>
          </a:p>
          <a:p>
            <a:r>
              <a:rPr lang="en-US" sz="1200" b="1"/>
              <a:t>Deliver the closing line slowly: </a:t>
            </a:r>
            <a:r>
              <a:rPr lang="en-US" sz="1200"/>
              <a:t>Finance should not merely be the audience for the value model; Finance should be one of its co-authors.</a:t>
            </a:r>
          </a:p>
          <a:p>
            <a:r>
              <a:rPr lang="en-US" sz="1200"/>
              <a:t>Transition: With those guardrails in place, here is what the executive view can look like.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This is our destination, not as a slide to read line by line. This is an illustrative 12-month view built from assumed baselines and economic inputs. </a:t>
            </a:r>
            <a:r>
              <a:rPr lang="en-US" sz="1200" b="1"/>
              <a:t>Call out </a:t>
            </a:r>
            <a:r>
              <a:rPr lang="en-US" sz="1200"/>
              <a:t>the $8.35 million total estimated value and the major value drivers: engineering capacity recovered, earlier value realization, reduced unplanned work, quality cost avoidance, and productivity recovery. </a:t>
            </a:r>
            <a:r>
              <a:rPr lang="en-US" sz="1200" b="1"/>
              <a:t>Note</a:t>
            </a:r>
            <a:r>
              <a:rPr lang="en-US" sz="1200"/>
              <a:t> that recovered engineering capacity contributes $4.50 million—more than half of the formula-derived total.</a:t>
            </a:r>
          </a:p>
          <a:p>
            <a:r>
              <a:rPr lang="en-US" sz="1200" b="1"/>
              <a:t>Connect</a:t>
            </a:r>
            <a:r>
              <a:rPr lang="en-US" sz="1200"/>
              <a:t> the value drivers to the delivery outcomes on the right: velocity, earlier realization, efficiency, blocked time, defects, and predictability.</a:t>
            </a:r>
          </a:p>
          <a:p>
            <a:r>
              <a:rPr lang="en-US" sz="1200" b="1"/>
              <a:t>Emphasize</a:t>
            </a:r>
            <a:r>
              <a:rPr lang="en-US" sz="1200"/>
              <a:t>: the model does not manufacture value. It organizes operational evidence and agreed assumptions into a defensible executive conversation.</a:t>
            </a:r>
          </a:p>
          <a:p>
            <a:r>
              <a:rPr lang="en-US" sz="1200" b="1"/>
              <a:t>Transition</a:t>
            </a:r>
            <a:r>
              <a:rPr lang="en-US" sz="1200"/>
              <a:t>: Now let’s look underneath the dashboard and show how each estimate is calculated.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First question: </a:t>
            </a:r>
            <a:r>
              <a:rPr lang="en-US" sz="1200"/>
              <a:t>how much additional capacity did improved delivery performance unlock? In this example, velocity rises from 100 to 115—a 15 percent improvement. Apply that percentage to 100 engineers at a $150,000 fully loaded cost. The result is an estimated $2.25 million of equivalent capacity value. </a:t>
            </a:r>
            <a:r>
              <a:rPr lang="en-US" sz="1200" b="1"/>
              <a:t>Stress</a:t>
            </a:r>
            <a:r>
              <a:rPr lang="en-US" sz="1200"/>
              <a:t> the word equivalent. This is not $2.25 million of cash savings; it is an economic estimate of capacity that may now be available for additional value-producing work.</a:t>
            </a:r>
          </a:p>
          <a:p>
            <a:r>
              <a:rPr lang="en-US" sz="1200" b="1"/>
              <a:t>Guardrail</a:t>
            </a:r>
            <a:r>
              <a:rPr lang="en-US" sz="1200"/>
              <a:t>: velocity must be based on a stable, meaningful baseline. Do not compare arbitrary story-point systems or treat story points as financial units.</a:t>
            </a:r>
          </a:p>
          <a:p>
            <a:r>
              <a:rPr lang="en-US" sz="1200" b="1"/>
              <a:t>Transition</a:t>
            </a:r>
            <a:r>
              <a:rPr lang="en-US" sz="1200"/>
              <a:t>: Capacity is one value story. The next question is whether value arrived sooner.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Second question: </a:t>
            </a:r>
            <a:r>
              <a:rPr lang="en-US" sz="1200"/>
              <a:t>did improved Flow Time bring value forward? The example assumes four weeks of acceleration, six features, and $250,000 of monthly value per feature. Using the formula on the slide, the estimate is $1.5 million of earlier value realization. </a:t>
            </a:r>
            <a:r>
              <a:rPr lang="en-US" sz="1200" b="1"/>
              <a:t>Make</a:t>
            </a:r>
            <a:r>
              <a:rPr lang="en-US" sz="1200"/>
              <a:t> the distinction carefully: earlier value realization is not automatically incremental revenue. Separate value realized sooner, revenue actually generated, and revenue that would have occurred anyway. The economic value of time can be significant, but the assumptions must be explicit and agreed.</a:t>
            </a:r>
          </a:p>
          <a:p>
            <a:r>
              <a:rPr lang="en-US" sz="1200" b="1"/>
              <a:t>Transition</a:t>
            </a:r>
            <a:r>
              <a:rPr lang="en-US" sz="1200"/>
              <a:t>: Next, let’s examine capacity that is being consumed by friction.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Third question: </a:t>
            </a:r>
            <a:r>
              <a:rPr lang="en-US" sz="1200"/>
              <a:t>how much engineering capacity was consumed by friction rather than value creation? This slide shows two ways to expose it. </a:t>
            </a:r>
            <a:r>
              <a:rPr lang="en-US" sz="1200" b="1"/>
              <a:t>On the left</a:t>
            </a:r>
            <a:r>
              <a:rPr lang="en-US" sz="1200"/>
              <a:t>, Flow Efficiency improves from 25 percent to 40 percent. Applied to $15 million of engineering spend, the 15-point gain represents $2.25 million of equivalent recovered capacity. </a:t>
            </a:r>
            <a:r>
              <a:rPr lang="en-US" sz="1200" b="1"/>
              <a:t>On the right</a:t>
            </a:r>
            <a:r>
              <a:rPr lang="en-US" sz="1200"/>
              <a:t>, unplanned work falls from 30 percent to 20 percent. Applied to the same engineering spend, the 10-point reduction represents a $1.50 million reduction in unplanned-work burden. These estimates should not be stacked blindly if they overlap. The executive story is that capacity previously consumed by friction may now be available for value creation.</a:t>
            </a:r>
          </a:p>
          <a:p>
            <a:r>
              <a:rPr lang="en-US" sz="1200" b="1"/>
              <a:t>Transition</a:t>
            </a:r>
            <a:r>
              <a:rPr lang="en-US" sz="1200"/>
              <a:t>: Blocked work and defect work reveal another form of economic leakage.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Fourth question: </a:t>
            </a:r>
            <a:r>
              <a:rPr lang="en-US" sz="1200"/>
              <a:t>what economic leakage did we reduce? Blocked work consumes productive time, and defect-related work creates avoidable cost and disruption. </a:t>
            </a:r>
            <a:r>
              <a:rPr lang="en-US" sz="1200" b="1"/>
              <a:t>For productivity recovery</a:t>
            </a:r>
            <a:r>
              <a:rPr lang="en-US" sz="1200"/>
              <a:t>, the example uses 800 fewer blocked hours per PI, a $100 fully loaded hourly cost, and five PIs per year. That produces a $400,000 estimate. </a:t>
            </a:r>
            <a:r>
              <a:rPr lang="en-US" sz="1200" b="1"/>
              <a:t>For quality cost avoidance</a:t>
            </a:r>
            <a:r>
              <a:rPr lang="en-US" sz="1200"/>
              <a:t>, 30 fewer incidents at an assumed $15,000 per incident produces a $450,000 estimate. </a:t>
            </a:r>
            <a:r>
              <a:rPr lang="en-US" sz="1200" b="1"/>
              <a:t>Emphasize</a:t>
            </a:r>
            <a:r>
              <a:rPr lang="en-US" sz="1200"/>
              <a:t> that both values depend on the quality of the baseline and Finance-approved assumptions. The model makes leakage visible; it does not automatically turn it into P&amp;L savings.</a:t>
            </a:r>
          </a:p>
          <a:p>
            <a:r>
              <a:rPr lang="en-US" sz="1200" b="1"/>
              <a:t>Transition</a:t>
            </a:r>
            <a:r>
              <a:rPr lang="en-US" sz="1200"/>
              <a:t>: The final metric is valuable, but it should not be forced into a dollar amount.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Fifth question: </a:t>
            </a:r>
            <a:r>
              <a:rPr lang="en-US" sz="1200"/>
              <a:t>how confident can leaders be in delivery-based investment decisions? Predictability is not only a delivery metric; it affects planning, sequencing, and portfolio commitments. Higher predictability increases confidence in commitments. Lower variance reduces the need for contingency and limits portfolio churn. Better signals strengthen the basis for where to invest, stop, or accelerate. </a:t>
            </a:r>
            <a:r>
              <a:rPr lang="en-US" sz="1200" b="1"/>
              <a:t>Use the panel on the right </a:t>
            </a:r>
            <a:r>
              <a:rPr lang="en-US" sz="1200"/>
              <a:t>to summarize the point: better signals lead to better portfolio choices.</a:t>
            </a:r>
          </a:p>
          <a:p>
            <a:r>
              <a:rPr lang="en-US" sz="1200" b="1"/>
              <a:t>Emphasize</a:t>
            </a:r>
            <a:r>
              <a:rPr lang="en-US" sz="1200"/>
              <a:t> that not everything valuable needs to become a dollar. Predictability improves decision quality and should not be forced into false precision. A great benefit is the trust fostered between IT &amp; Business Stakeholders</a:t>
            </a:r>
          </a:p>
          <a:p>
            <a:r>
              <a:rPr lang="en-US" sz="1200" b="1"/>
              <a:t>Transition</a:t>
            </a:r>
            <a:r>
              <a:rPr lang="en-US" sz="1200"/>
              <a:t>: Let’s bring the measures back together and read the dashboard the way an executive should.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Guide</a:t>
            </a:r>
            <a:r>
              <a:rPr lang="en-US" sz="1200"/>
              <a:t> executives through four questions. </a:t>
            </a:r>
            <a:r>
              <a:rPr lang="en-US" sz="1200" b="1"/>
              <a:t>Evidence</a:t>
            </a:r>
            <a:r>
              <a:rPr lang="en-US" sz="1200"/>
              <a:t>: what changed versus the baseline? </a:t>
            </a:r>
            <a:r>
              <a:rPr lang="en-US" sz="1200" b="1"/>
              <a:t>Economics</a:t>
            </a:r>
            <a:r>
              <a:rPr lang="en-US" sz="1200"/>
              <a:t>: what might that change be worth? </a:t>
            </a:r>
            <a:r>
              <a:rPr lang="en-US" sz="1200" b="1"/>
              <a:t>Credibility</a:t>
            </a:r>
            <a:r>
              <a:rPr lang="en-US" sz="1200"/>
              <a:t>: how confident are we in the assumptions, attribution, and data quality? </a:t>
            </a:r>
            <a:r>
              <a:rPr lang="en-US" sz="1200" b="1"/>
              <a:t>Decision</a:t>
            </a:r>
            <a:r>
              <a:rPr lang="en-US" sz="1200"/>
              <a:t>: what should leadership do next?</a:t>
            </a:r>
          </a:p>
          <a:p>
            <a:r>
              <a:rPr lang="en-US" sz="1200" b="1"/>
              <a:t>Clarify</a:t>
            </a:r>
            <a:r>
              <a:rPr lang="en-US" sz="1200"/>
              <a:t> that the dashboard is not the story. It is the executive conversation starter that connects operational evidence to a portfolio or investment choice. </a:t>
            </a:r>
            <a:r>
              <a:rPr lang="en-US" sz="1200" b="1"/>
              <a:t>Summarize the sequence on the right: </a:t>
            </a:r>
            <a:r>
              <a:rPr lang="en-US" sz="1200"/>
              <a:t>Metrics to Economics to Confidence to Decisions.</a:t>
            </a:r>
          </a:p>
          <a:p>
            <a:r>
              <a:rPr lang="en-US" sz="1200" b="1"/>
              <a:t>Pause after the final line: </a:t>
            </a:r>
            <a:r>
              <a:rPr lang="en-US" sz="1200"/>
              <a:t>metrics are evidence, economics creates relevance, confidence creates credibility, and decisions create value.</a:t>
            </a:r>
          </a:p>
          <a:p>
            <a:r>
              <a:rPr lang="en-US" sz="1200" b="1"/>
              <a:t>Transition: </a:t>
            </a:r>
            <a:r>
              <a:rPr lang="en-US" sz="1200"/>
              <a:t>Let’s close with the three ideas to remember.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Close the content with three takeaways. </a:t>
            </a:r>
            <a:r>
              <a:rPr lang="en-US" sz="1200" b="1"/>
              <a:t>First, evidence: </a:t>
            </a:r>
            <a:r>
              <a:rPr lang="en-US" sz="1200"/>
              <a:t>Flow Metrics show what changed against a clear baseline. </a:t>
            </a:r>
            <a:r>
              <a:rPr lang="en-US" sz="1200" b="1"/>
              <a:t>Second, economics: </a:t>
            </a:r>
            <a:r>
              <a:rPr lang="en-US" sz="1200"/>
              <a:t>transparent formulas translate that change into relevant value without creating false precision. </a:t>
            </a:r>
            <a:r>
              <a:rPr lang="en-US" sz="1200" b="1"/>
              <a:t>Third, decisions: </a:t>
            </a:r>
            <a:r>
              <a:rPr lang="en-US" sz="1200"/>
              <a:t>assumptions and data quality determine the confidence leaders should place in where to invest, stop, or accelerate. </a:t>
            </a:r>
            <a:r>
              <a:rPr lang="en-US" sz="1200" b="1"/>
              <a:t>Use the bottom line as the summary:</a:t>
            </a:r>
            <a:r>
              <a:rPr lang="en-US" sz="1200"/>
              <a:t> metrics create evidence, economics creates relevance, and confidence enables better decisions. </a:t>
            </a:r>
            <a:r>
              <a:rPr lang="en-US" sz="1200" b="1"/>
              <a:t>Encourage the audience </a:t>
            </a:r>
            <a:r>
              <a:rPr lang="en-US" sz="1200"/>
              <a:t>to start with a small number of measures and one real decision rather than trying to monetize an entire transformation at once.</a:t>
            </a:r>
          </a:p>
          <a:p>
            <a:r>
              <a:rPr lang="en-US" sz="1200" b="1"/>
              <a:t>Transition</a:t>
            </a:r>
            <a:r>
              <a:rPr lang="en-US" sz="1200"/>
              <a:t>: The final message is to make transformation value visible.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k Teal">
    <p:bg>
      <p:bgPr>
        <a:solidFill>
          <a:schemeClr val="tx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C8494324-9CD8-8725-8122-35FE1469412E}"/>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1111" y="625"/>
            <a:ext cx="9141778" cy="5142250"/>
          </a:xfrm>
          <a:prstGeom prst="rect">
            <a:avLst/>
          </a:prstGeom>
        </p:spPr>
      </p:pic>
      <p:sp>
        <p:nvSpPr>
          <p:cNvPr id="8" name="Title 1"/>
          <p:cNvSpPr>
            <a:spLocks noGrp="1"/>
          </p:cNvSpPr>
          <p:nvPr>
            <p:ph type="ctrTitle" hasCustomPrompt="1"/>
          </p:nvPr>
        </p:nvSpPr>
        <p:spPr>
          <a:xfrm>
            <a:off x="1712338" y="607721"/>
            <a:ext cx="5402139" cy="1750158"/>
          </a:xfrm>
          <a:prstGeom prst="rect">
            <a:avLst/>
          </a:prstGeom>
        </p:spPr>
        <p:txBody>
          <a:bodyPr anchor="b">
            <a:noAutofit/>
          </a:bodyPr>
          <a:lstStyle>
            <a:lvl1pPr marL="0" indent="0" algn="l">
              <a:lnSpc>
                <a:spcPct val="100000"/>
              </a:lnSpc>
              <a:tabLst/>
              <a:defRPr sz="3500" b="1" spc="0" baseline="0">
                <a:solidFill>
                  <a:srgbClr val="052126"/>
                </a:solidFill>
              </a:defRPr>
            </a:lvl1pPr>
          </a:lstStyle>
          <a:p>
            <a:r>
              <a:rPr lang="en-US"/>
              <a:t>Click To Edit Master Title Style</a:t>
            </a:r>
          </a:p>
        </p:txBody>
      </p:sp>
      <p:sp>
        <p:nvSpPr>
          <p:cNvPr id="9" name="Subtitle 2"/>
          <p:cNvSpPr>
            <a:spLocks noGrp="1"/>
          </p:cNvSpPr>
          <p:nvPr>
            <p:ph type="subTitle" idx="1" hasCustomPrompt="1"/>
          </p:nvPr>
        </p:nvSpPr>
        <p:spPr>
          <a:xfrm>
            <a:off x="1724115" y="2357880"/>
            <a:ext cx="5409456" cy="555014"/>
          </a:xfrm>
          <a:prstGeom prst="rect">
            <a:avLst/>
          </a:prstGeom>
        </p:spPr>
        <p:txBody>
          <a:bodyPr>
            <a:noAutofit/>
          </a:bodyPr>
          <a:lstStyle>
            <a:lvl1pPr marL="0" indent="0" algn="l">
              <a:buNone/>
              <a:defRPr sz="2300" b="0" cap="none" spc="0" baseline="0">
                <a:solidFill>
                  <a:srgbClr val="76B6C3"/>
                </a:solidFill>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162638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Pic Full">
    <p:bg>
      <p:bgPr>
        <a:solidFill>
          <a:schemeClr val="bg1">
            <a:lumMod val="75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8D2E0BE-993B-7E4D-B1E5-4BA6F21DC4F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pic>
        <p:nvPicPr>
          <p:cNvPr id="11" name="Picture 10">
            <a:extLst>
              <a:ext uri="{FF2B5EF4-FFF2-40B4-BE49-F238E27FC236}">
                <a16:creationId xmlns:a16="http://schemas.microsoft.com/office/drawing/2014/main" id="{92D07B9D-96F1-0145-BA9A-4F664EE7E9FF}"/>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456637" y="202453"/>
            <a:ext cx="1435100" cy="431800"/>
          </a:xfrm>
          <a:prstGeom prst="rect">
            <a:avLst/>
          </a:prstGeom>
        </p:spPr>
      </p:pic>
      <p:sp>
        <p:nvSpPr>
          <p:cNvPr id="8" name="Title 1"/>
          <p:cNvSpPr>
            <a:spLocks noGrp="1"/>
          </p:cNvSpPr>
          <p:nvPr>
            <p:ph type="ctrTitle" hasCustomPrompt="1"/>
          </p:nvPr>
        </p:nvSpPr>
        <p:spPr>
          <a:xfrm>
            <a:off x="422677" y="649857"/>
            <a:ext cx="4562905" cy="1921893"/>
          </a:xfrm>
          <a:prstGeom prst="rect">
            <a:avLst/>
          </a:prstGeom>
        </p:spPr>
        <p:txBody>
          <a:bodyPr anchor="b">
            <a:noAutofit/>
          </a:bodyPr>
          <a:lstStyle>
            <a:lvl1pPr algn="l">
              <a:lnSpc>
                <a:spcPct val="100000"/>
              </a:lnSpc>
              <a:defRPr sz="2800" b="1" spc="0" baseline="0">
                <a:solidFill>
                  <a:schemeClr val="tx1"/>
                </a:solidFill>
                <a:latin typeface="+mj-lt"/>
                <a:ea typeface="Verdana" panose="020B0604030504040204" pitchFamily="34" charset="0"/>
                <a:cs typeface="Verdana" panose="020B0604030504040204" pitchFamily="34" charset="0"/>
              </a:defRPr>
            </a:lvl1pPr>
          </a:lstStyle>
          <a:p>
            <a:r>
              <a:rPr lang="en-US"/>
              <a:t>Click To Edit Master</a:t>
            </a:r>
            <a:br>
              <a:rPr lang="en-US"/>
            </a:br>
            <a:r>
              <a:rPr lang="en-US"/>
              <a:t>Title Style</a:t>
            </a:r>
          </a:p>
        </p:txBody>
      </p:sp>
      <p:sp>
        <p:nvSpPr>
          <p:cNvPr id="9" name="Subtitle 2"/>
          <p:cNvSpPr>
            <a:spLocks noGrp="1"/>
          </p:cNvSpPr>
          <p:nvPr>
            <p:ph type="subTitle" idx="1" hasCustomPrompt="1"/>
          </p:nvPr>
        </p:nvSpPr>
        <p:spPr>
          <a:xfrm>
            <a:off x="415359" y="2571751"/>
            <a:ext cx="4570223" cy="555014"/>
          </a:xfrm>
          <a:prstGeom prst="rect">
            <a:avLst/>
          </a:prstGeom>
        </p:spPr>
        <p:txBody>
          <a:bodyPr>
            <a:noAutofit/>
          </a:bodyPr>
          <a:lstStyle>
            <a:lvl1pPr marL="0" indent="0" algn="l">
              <a:buNone/>
              <a:defRPr sz="1800" b="0" cap="none" spc="75" baseline="0">
                <a:solidFill>
                  <a:schemeClr val="tx1"/>
                </a:solidFill>
                <a:latin typeface="+mn-lt"/>
                <a:ea typeface="Verdana" panose="020B0604030504040204" pitchFamily="34" charset="0"/>
                <a:cs typeface="Verdana" panose="020B060403050404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pic>
        <p:nvPicPr>
          <p:cNvPr id="3" name="Picture 2">
            <a:extLst>
              <a:ext uri="{FF2B5EF4-FFF2-40B4-BE49-F238E27FC236}">
                <a16:creationId xmlns:a16="http://schemas.microsoft.com/office/drawing/2014/main" id="{997E3403-4824-3841-B4A9-FCD583A8581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0" y="3200400"/>
            <a:ext cx="9144000" cy="1943100"/>
          </a:xfrm>
          <a:prstGeom prst="rect">
            <a:avLst/>
          </a:prstGeom>
        </p:spPr>
      </p:pic>
    </p:spTree>
    <p:extLst>
      <p:ext uri="{BB962C8B-B14F-4D97-AF65-F5344CB8AC3E}">
        <p14:creationId xmlns:p14="http://schemas.microsoft.com/office/powerpoint/2010/main" val="92656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Pic Half - Red">
    <p:bg>
      <p:bgPr>
        <a:solidFill>
          <a:schemeClr val="bg1">
            <a:lumMod val="75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4B3ED2-37C0-D34D-9265-4B559BEEE513}"/>
              </a:ext>
            </a:extLst>
          </p:cNvPr>
          <p:cNvSpPr/>
          <p:nvPr userDrawn="1"/>
        </p:nvSpPr>
        <p:spPr>
          <a:xfrm>
            <a:off x="4879127" y="0"/>
            <a:ext cx="426382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ctrTitle" hasCustomPrompt="1"/>
          </p:nvPr>
        </p:nvSpPr>
        <p:spPr>
          <a:xfrm>
            <a:off x="5242981" y="1506071"/>
            <a:ext cx="3539725" cy="1792005"/>
          </a:xfrm>
          <a:prstGeom prst="rect">
            <a:avLst/>
          </a:prstGeom>
        </p:spPr>
        <p:txBody>
          <a:bodyPr anchor="b">
            <a:noAutofit/>
          </a:bodyPr>
          <a:lstStyle>
            <a:lvl1pPr algn="l">
              <a:lnSpc>
                <a:spcPct val="100000"/>
              </a:lnSpc>
              <a:defRPr sz="2800" b="1" spc="0" baseline="0">
                <a:solidFill>
                  <a:schemeClr val="bg1"/>
                </a:solidFill>
                <a:latin typeface="+mj-lt"/>
                <a:ea typeface="Verdana" panose="020B0604030504040204" pitchFamily="34" charset="0"/>
                <a:cs typeface="Verdana" panose="020B0604030504040204" pitchFamily="34" charset="0"/>
              </a:defRPr>
            </a:lvl1pPr>
          </a:lstStyle>
          <a:p>
            <a:r>
              <a:rPr lang="en-US"/>
              <a:t>Click To Edit Master</a:t>
            </a:r>
            <a:br>
              <a:rPr lang="en-US"/>
            </a:br>
            <a:r>
              <a:rPr lang="en-US"/>
              <a:t>Title Style</a:t>
            </a:r>
          </a:p>
        </p:txBody>
      </p:sp>
      <p:sp>
        <p:nvSpPr>
          <p:cNvPr id="9" name="Subtitle 2"/>
          <p:cNvSpPr>
            <a:spLocks noGrp="1"/>
          </p:cNvSpPr>
          <p:nvPr>
            <p:ph type="subTitle" idx="1" hasCustomPrompt="1"/>
          </p:nvPr>
        </p:nvSpPr>
        <p:spPr>
          <a:xfrm>
            <a:off x="5235664" y="3298077"/>
            <a:ext cx="3545402" cy="555014"/>
          </a:xfrm>
          <a:prstGeom prst="rect">
            <a:avLst/>
          </a:prstGeom>
        </p:spPr>
        <p:txBody>
          <a:bodyPr>
            <a:noAutofit/>
          </a:bodyPr>
          <a:lstStyle>
            <a:lvl1pPr marL="0" indent="0" algn="l">
              <a:buNone/>
              <a:defRPr sz="1800" b="0" cap="none" spc="75" baseline="0">
                <a:solidFill>
                  <a:schemeClr val="bg1"/>
                </a:solidFill>
                <a:latin typeface="+mn-lt"/>
                <a:ea typeface="Verdana" panose="020B0604030504040204" pitchFamily="34" charset="0"/>
                <a:cs typeface="Verdana" panose="020B060403050404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pic>
        <p:nvPicPr>
          <p:cNvPr id="1028" name="Picture 4" descr="man in black shirt holding smartphone">
            <a:extLst>
              <a:ext uri="{FF2B5EF4-FFF2-40B4-BE49-F238E27FC236}">
                <a16:creationId xmlns:a16="http://schemas.microsoft.com/office/drawing/2014/main" id="{947CD4B2-329B-2B47-AF33-63FDE443F27B}"/>
              </a:ext>
            </a:extLst>
          </p:cNvPr>
          <p:cNvPicPr>
            <a:picLocks noChangeAspect="1" noChangeArrowheads="1"/>
          </p:cNvPicPr>
          <p:nvPr userDrawn="1"/>
        </p:nvPicPr>
        <p:blipFill rotWithShape="1">
          <a:blip r:embed="rId2" cstate="screen">
            <a:extLst>
              <a:ext uri="{28A0092B-C50C-407E-A947-70E740481C1C}">
                <a14:useLocalDpi xmlns:a14="http://schemas.microsoft.com/office/drawing/2010/main"/>
              </a:ext>
            </a:extLst>
          </a:blip>
          <a:srcRect/>
          <a:stretch/>
        </p:blipFill>
        <p:spPr bwMode="auto">
          <a:xfrm>
            <a:off x="-1" y="-1"/>
            <a:ext cx="4889005" cy="514349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502AC024-9381-E647-BC80-68DA93F8E2D2}"/>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1" t="15955" r="20155" b="-15955"/>
          <a:stretch/>
        </p:blipFill>
        <p:spPr>
          <a:xfrm>
            <a:off x="2077081" y="0"/>
            <a:ext cx="7066919" cy="1402179"/>
          </a:xfrm>
          <a:prstGeom prst="rect">
            <a:avLst/>
          </a:prstGeom>
        </p:spPr>
      </p:pic>
      <p:pic>
        <p:nvPicPr>
          <p:cNvPr id="10" name="Picture 9">
            <a:extLst>
              <a:ext uri="{FF2B5EF4-FFF2-40B4-BE49-F238E27FC236}">
                <a16:creationId xmlns:a16="http://schemas.microsoft.com/office/drawing/2014/main" id="{E15789AB-355D-4A42-933F-0830742B8CEE}"/>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7552059" y="4508313"/>
            <a:ext cx="1435100" cy="431800"/>
          </a:xfrm>
          <a:prstGeom prst="rect">
            <a:avLst/>
          </a:prstGeom>
        </p:spPr>
      </p:pic>
    </p:spTree>
    <p:extLst>
      <p:ext uri="{BB962C8B-B14F-4D97-AF65-F5344CB8AC3E}">
        <p14:creationId xmlns:p14="http://schemas.microsoft.com/office/powerpoint/2010/main" val="3689153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Pic Half - Ivory">
    <p:bg>
      <p:bgPr>
        <a:solidFill>
          <a:schemeClr val="bg2"/>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A472664-6EE8-FD4F-9F5D-FA86F1E3598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1478" r="5340"/>
          <a:stretch/>
        </p:blipFill>
        <p:spPr>
          <a:xfrm>
            <a:off x="0" y="0"/>
            <a:ext cx="4874654" cy="5143500"/>
          </a:xfrm>
          <a:prstGeom prst="rect">
            <a:avLst/>
          </a:prstGeom>
        </p:spPr>
      </p:pic>
      <p:sp>
        <p:nvSpPr>
          <p:cNvPr id="8" name="Title 1"/>
          <p:cNvSpPr>
            <a:spLocks noGrp="1"/>
          </p:cNvSpPr>
          <p:nvPr>
            <p:ph type="ctrTitle" hasCustomPrompt="1"/>
          </p:nvPr>
        </p:nvSpPr>
        <p:spPr>
          <a:xfrm>
            <a:off x="5242981" y="1506071"/>
            <a:ext cx="3539725" cy="1792005"/>
          </a:xfrm>
          <a:prstGeom prst="rect">
            <a:avLst/>
          </a:prstGeom>
        </p:spPr>
        <p:txBody>
          <a:bodyPr anchor="b">
            <a:noAutofit/>
          </a:bodyPr>
          <a:lstStyle>
            <a:lvl1pPr algn="l">
              <a:lnSpc>
                <a:spcPct val="100000"/>
              </a:lnSpc>
              <a:defRPr sz="2800" b="1" spc="0" baseline="0">
                <a:solidFill>
                  <a:schemeClr val="tx1"/>
                </a:solidFill>
                <a:latin typeface="+mj-lt"/>
                <a:ea typeface="Verdana" panose="020B0604030504040204" pitchFamily="34" charset="0"/>
                <a:cs typeface="Verdana" panose="020B0604030504040204" pitchFamily="34" charset="0"/>
              </a:defRPr>
            </a:lvl1pPr>
          </a:lstStyle>
          <a:p>
            <a:r>
              <a:rPr lang="en-US"/>
              <a:t>Click To Edit Master</a:t>
            </a:r>
            <a:br>
              <a:rPr lang="en-US"/>
            </a:br>
            <a:r>
              <a:rPr lang="en-US"/>
              <a:t>Title Style</a:t>
            </a:r>
          </a:p>
        </p:txBody>
      </p:sp>
      <p:sp>
        <p:nvSpPr>
          <p:cNvPr id="9" name="Subtitle 2"/>
          <p:cNvSpPr>
            <a:spLocks noGrp="1"/>
          </p:cNvSpPr>
          <p:nvPr>
            <p:ph type="subTitle" idx="1" hasCustomPrompt="1"/>
          </p:nvPr>
        </p:nvSpPr>
        <p:spPr>
          <a:xfrm>
            <a:off x="5235664" y="3298077"/>
            <a:ext cx="3545402" cy="555014"/>
          </a:xfrm>
          <a:prstGeom prst="rect">
            <a:avLst/>
          </a:prstGeom>
        </p:spPr>
        <p:txBody>
          <a:bodyPr>
            <a:noAutofit/>
          </a:bodyPr>
          <a:lstStyle>
            <a:lvl1pPr marL="0" indent="0" algn="l">
              <a:buNone/>
              <a:defRPr sz="1800" b="0" cap="none" spc="75" baseline="0">
                <a:solidFill>
                  <a:schemeClr val="tx1"/>
                </a:solidFill>
                <a:latin typeface="+mn-lt"/>
                <a:ea typeface="Verdana" panose="020B0604030504040204" pitchFamily="34" charset="0"/>
                <a:cs typeface="Verdana" panose="020B060403050404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pic>
        <p:nvPicPr>
          <p:cNvPr id="13" name="Picture 11">
            <a:extLst>
              <a:ext uri="{FF2B5EF4-FFF2-40B4-BE49-F238E27FC236}">
                <a16:creationId xmlns:a16="http://schemas.microsoft.com/office/drawing/2014/main" id="{19666FDB-7B41-DE4B-9B8C-EBDAFA37C781}"/>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1" t="15955" r="20155" b="-15955"/>
          <a:stretch/>
        </p:blipFill>
        <p:spPr>
          <a:xfrm>
            <a:off x="2077081" y="0"/>
            <a:ext cx="7066919" cy="1402179"/>
          </a:xfrm>
          <a:prstGeom prst="rect">
            <a:avLst/>
          </a:prstGeom>
        </p:spPr>
      </p:pic>
      <p:pic>
        <p:nvPicPr>
          <p:cNvPr id="7" name="Picture 6">
            <a:extLst>
              <a:ext uri="{FF2B5EF4-FFF2-40B4-BE49-F238E27FC236}">
                <a16:creationId xmlns:a16="http://schemas.microsoft.com/office/drawing/2014/main" id="{3801F64B-F0AC-6E4D-901E-8F8E89BDF916}"/>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7549057" y="4509247"/>
            <a:ext cx="1435100" cy="431800"/>
          </a:xfrm>
          <a:prstGeom prst="rect">
            <a:avLst/>
          </a:prstGeom>
        </p:spPr>
      </p:pic>
    </p:spTree>
    <p:extLst>
      <p:ext uri="{BB962C8B-B14F-4D97-AF65-F5344CB8AC3E}">
        <p14:creationId xmlns:p14="http://schemas.microsoft.com/office/powerpoint/2010/main" val="11242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esenter Slide for 1 - Lt Blue">
    <p:bg>
      <p:bgPr>
        <a:solidFill>
          <a:schemeClr val="accent5"/>
        </a:solidFill>
        <a:effectLst/>
      </p:bgPr>
    </p:bg>
    <p:spTree>
      <p:nvGrpSpPr>
        <p:cNvPr id="1" name=""/>
        <p:cNvGrpSpPr/>
        <p:nvPr/>
      </p:nvGrpSpPr>
      <p:grpSpPr>
        <a:xfrm>
          <a:off x="0" y="0"/>
          <a:ext cx="0" cy="0"/>
          <a:chOff x="0" y="0"/>
          <a:chExt cx="0" cy="0"/>
        </a:xfrm>
      </p:grpSpPr>
      <p:pic>
        <p:nvPicPr>
          <p:cNvPr id="28" name="Picture 3">
            <a:extLst>
              <a:ext uri="{FF2B5EF4-FFF2-40B4-BE49-F238E27FC236}">
                <a16:creationId xmlns:a16="http://schemas.microsoft.com/office/drawing/2014/main" id="{E880AFFD-76AB-3748-AB08-C089CFC5412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355" b="9238"/>
          <a:stretch/>
        </p:blipFill>
        <p:spPr>
          <a:xfrm rot="10800000">
            <a:off x="0" y="-2"/>
            <a:ext cx="9144000" cy="2449525"/>
          </a:xfrm>
          <a:prstGeom prst="rect">
            <a:avLst/>
          </a:prstGeom>
        </p:spPr>
      </p:pic>
      <p:sp>
        <p:nvSpPr>
          <p:cNvPr id="11" name="Footer Placeholder 3">
            <a:extLst>
              <a:ext uri="{FF2B5EF4-FFF2-40B4-BE49-F238E27FC236}">
                <a16:creationId xmlns:a16="http://schemas.microsoft.com/office/drawing/2014/main" id="{F91D8103-6146-AE47-89A5-12FFEC44AF6C}"/>
              </a:ext>
            </a:extLst>
          </p:cNvPr>
          <p:cNvSpPr>
            <a:spLocks noGrp="1"/>
          </p:cNvSpPr>
          <p:nvPr>
            <p:ph type="ftr" sz="quarter" idx="10"/>
          </p:nvPr>
        </p:nvSpPr>
        <p:spPr>
          <a:xfrm>
            <a:off x="342900" y="4767263"/>
            <a:ext cx="5772150" cy="274637"/>
          </a:xfrm>
        </p:spPr>
        <p:txBody>
          <a:bodyPr/>
          <a:lstStyle>
            <a:lvl1pPr>
              <a:defRPr>
                <a:solidFill>
                  <a:schemeClr val="bg1">
                    <a:alpha val="60000"/>
                  </a:schemeClr>
                </a:solidFill>
              </a:defRPr>
            </a:lvl1pPr>
          </a:lstStyle>
          <a:p>
            <a:r>
              <a:rPr lang="en-US"/>
              <a:t>© Scaled Agile, Inc.</a:t>
            </a:r>
          </a:p>
        </p:txBody>
      </p:sp>
      <p:sp>
        <p:nvSpPr>
          <p:cNvPr id="12" name="Slide Number Placeholder 4">
            <a:extLst>
              <a:ext uri="{FF2B5EF4-FFF2-40B4-BE49-F238E27FC236}">
                <a16:creationId xmlns:a16="http://schemas.microsoft.com/office/drawing/2014/main" id="{A7C7B79D-7662-DC44-8464-0D0939A1EB9F}"/>
              </a:ext>
            </a:extLst>
          </p:cNvPr>
          <p:cNvSpPr>
            <a:spLocks noGrp="1"/>
          </p:cNvSpPr>
          <p:nvPr>
            <p:ph type="sldNum" sz="quarter" idx="11"/>
          </p:nvPr>
        </p:nvSpPr>
        <p:spPr>
          <a:xfrm>
            <a:off x="8369007" y="4768925"/>
            <a:ext cx="432093" cy="264757"/>
          </a:xfrm>
        </p:spPr>
        <p:txBody>
          <a:bodyPr/>
          <a:lstStyle>
            <a:lvl1pPr>
              <a:defRPr>
                <a:solidFill>
                  <a:schemeClr val="bg1">
                    <a:alpha val="60000"/>
                  </a:schemeClr>
                </a:solidFill>
              </a:defRPr>
            </a:lvl1pPr>
          </a:lstStyle>
          <a:p>
            <a:r>
              <a:rPr lang="en-US"/>
              <a:t>- </a:t>
            </a:r>
            <a:fld id="{C21C29FA-D81F-9D40-A402-D660C1847F79}" type="slidenum">
              <a:rPr lang="en-US" smtClean="0"/>
              <a:pPr/>
              <a:t>‹#›</a:t>
            </a:fld>
            <a:r>
              <a:rPr lang="en-US"/>
              <a:t> -</a:t>
            </a:r>
          </a:p>
        </p:txBody>
      </p:sp>
      <p:sp>
        <p:nvSpPr>
          <p:cNvPr id="23" name="Content Placeholder 21">
            <a:extLst>
              <a:ext uri="{FF2B5EF4-FFF2-40B4-BE49-F238E27FC236}">
                <a16:creationId xmlns:a16="http://schemas.microsoft.com/office/drawing/2014/main" id="{7C40D976-A27D-9C4E-9AB5-7733A4942433}"/>
              </a:ext>
            </a:extLst>
          </p:cNvPr>
          <p:cNvSpPr>
            <a:spLocks noGrp="1"/>
          </p:cNvSpPr>
          <p:nvPr>
            <p:ph sz="quarter" idx="15"/>
          </p:nvPr>
        </p:nvSpPr>
        <p:spPr>
          <a:xfrm>
            <a:off x="3604502" y="3001008"/>
            <a:ext cx="4709160" cy="467051"/>
          </a:xfrm>
        </p:spPr>
        <p:txBody>
          <a:bodyPr anchor="t" anchorCtr="0">
            <a:noAutofit/>
          </a:bodyPr>
          <a:lstStyle>
            <a:lvl1pPr marL="0" indent="0">
              <a:buNone/>
              <a:defRPr sz="2400" b="1">
                <a:solidFill>
                  <a:schemeClr val="tx1"/>
                </a:solidFill>
              </a:defRPr>
            </a:lvl1pPr>
            <a:lvl2pPr marL="228600" indent="0">
              <a:buNone/>
              <a:defRPr b="1"/>
            </a:lvl2pPr>
            <a:lvl3pPr marL="687387" indent="0">
              <a:buNone/>
              <a:defRPr b="1"/>
            </a:lvl3pPr>
            <a:lvl4pPr marL="1031875" indent="0">
              <a:buNone/>
              <a:defRPr b="1"/>
            </a:lvl4pPr>
            <a:lvl5pPr marL="1374775" indent="0">
              <a:buNone/>
              <a:defRPr b="1"/>
            </a:lvl5pPr>
          </a:lstStyle>
          <a:p>
            <a:pPr lvl="0"/>
            <a:r>
              <a:rPr lang="en-US"/>
              <a:t>Click to edit Master text styles</a:t>
            </a:r>
          </a:p>
        </p:txBody>
      </p:sp>
      <p:sp>
        <p:nvSpPr>
          <p:cNvPr id="25" name="Content Placeholder 21">
            <a:extLst>
              <a:ext uri="{FF2B5EF4-FFF2-40B4-BE49-F238E27FC236}">
                <a16:creationId xmlns:a16="http://schemas.microsoft.com/office/drawing/2014/main" id="{97BCC6BA-6CD6-BF44-A094-EB5A9D415D06}"/>
              </a:ext>
            </a:extLst>
          </p:cNvPr>
          <p:cNvSpPr>
            <a:spLocks noGrp="1"/>
          </p:cNvSpPr>
          <p:nvPr>
            <p:ph sz="quarter" idx="17"/>
          </p:nvPr>
        </p:nvSpPr>
        <p:spPr>
          <a:xfrm>
            <a:off x="3604501" y="3468059"/>
            <a:ext cx="4709160" cy="373372"/>
          </a:xfrm>
        </p:spPr>
        <p:txBody>
          <a:bodyPr anchor="t">
            <a:noAutofit/>
          </a:bodyPr>
          <a:lstStyle>
            <a:lvl1pPr marL="0" indent="0">
              <a:buNone/>
              <a:defRPr sz="1800" b="0">
                <a:solidFill>
                  <a:schemeClr val="tx1"/>
                </a:solidFill>
              </a:defRPr>
            </a:lvl1pPr>
            <a:lvl2pPr marL="228600" indent="0">
              <a:buNone/>
              <a:defRPr b="1"/>
            </a:lvl2pPr>
            <a:lvl3pPr marL="687387" indent="0">
              <a:buNone/>
              <a:defRPr b="1"/>
            </a:lvl3pPr>
            <a:lvl4pPr marL="1031875" indent="0">
              <a:buNone/>
              <a:defRPr b="1"/>
            </a:lvl4pPr>
            <a:lvl5pPr marL="1374775" indent="0">
              <a:buNone/>
              <a:defRPr b="1"/>
            </a:lvl5pPr>
          </a:lstStyle>
          <a:p>
            <a:pPr lvl="0"/>
            <a:r>
              <a:rPr lang="en-US"/>
              <a:t>Click to edit Master text styles</a:t>
            </a:r>
          </a:p>
        </p:txBody>
      </p:sp>
      <p:sp>
        <p:nvSpPr>
          <p:cNvPr id="26" name="Picture Placeholder 8">
            <a:extLst>
              <a:ext uri="{FF2B5EF4-FFF2-40B4-BE49-F238E27FC236}">
                <a16:creationId xmlns:a16="http://schemas.microsoft.com/office/drawing/2014/main" id="{5A815C07-BE17-1C4B-B338-5E9C4015EDFF}"/>
              </a:ext>
            </a:extLst>
          </p:cNvPr>
          <p:cNvSpPr>
            <a:spLocks noGrp="1"/>
          </p:cNvSpPr>
          <p:nvPr>
            <p:ph type="pic" sz="quarter" idx="12"/>
          </p:nvPr>
        </p:nvSpPr>
        <p:spPr>
          <a:xfrm>
            <a:off x="1094610" y="974175"/>
            <a:ext cx="2204520" cy="3241604"/>
          </a:xfrm>
          <a:prstGeom prst="rect">
            <a:avLst/>
          </a:prstGeom>
          <a:solidFill>
            <a:schemeClr val="bg1">
              <a:lumMod val="85000"/>
            </a:schemeClr>
          </a:solidFill>
          <a:ln w="9525">
            <a:noFill/>
          </a:ln>
        </p:spPr>
        <p:txBody>
          <a:bodyPr anchor="t" anchorCtr="0">
            <a:noAutofit/>
          </a:bodyPr>
          <a:lstStyle>
            <a:lvl1pPr marL="0" indent="0">
              <a:buNone/>
              <a:defRPr sz="1400">
                <a:solidFill>
                  <a:schemeClr val="tx2">
                    <a:lumMod val="60000"/>
                    <a:lumOff val="40000"/>
                  </a:schemeClr>
                </a:solidFill>
              </a:defRPr>
            </a:lvl1pPr>
          </a:lstStyle>
          <a:p>
            <a:r>
              <a:rPr lang="en-US"/>
              <a:t>Click icon to add picture</a:t>
            </a:r>
          </a:p>
        </p:txBody>
      </p:sp>
    </p:spTree>
    <p:extLst>
      <p:ext uri="{BB962C8B-B14F-4D97-AF65-F5344CB8AC3E}">
        <p14:creationId xmlns:p14="http://schemas.microsoft.com/office/powerpoint/2010/main" val="3226904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esenter Slide for 1 - Dk Te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Slide Number Placeholder 4">
            <a:extLst>
              <a:ext uri="{FF2B5EF4-FFF2-40B4-BE49-F238E27FC236}">
                <a16:creationId xmlns:a16="http://schemas.microsoft.com/office/drawing/2014/main" id="{A7C7B79D-7662-DC44-8464-0D0939A1EB9F}"/>
              </a:ext>
            </a:extLst>
          </p:cNvPr>
          <p:cNvSpPr>
            <a:spLocks noGrp="1"/>
          </p:cNvSpPr>
          <p:nvPr>
            <p:ph type="sldNum" sz="quarter" idx="11"/>
          </p:nvPr>
        </p:nvSpPr>
        <p:spPr>
          <a:xfrm>
            <a:off x="8369007" y="4768925"/>
            <a:ext cx="432093" cy="264757"/>
          </a:xfrm>
        </p:spPr>
        <p:txBody>
          <a:bodyPr/>
          <a:lstStyle>
            <a:lvl1pPr>
              <a:defRPr>
                <a:solidFill>
                  <a:schemeClr val="bg1">
                    <a:alpha val="60000"/>
                  </a:schemeClr>
                </a:solidFill>
              </a:defRPr>
            </a:lvl1pPr>
          </a:lstStyle>
          <a:p>
            <a:r>
              <a:rPr lang="en-US"/>
              <a:t>- </a:t>
            </a:r>
            <a:fld id="{C21C29FA-D81F-9D40-A402-D660C1847F79}" type="slidenum">
              <a:rPr lang="en-US" smtClean="0"/>
              <a:pPr/>
              <a:t>‹#›</a:t>
            </a:fld>
            <a:r>
              <a:rPr lang="en-US"/>
              <a:t> -</a:t>
            </a:r>
          </a:p>
        </p:txBody>
      </p:sp>
      <p:sp>
        <p:nvSpPr>
          <p:cNvPr id="23" name="Content Placeholder 21">
            <a:extLst>
              <a:ext uri="{FF2B5EF4-FFF2-40B4-BE49-F238E27FC236}">
                <a16:creationId xmlns:a16="http://schemas.microsoft.com/office/drawing/2014/main" id="{7C40D976-A27D-9C4E-9AB5-7733A4942433}"/>
              </a:ext>
            </a:extLst>
          </p:cNvPr>
          <p:cNvSpPr>
            <a:spLocks noGrp="1"/>
          </p:cNvSpPr>
          <p:nvPr>
            <p:ph sz="quarter" idx="15"/>
          </p:nvPr>
        </p:nvSpPr>
        <p:spPr>
          <a:xfrm>
            <a:off x="3708413" y="2537343"/>
            <a:ext cx="4709160" cy="467051"/>
          </a:xfrm>
        </p:spPr>
        <p:txBody>
          <a:bodyPr anchor="t" anchorCtr="0">
            <a:noAutofit/>
          </a:bodyPr>
          <a:lstStyle>
            <a:lvl1pPr marL="0" indent="0">
              <a:buNone/>
              <a:defRPr sz="2400" b="1">
                <a:solidFill>
                  <a:schemeClr val="bg1"/>
                </a:solidFill>
              </a:defRPr>
            </a:lvl1pPr>
            <a:lvl2pPr marL="228600" indent="0">
              <a:buNone/>
              <a:defRPr b="1"/>
            </a:lvl2pPr>
            <a:lvl3pPr marL="687387" indent="0">
              <a:buNone/>
              <a:defRPr b="1"/>
            </a:lvl3pPr>
            <a:lvl4pPr marL="1031875" indent="0">
              <a:buNone/>
              <a:defRPr b="1"/>
            </a:lvl4pPr>
            <a:lvl5pPr marL="1374775" indent="0">
              <a:buNone/>
              <a:defRPr b="1"/>
            </a:lvl5pPr>
          </a:lstStyle>
          <a:p>
            <a:pPr lvl="0"/>
            <a:r>
              <a:rPr lang="en-US"/>
              <a:t>Click to edit Master text styles</a:t>
            </a:r>
          </a:p>
        </p:txBody>
      </p:sp>
      <p:sp>
        <p:nvSpPr>
          <p:cNvPr id="25" name="Content Placeholder 21">
            <a:extLst>
              <a:ext uri="{FF2B5EF4-FFF2-40B4-BE49-F238E27FC236}">
                <a16:creationId xmlns:a16="http://schemas.microsoft.com/office/drawing/2014/main" id="{97BCC6BA-6CD6-BF44-A094-EB5A9D415D06}"/>
              </a:ext>
            </a:extLst>
          </p:cNvPr>
          <p:cNvSpPr>
            <a:spLocks noGrp="1"/>
          </p:cNvSpPr>
          <p:nvPr>
            <p:ph sz="quarter" idx="17"/>
          </p:nvPr>
        </p:nvSpPr>
        <p:spPr>
          <a:xfrm>
            <a:off x="3708412" y="3004394"/>
            <a:ext cx="4709160" cy="373372"/>
          </a:xfrm>
        </p:spPr>
        <p:txBody>
          <a:bodyPr anchor="t">
            <a:noAutofit/>
          </a:bodyPr>
          <a:lstStyle>
            <a:lvl1pPr marL="0" indent="0">
              <a:buNone/>
              <a:defRPr sz="1800" b="0">
                <a:solidFill>
                  <a:schemeClr val="bg1"/>
                </a:solidFill>
              </a:defRPr>
            </a:lvl1pPr>
            <a:lvl2pPr marL="228600" indent="0">
              <a:buNone/>
              <a:defRPr b="1"/>
            </a:lvl2pPr>
            <a:lvl3pPr marL="687387" indent="0">
              <a:buNone/>
              <a:defRPr b="1"/>
            </a:lvl3pPr>
            <a:lvl4pPr marL="1031875" indent="0">
              <a:buNone/>
              <a:defRPr b="1"/>
            </a:lvl4pPr>
            <a:lvl5pPr marL="1374775" indent="0">
              <a:buNone/>
              <a:defRPr b="1"/>
            </a:lvl5pPr>
          </a:lstStyle>
          <a:p>
            <a:pPr lvl="0"/>
            <a:r>
              <a:rPr lang="en-US"/>
              <a:t>Click to edit Master text styles</a:t>
            </a:r>
          </a:p>
        </p:txBody>
      </p:sp>
      <p:sp>
        <p:nvSpPr>
          <p:cNvPr id="26" name="Picture Placeholder 8">
            <a:extLst>
              <a:ext uri="{FF2B5EF4-FFF2-40B4-BE49-F238E27FC236}">
                <a16:creationId xmlns:a16="http://schemas.microsoft.com/office/drawing/2014/main" id="{5A815C07-BE17-1C4B-B338-5E9C4015EDFF}"/>
              </a:ext>
            </a:extLst>
          </p:cNvPr>
          <p:cNvSpPr>
            <a:spLocks noGrp="1"/>
          </p:cNvSpPr>
          <p:nvPr>
            <p:ph type="pic" sz="quarter" idx="12"/>
          </p:nvPr>
        </p:nvSpPr>
        <p:spPr>
          <a:xfrm>
            <a:off x="1217839" y="762830"/>
            <a:ext cx="2204520" cy="3241604"/>
          </a:xfrm>
          <a:prstGeom prst="rect">
            <a:avLst/>
          </a:prstGeom>
          <a:solidFill>
            <a:schemeClr val="bg1">
              <a:lumMod val="85000"/>
            </a:schemeClr>
          </a:solidFill>
          <a:ln w="9525">
            <a:noFill/>
          </a:ln>
        </p:spPr>
        <p:txBody>
          <a:bodyPr anchor="t" anchorCtr="0">
            <a:noAutofit/>
          </a:bodyPr>
          <a:lstStyle>
            <a:lvl1pPr marL="0" indent="0">
              <a:buNone/>
              <a:defRPr sz="1400">
                <a:solidFill>
                  <a:schemeClr val="tx2">
                    <a:lumMod val="60000"/>
                    <a:lumOff val="40000"/>
                  </a:schemeClr>
                </a:solidFill>
              </a:defRPr>
            </a:lvl1pPr>
          </a:lstStyle>
          <a:p>
            <a:r>
              <a:rPr lang="en-US"/>
              <a:t>Click icon to add picture</a:t>
            </a:r>
          </a:p>
        </p:txBody>
      </p:sp>
      <p:sp>
        <p:nvSpPr>
          <p:cNvPr id="2" name="Footer Placeholder 1">
            <a:extLst>
              <a:ext uri="{FF2B5EF4-FFF2-40B4-BE49-F238E27FC236}">
                <a16:creationId xmlns:a16="http://schemas.microsoft.com/office/drawing/2014/main" id="{E6339DAF-E88D-B69A-C813-481514B870CD}"/>
              </a:ext>
            </a:extLst>
          </p:cNvPr>
          <p:cNvSpPr>
            <a:spLocks noGrp="1"/>
          </p:cNvSpPr>
          <p:nvPr>
            <p:ph type="ftr" sz="quarter" idx="10"/>
          </p:nvPr>
        </p:nvSpPr>
        <p:spPr>
          <a:xfrm>
            <a:off x="342900" y="4767263"/>
            <a:ext cx="5772150" cy="274637"/>
          </a:xfrm>
        </p:spPr>
        <p:txBody>
          <a:bodyPr/>
          <a:lstStyle/>
          <a:p>
            <a:r>
              <a:rPr lang="en-US"/>
              <a:t>© Scaled Agile, Inc.</a:t>
            </a:r>
          </a:p>
        </p:txBody>
      </p:sp>
    </p:spTree>
    <p:extLst>
      <p:ext uri="{BB962C8B-B14F-4D97-AF65-F5344CB8AC3E}">
        <p14:creationId xmlns:p14="http://schemas.microsoft.com/office/powerpoint/2010/main" val="101232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Presenter Slide for 2 - Dk Te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Footer Placeholder 3">
            <a:extLst>
              <a:ext uri="{FF2B5EF4-FFF2-40B4-BE49-F238E27FC236}">
                <a16:creationId xmlns:a16="http://schemas.microsoft.com/office/drawing/2014/main" id="{F91D8103-6146-AE47-89A5-12FFEC44AF6C}"/>
              </a:ext>
            </a:extLst>
          </p:cNvPr>
          <p:cNvSpPr>
            <a:spLocks noGrp="1"/>
          </p:cNvSpPr>
          <p:nvPr>
            <p:ph type="ftr" sz="quarter" idx="10"/>
          </p:nvPr>
        </p:nvSpPr>
        <p:spPr>
          <a:xfrm>
            <a:off x="342900" y="4767263"/>
            <a:ext cx="5772150" cy="274637"/>
          </a:xfrm>
        </p:spPr>
        <p:txBody>
          <a:bodyPr/>
          <a:lstStyle>
            <a:lvl1pPr>
              <a:defRPr>
                <a:solidFill>
                  <a:schemeClr val="bg1">
                    <a:alpha val="49966"/>
                  </a:schemeClr>
                </a:solidFill>
              </a:defRPr>
            </a:lvl1pPr>
          </a:lstStyle>
          <a:p>
            <a:r>
              <a:rPr lang="en-US"/>
              <a:t>© Scaled Agile, Inc.</a:t>
            </a:r>
          </a:p>
        </p:txBody>
      </p:sp>
      <p:sp>
        <p:nvSpPr>
          <p:cNvPr id="12" name="Slide Number Placeholder 4">
            <a:extLst>
              <a:ext uri="{FF2B5EF4-FFF2-40B4-BE49-F238E27FC236}">
                <a16:creationId xmlns:a16="http://schemas.microsoft.com/office/drawing/2014/main" id="{A7C7B79D-7662-DC44-8464-0D0939A1EB9F}"/>
              </a:ext>
            </a:extLst>
          </p:cNvPr>
          <p:cNvSpPr>
            <a:spLocks noGrp="1"/>
          </p:cNvSpPr>
          <p:nvPr>
            <p:ph type="sldNum" sz="quarter" idx="11"/>
          </p:nvPr>
        </p:nvSpPr>
        <p:spPr>
          <a:xfrm>
            <a:off x="8369007" y="4768925"/>
            <a:ext cx="432093" cy="264757"/>
          </a:xfrm>
        </p:spPr>
        <p:txBody>
          <a:bodyPr/>
          <a:lstStyle>
            <a:lvl1pPr>
              <a:defRPr>
                <a:solidFill>
                  <a:schemeClr val="bg1">
                    <a:alpha val="49966"/>
                  </a:schemeClr>
                </a:solidFill>
              </a:defRPr>
            </a:lvl1pPr>
          </a:lstStyle>
          <a:p>
            <a:r>
              <a:rPr lang="en-US"/>
              <a:t>- </a:t>
            </a:r>
            <a:fld id="{C21C29FA-D81F-9D40-A402-D660C1847F79}" type="slidenum">
              <a:rPr lang="en-US" smtClean="0"/>
              <a:pPr/>
              <a:t>‹#›</a:t>
            </a:fld>
            <a:r>
              <a:rPr lang="en-US"/>
              <a:t> -</a:t>
            </a:r>
          </a:p>
        </p:txBody>
      </p:sp>
      <p:sp>
        <p:nvSpPr>
          <p:cNvPr id="23" name="Content Placeholder 21">
            <a:extLst>
              <a:ext uri="{FF2B5EF4-FFF2-40B4-BE49-F238E27FC236}">
                <a16:creationId xmlns:a16="http://schemas.microsoft.com/office/drawing/2014/main" id="{7C40D976-A27D-9C4E-9AB5-7733A4942433}"/>
              </a:ext>
            </a:extLst>
          </p:cNvPr>
          <p:cNvSpPr>
            <a:spLocks noGrp="1"/>
          </p:cNvSpPr>
          <p:nvPr>
            <p:ph sz="quarter" idx="15"/>
          </p:nvPr>
        </p:nvSpPr>
        <p:spPr>
          <a:xfrm>
            <a:off x="1194700" y="3133032"/>
            <a:ext cx="3262384" cy="487706"/>
          </a:xfrm>
        </p:spPr>
        <p:txBody>
          <a:bodyPr anchor="t" anchorCtr="0">
            <a:noAutofit/>
          </a:bodyPr>
          <a:lstStyle>
            <a:lvl1pPr marL="0" indent="0">
              <a:buNone/>
              <a:defRPr sz="2000" b="1">
                <a:solidFill>
                  <a:schemeClr val="bg1"/>
                </a:solidFill>
              </a:defRPr>
            </a:lvl1pPr>
            <a:lvl2pPr marL="228600" indent="0">
              <a:buNone/>
              <a:defRPr b="1"/>
            </a:lvl2pPr>
            <a:lvl3pPr marL="687387" indent="0">
              <a:buNone/>
              <a:defRPr b="1"/>
            </a:lvl3pPr>
            <a:lvl4pPr marL="1031875" indent="0">
              <a:buNone/>
              <a:defRPr b="1"/>
            </a:lvl4pPr>
            <a:lvl5pPr marL="1374775" indent="0">
              <a:buNone/>
              <a:defRPr b="1"/>
            </a:lvl5pPr>
          </a:lstStyle>
          <a:p>
            <a:pPr lvl="0"/>
            <a:r>
              <a:rPr lang="en-US"/>
              <a:t>Click to edit Master text styles</a:t>
            </a:r>
          </a:p>
        </p:txBody>
      </p:sp>
      <p:sp>
        <p:nvSpPr>
          <p:cNvPr id="25" name="Content Placeholder 21">
            <a:extLst>
              <a:ext uri="{FF2B5EF4-FFF2-40B4-BE49-F238E27FC236}">
                <a16:creationId xmlns:a16="http://schemas.microsoft.com/office/drawing/2014/main" id="{97BCC6BA-6CD6-BF44-A094-EB5A9D415D06}"/>
              </a:ext>
            </a:extLst>
          </p:cNvPr>
          <p:cNvSpPr>
            <a:spLocks noGrp="1"/>
          </p:cNvSpPr>
          <p:nvPr>
            <p:ph sz="quarter" idx="17"/>
          </p:nvPr>
        </p:nvSpPr>
        <p:spPr>
          <a:xfrm>
            <a:off x="1194699" y="3620738"/>
            <a:ext cx="3262384" cy="342145"/>
          </a:xfrm>
        </p:spPr>
        <p:txBody>
          <a:bodyPr anchor="t">
            <a:noAutofit/>
          </a:bodyPr>
          <a:lstStyle>
            <a:lvl1pPr marL="0" indent="0">
              <a:buNone/>
              <a:defRPr sz="1600" b="0">
                <a:solidFill>
                  <a:schemeClr val="bg1"/>
                </a:solidFill>
              </a:defRPr>
            </a:lvl1pPr>
            <a:lvl2pPr marL="228600" indent="0">
              <a:buNone/>
              <a:defRPr b="1"/>
            </a:lvl2pPr>
            <a:lvl3pPr marL="687387" indent="0">
              <a:buNone/>
              <a:defRPr b="1"/>
            </a:lvl3pPr>
            <a:lvl4pPr marL="1031875" indent="0">
              <a:buNone/>
              <a:defRPr b="1"/>
            </a:lvl4pPr>
            <a:lvl5pPr marL="1374775" indent="0">
              <a:buNone/>
              <a:defRPr b="1"/>
            </a:lvl5pPr>
          </a:lstStyle>
          <a:p>
            <a:pPr lvl="0"/>
            <a:r>
              <a:rPr lang="en-US"/>
              <a:t>Click to edit Master text styles</a:t>
            </a:r>
          </a:p>
        </p:txBody>
      </p:sp>
      <p:sp>
        <p:nvSpPr>
          <p:cNvPr id="26" name="Picture Placeholder 8">
            <a:extLst>
              <a:ext uri="{FF2B5EF4-FFF2-40B4-BE49-F238E27FC236}">
                <a16:creationId xmlns:a16="http://schemas.microsoft.com/office/drawing/2014/main" id="{5A815C07-BE17-1C4B-B338-5E9C4015EDFF}"/>
              </a:ext>
            </a:extLst>
          </p:cNvPr>
          <p:cNvSpPr>
            <a:spLocks noGrp="1"/>
          </p:cNvSpPr>
          <p:nvPr>
            <p:ph type="pic" sz="quarter" idx="12"/>
          </p:nvPr>
        </p:nvSpPr>
        <p:spPr>
          <a:xfrm>
            <a:off x="1291285" y="667369"/>
            <a:ext cx="2286000" cy="2286000"/>
          </a:xfrm>
          <a:prstGeom prst="rect">
            <a:avLst/>
          </a:prstGeom>
          <a:solidFill>
            <a:schemeClr val="bg1">
              <a:lumMod val="85000"/>
            </a:schemeClr>
          </a:solidFill>
          <a:ln w="12700">
            <a:noFill/>
          </a:ln>
        </p:spPr>
        <p:txBody>
          <a:bodyPr anchor="t" anchorCtr="0">
            <a:noAutofit/>
          </a:bodyPr>
          <a:lstStyle>
            <a:lvl1pPr marL="0" indent="0">
              <a:buNone/>
              <a:defRPr sz="1400">
                <a:solidFill>
                  <a:schemeClr val="tx2">
                    <a:lumMod val="60000"/>
                    <a:lumOff val="40000"/>
                  </a:schemeClr>
                </a:solidFill>
              </a:defRPr>
            </a:lvl1pPr>
          </a:lstStyle>
          <a:p>
            <a:r>
              <a:rPr lang="en-US"/>
              <a:t>Click icon to add picture</a:t>
            </a:r>
          </a:p>
        </p:txBody>
      </p:sp>
      <p:sp>
        <p:nvSpPr>
          <p:cNvPr id="9" name="Content Placeholder 21">
            <a:extLst>
              <a:ext uri="{FF2B5EF4-FFF2-40B4-BE49-F238E27FC236}">
                <a16:creationId xmlns:a16="http://schemas.microsoft.com/office/drawing/2014/main" id="{669151F3-C91B-5B42-8CE7-B322FC8F4906}"/>
              </a:ext>
            </a:extLst>
          </p:cNvPr>
          <p:cNvSpPr>
            <a:spLocks noGrp="1"/>
          </p:cNvSpPr>
          <p:nvPr>
            <p:ph sz="quarter" idx="18"/>
          </p:nvPr>
        </p:nvSpPr>
        <p:spPr>
          <a:xfrm>
            <a:off x="5423799" y="3133032"/>
            <a:ext cx="3262384" cy="487706"/>
          </a:xfrm>
        </p:spPr>
        <p:txBody>
          <a:bodyPr anchor="t" anchorCtr="0">
            <a:noAutofit/>
          </a:bodyPr>
          <a:lstStyle>
            <a:lvl1pPr marL="0" indent="0">
              <a:buNone/>
              <a:defRPr sz="2000" b="1">
                <a:solidFill>
                  <a:schemeClr val="bg1"/>
                </a:solidFill>
              </a:defRPr>
            </a:lvl1pPr>
            <a:lvl2pPr marL="228600" indent="0">
              <a:buNone/>
              <a:defRPr b="1"/>
            </a:lvl2pPr>
            <a:lvl3pPr marL="687387" indent="0">
              <a:buNone/>
              <a:defRPr b="1"/>
            </a:lvl3pPr>
            <a:lvl4pPr marL="1031875" indent="0">
              <a:buNone/>
              <a:defRPr b="1"/>
            </a:lvl4pPr>
            <a:lvl5pPr marL="1374775" indent="0">
              <a:buNone/>
              <a:defRPr b="1"/>
            </a:lvl5pPr>
          </a:lstStyle>
          <a:p>
            <a:pPr lvl="0"/>
            <a:r>
              <a:rPr lang="en-US"/>
              <a:t>Click to edit Master text styles</a:t>
            </a:r>
          </a:p>
        </p:txBody>
      </p:sp>
      <p:sp>
        <p:nvSpPr>
          <p:cNvPr id="10" name="Content Placeholder 21">
            <a:extLst>
              <a:ext uri="{FF2B5EF4-FFF2-40B4-BE49-F238E27FC236}">
                <a16:creationId xmlns:a16="http://schemas.microsoft.com/office/drawing/2014/main" id="{789756BC-59F6-2346-8C33-6B5D8DFDD3BF}"/>
              </a:ext>
            </a:extLst>
          </p:cNvPr>
          <p:cNvSpPr>
            <a:spLocks noGrp="1"/>
          </p:cNvSpPr>
          <p:nvPr>
            <p:ph sz="quarter" idx="19"/>
          </p:nvPr>
        </p:nvSpPr>
        <p:spPr>
          <a:xfrm>
            <a:off x="5423798" y="3620738"/>
            <a:ext cx="3262384" cy="342145"/>
          </a:xfrm>
        </p:spPr>
        <p:txBody>
          <a:bodyPr anchor="t">
            <a:noAutofit/>
          </a:bodyPr>
          <a:lstStyle>
            <a:lvl1pPr marL="0" indent="0">
              <a:buNone/>
              <a:defRPr sz="1600" b="0">
                <a:solidFill>
                  <a:schemeClr val="bg1"/>
                </a:solidFill>
              </a:defRPr>
            </a:lvl1pPr>
            <a:lvl2pPr marL="228600" indent="0">
              <a:buNone/>
              <a:defRPr b="1"/>
            </a:lvl2pPr>
            <a:lvl3pPr marL="687387" indent="0">
              <a:buNone/>
              <a:defRPr b="1"/>
            </a:lvl3pPr>
            <a:lvl4pPr marL="1031875" indent="0">
              <a:buNone/>
              <a:defRPr b="1"/>
            </a:lvl4pPr>
            <a:lvl5pPr marL="1374775" indent="0">
              <a:buNone/>
              <a:defRPr b="1"/>
            </a:lvl5pPr>
          </a:lstStyle>
          <a:p>
            <a:pPr lvl="0"/>
            <a:r>
              <a:rPr lang="en-US"/>
              <a:t>Click to edit Master text styles</a:t>
            </a:r>
          </a:p>
        </p:txBody>
      </p:sp>
      <p:sp>
        <p:nvSpPr>
          <p:cNvPr id="14" name="Picture Placeholder 8">
            <a:extLst>
              <a:ext uri="{FF2B5EF4-FFF2-40B4-BE49-F238E27FC236}">
                <a16:creationId xmlns:a16="http://schemas.microsoft.com/office/drawing/2014/main" id="{CDE7B67F-4556-2E43-8671-A2B2713B7F98}"/>
              </a:ext>
            </a:extLst>
          </p:cNvPr>
          <p:cNvSpPr>
            <a:spLocks noGrp="1"/>
          </p:cNvSpPr>
          <p:nvPr>
            <p:ph type="pic" sz="quarter" idx="20"/>
          </p:nvPr>
        </p:nvSpPr>
        <p:spPr>
          <a:xfrm>
            <a:off x="5514034" y="667369"/>
            <a:ext cx="2286000" cy="2286000"/>
          </a:xfrm>
          <a:prstGeom prst="rect">
            <a:avLst/>
          </a:prstGeom>
          <a:solidFill>
            <a:schemeClr val="bg1">
              <a:lumMod val="85000"/>
            </a:schemeClr>
          </a:solidFill>
          <a:ln w="12700">
            <a:noFill/>
          </a:ln>
        </p:spPr>
        <p:txBody>
          <a:bodyPr anchor="t" anchorCtr="0">
            <a:noAutofit/>
          </a:bodyPr>
          <a:lstStyle>
            <a:lvl1pPr marL="0" indent="0">
              <a:buNone/>
              <a:defRPr sz="1400">
                <a:solidFill>
                  <a:schemeClr val="tx2">
                    <a:lumMod val="60000"/>
                    <a:lumOff val="40000"/>
                  </a:schemeClr>
                </a:solidFill>
              </a:defRPr>
            </a:lvl1pPr>
          </a:lstStyle>
          <a:p>
            <a:r>
              <a:rPr lang="en-US"/>
              <a:t>Click icon to add picture</a:t>
            </a:r>
          </a:p>
        </p:txBody>
      </p:sp>
    </p:spTree>
    <p:extLst>
      <p:ext uri="{BB962C8B-B14F-4D97-AF65-F5344CB8AC3E}">
        <p14:creationId xmlns:p14="http://schemas.microsoft.com/office/powerpoint/2010/main" val="3860625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reaker Slide - Lt Blue">
    <p:bg>
      <p:bgPr>
        <a:solidFill>
          <a:schemeClr val="accent5"/>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B9AA2A-D69D-2B4D-8BD6-A83803E5976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10800000">
            <a:off x="6680075" y="0"/>
            <a:ext cx="2484924" cy="5143500"/>
          </a:xfrm>
          <a:prstGeom prst="rect">
            <a:avLst/>
          </a:prstGeom>
        </p:spPr>
      </p:pic>
      <p:sp>
        <p:nvSpPr>
          <p:cNvPr id="9" name="Title 1"/>
          <p:cNvSpPr>
            <a:spLocks noGrp="1"/>
          </p:cNvSpPr>
          <p:nvPr>
            <p:ph type="ctrTitle" hasCustomPrompt="1"/>
          </p:nvPr>
        </p:nvSpPr>
        <p:spPr>
          <a:xfrm>
            <a:off x="525464" y="880681"/>
            <a:ext cx="5950640" cy="2627066"/>
          </a:xfrm>
          <a:prstGeom prst="rect">
            <a:avLst/>
          </a:prstGeom>
        </p:spPr>
        <p:txBody>
          <a:bodyPr anchor="b">
            <a:noAutofit/>
          </a:bodyPr>
          <a:lstStyle>
            <a:lvl1pPr algn="l">
              <a:lnSpc>
                <a:spcPct val="100000"/>
              </a:lnSpc>
              <a:defRPr sz="2800" b="1" spc="0" baseline="0">
                <a:solidFill>
                  <a:schemeClr val="tx1"/>
                </a:solidFill>
                <a:latin typeface="+mj-lt"/>
                <a:ea typeface="Verdana" panose="020B0604030504040204" pitchFamily="34" charset="0"/>
                <a:cs typeface="Verdana" panose="020B0604030504040204" pitchFamily="34" charset="0"/>
              </a:defRPr>
            </a:lvl1pPr>
          </a:lstStyle>
          <a:p>
            <a:r>
              <a:rPr lang="en-US"/>
              <a:t>Click to Edit Master Title Style</a:t>
            </a:r>
          </a:p>
        </p:txBody>
      </p:sp>
      <p:sp>
        <p:nvSpPr>
          <p:cNvPr id="14" name="Subtitle 2"/>
          <p:cNvSpPr>
            <a:spLocks noGrp="1"/>
          </p:cNvSpPr>
          <p:nvPr>
            <p:ph type="subTitle" idx="1" hasCustomPrompt="1"/>
          </p:nvPr>
        </p:nvSpPr>
        <p:spPr>
          <a:xfrm>
            <a:off x="525464" y="3577019"/>
            <a:ext cx="5967831" cy="685800"/>
          </a:xfrm>
          <a:prstGeom prst="rect">
            <a:avLst/>
          </a:prstGeom>
        </p:spPr>
        <p:txBody>
          <a:bodyPr>
            <a:noAutofit/>
          </a:bodyPr>
          <a:lstStyle>
            <a:lvl1pPr marL="0" indent="0" algn="l">
              <a:buNone/>
              <a:defRPr sz="1800" b="0" cap="none" spc="0" baseline="0">
                <a:solidFill>
                  <a:schemeClr val="tx1"/>
                </a:solidFill>
                <a:latin typeface="+mn-lt"/>
                <a:ea typeface="Verdana" panose="020B0604030504040204" pitchFamily="34" charset="0"/>
                <a:cs typeface="Verdana" panose="020B060403050404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2" name="Footer Placeholder 1">
            <a:extLst>
              <a:ext uri="{FF2B5EF4-FFF2-40B4-BE49-F238E27FC236}">
                <a16:creationId xmlns:a16="http://schemas.microsoft.com/office/drawing/2014/main" id="{61315072-22D5-A343-819F-5FC7A275AFCB}"/>
              </a:ext>
            </a:extLst>
          </p:cNvPr>
          <p:cNvSpPr>
            <a:spLocks noGrp="1"/>
          </p:cNvSpPr>
          <p:nvPr>
            <p:ph type="ftr" sz="quarter" idx="10"/>
          </p:nvPr>
        </p:nvSpPr>
        <p:spPr/>
        <p:txBody>
          <a:bodyPr/>
          <a:lstStyle>
            <a:lvl1pPr>
              <a:defRPr>
                <a:solidFill>
                  <a:schemeClr val="bg1">
                    <a:alpha val="60000"/>
                  </a:schemeClr>
                </a:solidFill>
              </a:defRPr>
            </a:lvl1pPr>
          </a:lstStyle>
          <a:p>
            <a:r>
              <a:rPr lang="en-US"/>
              <a:t>© Scaled Agile, Inc.</a:t>
            </a:r>
          </a:p>
        </p:txBody>
      </p:sp>
      <p:sp>
        <p:nvSpPr>
          <p:cNvPr id="3" name="Slide Number Placeholder 2">
            <a:extLst>
              <a:ext uri="{FF2B5EF4-FFF2-40B4-BE49-F238E27FC236}">
                <a16:creationId xmlns:a16="http://schemas.microsoft.com/office/drawing/2014/main" id="{F4BB42FA-04B0-5A4C-8E89-A5E079421142}"/>
              </a:ext>
            </a:extLst>
          </p:cNvPr>
          <p:cNvSpPr>
            <a:spLocks noGrp="1"/>
          </p:cNvSpPr>
          <p:nvPr>
            <p:ph type="sldNum" sz="quarter" idx="11"/>
          </p:nvPr>
        </p:nvSpPr>
        <p:spPr/>
        <p:txBody>
          <a:bodyPr/>
          <a:lstStyle>
            <a:lvl1pPr>
              <a:defRPr>
                <a:solidFill>
                  <a:schemeClr val="bg1">
                    <a:alpha val="60000"/>
                  </a:schemeClr>
                </a:solidFill>
              </a:defRPr>
            </a:lvl1pPr>
          </a:lstStyle>
          <a:p>
            <a:r>
              <a:rPr lang="en-US"/>
              <a:t>- </a:t>
            </a:r>
            <a:fld id="{C21C29FA-D81F-9D40-A402-D660C1847F79}" type="slidenum">
              <a:rPr lang="en-US" smtClean="0"/>
              <a:pPr/>
              <a:t>‹#›</a:t>
            </a:fld>
            <a:r>
              <a:rPr lang="en-US"/>
              <a:t> -</a:t>
            </a:r>
          </a:p>
        </p:txBody>
      </p:sp>
    </p:spTree>
    <p:extLst>
      <p:ext uri="{BB962C8B-B14F-4D97-AF65-F5344CB8AC3E}">
        <p14:creationId xmlns:p14="http://schemas.microsoft.com/office/powerpoint/2010/main" val="3831677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reaker Slide - Ivory">
    <p:bg>
      <p:bgPr>
        <a:solidFill>
          <a:schemeClr val="bg2"/>
        </a:solidFill>
        <a:effectLst/>
      </p:bgPr>
    </p:bg>
    <p:spTree>
      <p:nvGrpSpPr>
        <p:cNvPr id="1" name=""/>
        <p:cNvGrpSpPr/>
        <p:nvPr/>
      </p:nvGrpSpPr>
      <p:grpSpPr>
        <a:xfrm>
          <a:off x="0" y="0"/>
          <a:ext cx="0" cy="0"/>
          <a:chOff x="0" y="0"/>
          <a:chExt cx="0" cy="0"/>
        </a:xfrm>
      </p:grpSpPr>
      <p:sp>
        <p:nvSpPr>
          <p:cNvPr id="9" name="Title 1"/>
          <p:cNvSpPr>
            <a:spLocks noGrp="1"/>
          </p:cNvSpPr>
          <p:nvPr>
            <p:ph type="ctrTitle" hasCustomPrompt="1"/>
          </p:nvPr>
        </p:nvSpPr>
        <p:spPr>
          <a:xfrm>
            <a:off x="525463" y="880681"/>
            <a:ext cx="5259985" cy="2627066"/>
          </a:xfrm>
          <a:prstGeom prst="rect">
            <a:avLst/>
          </a:prstGeom>
        </p:spPr>
        <p:txBody>
          <a:bodyPr anchor="b">
            <a:noAutofit/>
          </a:bodyPr>
          <a:lstStyle>
            <a:lvl1pPr algn="l">
              <a:lnSpc>
                <a:spcPct val="100000"/>
              </a:lnSpc>
              <a:defRPr sz="2800" b="1" spc="0" baseline="0">
                <a:solidFill>
                  <a:schemeClr val="tx1"/>
                </a:solidFill>
                <a:latin typeface="+mj-lt"/>
                <a:ea typeface="Verdana" panose="020B0604030504040204" pitchFamily="34" charset="0"/>
                <a:cs typeface="Verdana" panose="020B0604030504040204" pitchFamily="34" charset="0"/>
              </a:defRPr>
            </a:lvl1pPr>
          </a:lstStyle>
          <a:p>
            <a:r>
              <a:rPr lang="en-US"/>
              <a:t>Click to Edit Master Title Style</a:t>
            </a:r>
          </a:p>
        </p:txBody>
      </p:sp>
      <p:sp>
        <p:nvSpPr>
          <p:cNvPr id="14" name="Subtitle 2"/>
          <p:cNvSpPr>
            <a:spLocks noGrp="1"/>
          </p:cNvSpPr>
          <p:nvPr>
            <p:ph type="subTitle" idx="1" hasCustomPrompt="1"/>
          </p:nvPr>
        </p:nvSpPr>
        <p:spPr>
          <a:xfrm>
            <a:off x="525465" y="3577019"/>
            <a:ext cx="5275181" cy="685800"/>
          </a:xfrm>
          <a:prstGeom prst="rect">
            <a:avLst/>
          </a:prstGeom>
        </p:spPr>
        <p:txBody>
          <a:bodyPr>
            <a:noAutofit/>
          </a:bodyPr>
          <a:lstStyle>
            <a:lvl1pPr marL="0" indent="0" algn="l">
              <a:buNone/>
              <a:defRPr sz="1800" b="0" cap="none" spc="0" baseline="0">
                <a:solidFill>
                  <a:schemeClr val="tx1"/>
                </a:solidFill>
                <a:latin typeface="+mn-lt"/>
                <a:ea typeface="Verdana" panose="020B0604030504040204" pitchFamily="34" charset="0"/>
                <a:cs typeface="Verdana" panose="020B060403050404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2" name="Footer Placeholder 1">
            <a:extLst>
              <a:ext uri="{FF2B5EF4-FFF2-40B4-BE49-F238E27FC236}">
                <a16:creationId xmlns:a16="http://schemas.microsoft.com/office/drawing/2014/main" id="{61315072-22D5-A343-819F-5FC7A275AFCB}"/>
              </a:ext>
            </a:extLst>
          </p:cNvPr>
          <p:cNvSpPr>
            <a:spLocks noGrp="1"/>
          </p:cNvSpPr>
          <p:nvPr>
            <p:ph type="ftr" sz="quarter" idx="10"/>
          </p:nvPr>
        </p:nvSpPr>
        <p:spPr/>
        <p:txBody>
          <a:bodyPr/>
          <a:lstStyle>
            <a:lvl1pPr>
              <a:defRPr>
                <a:solidFill>
                  <a:schemeClr val="tx2">
                    <a:lumMod val="60000"/>
                    <a:lumOff val="40000"/>
                  </a:schemeClr>
                </a:solidFill>
              </a:defRPr>
            </a:lvl1pPr>
          </a:lstStyle>
          <a:p>
            <a:r>
              <a:rPr lang="en-US"/>
              <a:t>© Scaled Agile, Inc.</a:t>
            </a:r>
          </a:p>
        </p:txBody>
      </p:sp>
      <p:sp>
        <p:nvSpPr>
          <p:cNvPr id="3" name="Slide Number Placeholder 2">
            <a:extLst>
              <a:ext uri="{FF2B5EF4-FFF2-40B4-BE49-F238E27FC236}">
                <a16:creationId xmlns:a16="http://schemas.microsoft.com/office/drawing/2014/main" id="{F4BB42FA-04B0-5A4C-8E89-A5E079421142}"/>
              </a:ext>
            </a:extLst>
          </p:cNvPr>
          <p:cNvSpPr>
            <a:spLocks noGrp="1"/>
          </p:cNvSpPr>
          <p:nvPr>
            <p:ph type="sldNum" sz="quarter" idx="11"/>
          </p:nvPr>
        </p:nvSpPr>
        <p:spPr/>
        <p:txBody>
          <a:bodyPr/>
          <a:lstStyle>
            <a:lvl1pPr>
              <a:defRPr>
                <a:solidFill>
                  <a:schemeClr val="tx2">
                    <a:lumMod val="60000"/>
                    <a:lumOff val="40000"/>
                  </a:schemeClr>
                </a:solidFill>
              </a:defRPr>
            </a:lvl1pPr>
          </a:lstStyle>
          <a:p>
            <a:r>
              <a:rPr lang="en-US"/>
              <a:t>- </a:t>
            </a:r>
            <a:fld id="{C21C29FA-D81F-9D40-A402-D660C1847F79}" type="slidenum">
              <a:rPr lang="en-US" smtClean="0"/>
              <a:pPr/>
              <a:t>‹#›</a:t>
            </a:fld>
            <a:r>
              <a:rPr lang="en-US"/>
              <a:t> -</a:t>
            </a:r>
          </a:p>
        </p:txBody>
      </p:sp>
      <p:pic>
        <p:nvPicPr>
          <p:cNvPr id="7" name="Picture 5">
            <a:extLst>
              <a:ext uri="{FF2B5EF4-FFF2-40B4-BE49-F238E27FC236}">
                <a16:creationId xmlns:a16="http://schemas.microsoft.com/office/drawing/2014/main" id="{FB8F1022-2708-2A41-A32C-001F587E5E0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2238" t="-7315" r="50000" b="7315"/>
          <a:stretch/>
        </p:blipFill>
        <p:spPr>
          <a:xfrm rot="10800000" flipH="1">
            <a:off x="6400799" y="0"/>
            <a:ext cx="2743201" cy="5143500"/>
          </a:xfrm>
          <a:prstGeom prst="rect">
            <a:avLst/>
          </a:prstGeom>
        </p:spPr>
      </p:pic>
    </p:spTree>
    <p:extLst>
      <p:ext uri="{BB962C8B-B14F-4D97-AF65-F5344CB8AC3E}">
        <p14:creationId xmlns:p14="http://schemas.microsoft.com/office/powerpoint/2010/main" val="769490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reaker Slide - Turq">
    <p:bg>
      <p:bgPr>
        <a:solidFill>
          <a:schemeClr val="accent2"/>
        </a:solidFill>
        <a:effectLst/>
      </p:bgPr>
    </p:bg>
    <p:spTree>
      <p:nvGrpSpPr>
        <p:cNvPr id="1" name=""/>
        <p:cNvGrpSpPr/>
        <p:nvPr/>
      </p:nvGrpSpPr>
      <p:grpSpPr>
        <a:xfrm>
          <a:off x="0" y="0"/>
          <a:ext cx="0" cy="0"/>
          <a:chOff x="0" y="0"/>
          <a:chExt cx="0" cy="0"/>
        </a:xfrm>
      </p:grpSpPr>
      <p:sp>
        <p:nvSpPr>
          <p:cNvPr id="9" name="Title 1"/>
          <p:cNvSpPr>
            <a:spLocks noGrp="1"/>
          </p:cNvSpPr>
          <p:nvPr>
            <p:ph type="ctrTitle" hasCustomPrompt="1"/>
          </p:nvPr>
        </p:nvSpPr>
        <p:spPr>
          <a:xfrm>
            <a:off x="525465" y="1793107"/>
            <a:ext cx="8275636" cy="1714640"/>
          </a:xfrm>
          <a:prstGeom prst="rect">
            <a:avLst/>
          </a:prstGeom>
        </p:spPr>
        <p:txBody>
          <a:bodyPr anchor="b">
            <a:noAutofit/>
          </a:bodyPr>
          <a:lstStyle>
            <a:lvl1pPr algn="l">
              <a:lnSpc>
                <a:spcPct val="100000"/>
              </a:lnSpc>
              <a:defRPr sz="2800" b="1" spc="0" baseline="0">
                <a:solidFill>
                  <a:schemeClr val="bg2"/>
                </a:solidFill>
                <a:latin typeface="+mj-lt"/>
                <a:ea typeface="Verdana" panose="020B0604030504040204" pitchFamily="34" charset="0"/>
                <a:cs typeface="Verdana" panose="020B0604030504040204" pitchFamily="34" charset="0"/>
              </a:defRPr>
            </a:lvl1pPr>
          </a:lstStyle>
          <a:p>
            <a:r>
              <a:rPr lang="en-US"/>
              <a:t>Click to Edit Master Title Style</a:t>
            </a:r>
          </a:p>
        </p:txBody>
      </p:sp>
      <p:sp>
        <p:nvSpPr>
          <p:cNvPr id="14" name="Subtitle 2"/>
          <p:cNvSpPr>
            <a:spLocks noGrp="1"/>
          </p:cNvSpPr>
          <p:nvPr>
            <p:ph type="subTitle" idx="1" hasCustomPrompt="1"/>
          </p:nvPr>
        </p:nvSpPr>
        <p:spPr>
          <a:xfrm>
            <a:off x="525464" y="3577019"/>
            <a:ext cx="8276371" cy="685800"/>
          </a:xfrm>
          <a:prstGeom prst="rect">
            <a:avLst/>
          </a:prstGeom>
        </p:spPr>
        <p:txBody>
          <a:bodyPr>
            <a:noAutofit/>
          </a:bodyPr>
          <a:lstStyle>
            <a:lvl1pPr marL="0" indent="0" algn="l">
              <a:buNone/>
              <a:defRPr sz="1800" b="0" cap="none" spc="0" baseline="0">
                <a:solidFill>
                  <a:schemeClr val="bg2"/>
                </a:solidFill>
                <a:latin typeface="+mn-lt"/>
                <a:ea typeface="Verdana" panose="020B0604030504040204" pitchFamily="34" charset="0"/>
                <a:cs typeface="Verdana" panose="020B060403050404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Footer Placeholder 3">
            <a:extLst>
              <a:ext uri="{FF2B5EF4-FFF2-40B4-BE49-F238E27FC236}">
                <a16:creationId xmlns:a16="http://schemas.microsoft.com/office/drawing/2014/main" id="{437EE694-8BD8-5A46-B9CF-D353508F9AFD}"/>
              </a:ext>
            </a:extLst>
          </p:cNvPr>
          <p:cNvSpPr>
            <a:spLocks noGrp="1"/>
          </p:cNvSpPr>
          <p:nvPr>
            <p:ph type="ftr" sz="quarter" idx="10"/>
          </p:nvPr>
        </p:nvSpPr>
        <p:spPr/>
        <p:txBody>
          <a:bodyPr/>
          <a:lstStyle>
            <a:lvl1pPr>
              <a:defRPr>
                <a:solidFill>
                  <a:schemeClr val="bg1">
                    <a:alpha val="50000"/>
                  </a:schemeClr>
                </a:solidFill>
              </a:defRPr>
            </a:lvl1pPr>
          </a:lstStyle>
          <a:p>
            <a:r>
              <a:rPr lang="en-US"/>
              <a:t>© Scaled Agile, Inc.</a:t>
            </a:r>
          </a:p>
        </p:txBody>
      </p:sp>
      <p:sp>
        <p:nvSpPr>
          <p:cNvPr id="6" name="Slide Number Placeholder 5">
            <a:extLst>
              <a:ext uri="{FF2B5EF4-FFF2-40B4-BE49-F238E27FC236}">
                <a16:creationId xmlns:a16="http://schemas.microsoft.com/office/drawing/2014/main" id="{C61E64B8-C4D2-D94F-A3D2-3659087690FE}"/>
              </a:ext>
            </a:extLst>
          </p:cNvPr>
          <p:cNvSpPr>
            <a:spLocks noGrp="1"/>
          </p:cNvSpPr>
          <p:nvPr>
            <p:ph type="sldNum" sz="quarter" idx="11"/>
          </p:nvPr>
        </p:nvSpPr>
        <p:spPr/>
        <p:txBody>
          <a:bodyPr/>
          <a:lstStyle>
            <a:lvl1pPr>
              <a:defRPr>
                <a:solidFill>
                  <a:schemeClr val="bg1">
                    <a:alpha val="50000"/>
                  </a:schemeClr>
                </a:solidFill>
              </a:defRPr>
            </a:lvl1pPr>
          </a:lstStyle>
          <a:p>
            <a:r>
              <a:rPr lang="en-US"/>
              <a:t>- </a:t>
            </a:r>
            <a:fld id="{C21C29FA-D81F-9D40-A402-D660C1847F79}" type="slidenum">
              <a:rPr lang="en-US" smtClean="0"/>
              <a:pPr/>
              <a:t>‹#›</a:t>
            </a:fld>
            <a:r>
              <a:rPr lang="en-US"/>
              <a:t> -</a:t>
            </a:r>
          </a:p>
        </p:txBody>
      </p:sp>
      <p:pic>
        <p:nvPicPr>
          <p:cNvPr id="3" name="Picture 2">
            <a:extLst>
              <a:ext uri="{FF2B5EF4-FFF2-40B4-BE49-F238E27FC236}">
                <a16:creationId xmlns:a16="http://schemas.microsoft.com/office/drawing/2014/main" id="{85C6DF1C-3132-B84C-95B7-C5C81D88B8C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10800000">
            <a:off x="2824" y="-38100"/>
            <a:ext cx="9138352" cy="2003969"/>
          </a:xfrm>
          <a:prstGeom prst="rect">
            <a:avLst/>
          </a:prstGeom>
        </p:spPr>
      </p:pic>
    </p:spTree>
    <p:extLst>
      <p:ext uri="{BB962C8B-B14F-4D97-AF65-F5344CB8AC3E}">
        <p14:creationId xmlns:p14="http://schemas.microsoft.com/office/powerpoint/2010/main" val="3038035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Width - Whit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24315B4E-DD66-964A-9544-329E0C776EDA}"/>
              </a:ext>
            </a:extLst>
          </p:cNvPr>
          <p:cNvSpPr>
            <a:spLocks noGrp="1"/>
          </p:cNvSpPr>
          <p:nvPr>
            <p:ph type="ftr" sz="quarter" idx="10"/>
          </p:nvPr>
        </p:nvSpPr>
        <p:spPr/>
        <p:txBody>
          <a:bodyPr/>
          <a:lstStyle>
            <a:lvl1pPr>
              <a:defRPr>
                <a:solidFill>
                  <a:schemeClr val="tx2">
                    <a:lumMod val="60000"/>
                    <a:lumOff val="40000"/>
                  </a:schemeClr>
                </a:solidFill>
              </a:defRPr>
            </a:lvl1pPr>
          </a:lstStyle>
          <a:p>
            <a:r>
              <a:rPr lang="en-US"/>
              <a:t>© Scaled Agile, Inc.</a:t>
            </a:r>
          </a:p>
        </p:txBody>
      </p:sp>
      <p:sp>
        <p:nvSpPr>
          <p:cNvPr id="6" name="Slide Number Placeholder 5">
            <a:extLst>
              <a:ext uri="{FF2B5EF4-FFF2-40B4-BE49-F238E27FC236}">
                <a16:creationId xmlns:a16="http://schemas.microsoft.com/office/drawing/2014/main" id="{76CF4434-CB6A-C342-9861-5EB5CDE8E4AF}"/>
              </a:ext>
            </a:extLst>
          </p:cNvPr>
          <p:cNvSpPr>
            <a:spLocks noGrp="1"/>
          </p:cNvSpPr>
          <p:nvPr>
            <p:ph type="sldNum" sz="quarter" idx="11"/>
          </p:nvPr>
        </p:nvSpPr>
        <p:spPr/>
        <p:txBody>
          <a:bodyPr/>
          <a:lstStyle>
            <a:lvl1pPr>
              <a:defRPr>
                <a:solidFill>
                  <a:schemeClr val="tx2">
                    <a:lumMod val="60000"/>
                    <a:lumOff val="40000"/>
                  </a:schemeClr>
                </a:solidFill>
              </a:defRPr>
            </a:lvl1pPr>
          </a:lstStyle>
          <a:p>
            <a:r>
              <a:rPr lang="en-US"/>
              <a:t>- </a:t>
            </a:r>
            <a:fld id="{C21C29FA-D81F-9D40-A402-D660C1847F79}" type="slidenum">
              <a:rPr lang="en-US" smtClean="0"/>
              <a:pPr/>
              <a:t>‹#›</a:t>
            </a:fld>
            <a:r>
              <a:rPr lang="en-US"/>
              <a:t> -</a:t>
            </a:r>
          </a:p>
        </p:txBody>
      </p:sp>
      <p:sp>
        <p:nvSpPr>
          <p:cNvPr id="11" name="Title 10">
            <a:extLst>
              <a:ext uri="{FF2B5EF4-FFF2-40B4-BE49-F238E27FC236}">
                <a16:creationId xmlns:a16="http://schemas.microsoft.com/office/drawing/2014/main" id="{76EF1C52-CD1A-F148-BACE-D8824DEC67F3}"/>
              </a:ext>
            </a:extLst>
          </p:cNvPr>
          <p:cNvSpPr>
            <a:spLocks noGrp="1"/>
          </p:cNvSpPr>
          <p:nvPr>
            <p:ph type="title"/>
          </p:nvPr>
        </p:nvSpPr>
        <p:spPr>
          <a:xfrm>
            <a:off x="342900" y="124182"/>
            <a:ext cx="8458202" cy="714664"/>
          </a:xfrm>
        </p:spPr>
        <p:txBody>
          <a:bodyPr/>
          <a:lstStyle>
            <a:lvl1pPr>
              <a:defRPr sz="2400">
                <a:solidFill>
                  <a:schemeClr val="tx1"/>
                </a:solidFill>
              </a:defRPr>
            </a:lvl1pPr>
          </a:lstStyle>
          <a:p>
            <a:r>
              <a:rPr lang="en-US"/>
              <a:t>Click to edit Master title style</a:t>
            </a:r>
          </a:p>
        </p:txBody>
      </p:sp>
      <p:sp>
        <p:nvSpPr>
          <p:cNvPr id="7" name="Content Placeholder 2">
            <a:extLst>
              <a:ext uri="{FF2B5EF4-FFF2-40B4-BE49-F238E27FC236}">
                <a16:creationId xmlns:a16="http://schemas.microsoft.com/office/drawing/2014/main" id="{F25F6D9E-D884-D142-883D-B4775D6B1B87}"/>
              </a:ext>
            </a:extLst>
          </p:cNvPr>
          <p:cNvSpPr>
            <a:spLocks noGrp="1"/>
          </p:cNvSpPr>
          <p:nvPr>
            <p:ph idx="1"/>
          </p:nvPr>
        </p:nvSpPr>
        <p:spPr>
          <a:xfrm>
            <a:off x="342900" y="940955"/>
            <a:ext cx="8458200" cy="1484124"/>
          </a:xfrm>
          <a:prstGeom prst="rect">
            <a:avLst/>
          </a:prstGeom>
        </p:spPr>
        <p:txBody>
          <a:bodyPr>
            <a:spAutoFit/>
          </a:bodyPr>
          <a:lstStyle>
            <a:lvl1pPr>
              <a:defRPr sz="1800">
                <a:solidFill>
                  <a:srgbClr val="000000"/>
                </a:solidFill>
              </a:defRPr>
            </a:lvl1pPr>
            <a:lvl2pPr marL="428625" indent="-200025">
              <a:tabLst/>
              <a:defRPr sz="1400">
                <a:solidFill>
                  <a:srgbClr val="000000"/>
                </a:solidFill>
              </a:defRPr>
            </a:lvl2pPr>
            <a:lvl3pPr marL="857250" indent="-169863">
              <a:tabLst/>
              <a:defRPr sz="1200">
                <a:solidFill>
                  <a:srgbClr val="000000"/>
                </a:solidFill>
              </a:defRPr>
            </a:lvl3pPr>
            <a:lvl4pPr marL="1200150" indent="-168275">
              <a:tabLst/>
              <a:defRPr sz="1200">
                <a:solidFill>
                  <a:srgbClr val="000000"/>
                </a:solidFill>
              </a:defRPr>
            </a:lvl4pPr>
            <a:lvl5pPr marL="1543050" indent="-168275">
              <a:tabLst/>
              <a:defRPr sz="1200">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guide id="4" orient="horz" pos="310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Width ALT - Whi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5400102-1257-8A43-9EDE-7EF3084D3167}"/>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5532" t="-105" r="-5164" b="4097"/>
          <a:stretch/>
        </p:blipFill>
        <p:spPr>
          <a:xfrm>
            <a:off x="8286395" y="198408"/>
            <a:ext cx="857605" cy="4945092"/>
          </a:xfrm>
          <a:prstGeom prst="rect">
            <a:avLst/>
          </a:prstGeom>
        </p:spPr>
      </p:pic>
      <p:sp>
        <p:nvSpPr>
          <p:cNvPr id="2" name="Footer Placeholder 1">
            <a:extLst>
              <a:ext uri="{FF2B5EF4-FFF2-40B4-BE49-F238E27FC236}">
                <a16:creationId xmlns:a16="http://schemas.microsoft.com/office/drawing/2014/main" id="{7E871684-93BD-6342-BE85-D831B2B97C86}"/>
              </a:ext>
            </a:extLst>
          </p:cNvPr>
          <p:cNvSpPr>
            <a:spLocks noGrp="1"/>
          </p:cNvSpPr>
          <p:nvPr>
            <p:ph type="ftr" sz="quarter" idx="10"/>
          </p:nvPr>
        </p:nvSpPr>
        <p:spPr/>
        <p:txBody>
          <a:bodyPr/>
          <a:lstStyle>
            <a:lvl1pPr>
              <a:defRPr>
                <a:solidFill>
                  <a:schemeClr val="tx2">
                    <a:lumMod val="60000"/>
                    <a:lumOff val="40000"/>
                  </a:schemeClr>
                </a:solidFill>
              </a:defRPr>
            </a:lvl1pPr>
          </a:lstStyle>
          <a:p>
            <a:r>
              <a:rPr lang="en-US"/>
              <a:t>© Scaled Agile, Inc.</a:t>
            </a:r>
          </a:p>
        </p:txBody>
      </p:sp>
      <p:sp>
        <p:nvSpPr>
          <p:cNvPr id="3" name="Slide Number Placeholder 2">
            <a:extLst>
              <a:ext uri="{FF2B5EF4-FFF2-40B4-BE49-F238E27FC236}">
                <a16:creationId xmlns:a16="http://schemas.microsoft.com/office/drawing/2014/main" id="{FBEF5BE3-661C-CC4B-B8C0-63145E68FC6E}"/>
              </a:ext>
            </a:extLst>
          </p:cNvPr>
          <p:cNvSpPr>
            <a:spLocks noGrp="1"/>
          </p:cNvSpPr>
          <p:nvPr>
            <p:ph type="sldNum" sz="quarter" idx="11"/>
          </p:nvPr>
        </p:nvSpPr>
        <p:spPr>
          <a:noFill/>
        </p:spPr>
        <p:txBody>
          <a:bodyPr/>
          <a:lstStyle>
            <a:lvl1pPr>
              <a:defRPr>
                <a:solidFill>
                  <a:schemeClr val="tx2">
                    <a:lumMod val="60000"/>
                    <a:lumOff val="40000"/>
                  </a:schemeClr>
                </a:solidFill>
              </a:defRPr>
            </a:lvl1pPr>
          </a:lstStyle>
          <a:p>
            <a:r>
              <a:rPr lang="en-US"/>
              <a:t>- </a:t>
            </a:r>
            <a:fld id="{C21C29FA-D81F-9D40-A402-D660C1847F79}" type="slidenum">
              <a:rPr lang="en-US" smtClean="0"/>
              <a:pPr/>
              <a:t>‹#›</a:t>
            </a:fld>
            <a:r>
              <a:rPr lang="en-US"/>
              <a:t> -</a:t>
            </a:r>
          </a:p>
        </p:txBody>
      </p:sp>
      <p:sp>
        <p:nvSpPr>
          <p:cNvPr id="9" name="Title Placeholder 6">
            <a:extLst>
              <a:ext uri="{FF2B5EF4-FFF2-40B4-BE49-F238E27FC236}">
                <a16:creationId xmlns:a16="http://schemas.microsoft.com/office/drawing/2014/main" id="{FC92E83F-26F5-CC42-AFD8-91EE522B1B39}"/>
              </a:ext>
            </a:extLst>
          </p:cNvPr>
          <p:cNvSpPr>
            <a:spLocks noGrp="1"/>
          </p:cNvSpPr>
          <p:nvPr>
            <p:ph type="title"/>
          </p:nvPr>
        </p:nvSpPr>
        <p:spPr>
          <a:xfrm>
            <a:off x="342898" y="124182"/>
            <a:ext cx="7498080" cy="714664"/>
          </a:xfrm>
          <a:prstGeom prst="rect">
            <a:avLst/>
          </a:prstGeom>
        </p:spPr>
        <p:txBody>
          <a:bodyPr vert="horz" lIns="91440" tIns="45720" rIns="91440" bIns="45720" rtlCol="0" anchor="ctr">
            <a:noAutofit/>
          </a:bodyPr>
          <a:lstStyle>
            <a:lvl1pPr>
              <a:defRPr sz="2400"/>
            </a:lvl1pPr>
          </a:lstStyle>
          <a:p>
            <a:r>
              <a:rPr lang="en-US"/>
              <a:t>Click to edit Master title style</a:t>
            </a:r>
          </a:p>
        </p:txBody>
      </p:sp>
      <p:sp>
        <p:nvSpPr>
          <p:cNvPr id="11" name="Content Placeholder 2">
            <a:extLst>
              <a:ext uri="{FF2B5EF4-FFF2-40B4-BE49-F238E27FC236}">
                <a16:creationId xmlns:a16="http://schemas.microsoft.com/office/drawing/2014/main" id="{74F5664A-6662-C34B-9DE6-04356CFB3F1E}"/>
              </a:ext>
            </a:extLst>
          </p:cNvPr>
          <p:cNvSpPr>
            <a:spLocks noGrp="1"/>
          </p:cNvSpPr>
          <p:nvPr>
            <p:ph idx="1"/>
          </p:nvPr>
        </p:nvSpPr>
        <p:spPr>
          <a:xfrm>
            <a:off x="342899" y="940955"/>
            <a:ext cx="7498080" cy="1484124"/>
          </a:xfrm>
          <a:prstGeom prst="rect">
            <a:avLst/>
          </a:prstGeom>
        </p:spPr>
        <p:txBody>
          <a:bodyPr>
            <a:spAutoFit/>
          </a:bodyPr>
          <a:lstStyle>
            <a:lvl1pPr>
              <a:defRPr sz="1800">
                <a:solidFill>
                  <a:srgbClr val="000000"/>
                </a:solidFill>
              </a:defRPr>
            </a:lvl1pPr>
            <a:lvl2pPr marL="428625" indent="-200025">
              <a:tabLst/>
              <a:defRPr sz="1400">
                <a:solidFill>
                  <a:srgbClr val="000000"/>
                </a:solidFill>
              </a:defRPr>
            </a:lvl2pPr>
            <a:lvl3pPr marL="857250" indent="-169863">
              <a:tabLst/>
              <a:defRPr sz="1200">
                <a:solidFill>
                  <a:srgbClr val="000000"/>
                </a:solidFill>
              </a:defRPr>
            </a:lvl3pPr>
            <a:lvl4pPr marL="1200150" indent="-168275">
              <a:tabLst/>
              <a:defRPr sz="1200">
                <a:solidFill>
                  <a:srgbClr val="000000"/>
                </a:solidFill>
              </a:defRPr>
            </a:lvl4pPr>
            <a:lvl5pPr marL="1543050" indent="-168275">
              <a:tabLst/>
              <a:defRPr sz="1200">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Width - Reverse">
    <p:bg>
      <p:bgPr>
        <a:solidFill>
          <a:schemeClr val="tx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685EC3C-879B-8B4A-9B81-AAA0201E48D3}"/>
              </a:ext>
            </a:extLst>
          </p:cNvPr>
          <p:cNvSpPr>
            <a:spLocks noGrp="1"/>
          </p:cNvSpPr>
          <p:nvPr>
            <p:ph type="ftr" sz="quarter" idx="10"/>
          </p:nvPr>
        </p:nvSpPr>
        <p:spPr/>
        <p:txBody>
          <a:bodyPr/>
          <a:lstStyle>
            <a:lvl1pPr>
              <a:defRPr>
                <a:solidFill>
                  <a:schemeClr val="bg1">
                    <a:alpha val="50000"/>
                  </a:schemeClr>
                </a:solidFill>
              </a:defRPr>
            </a:lvl1pPr>
          </a:lstStyle>
          <a:p>
            <a:r>
              <a:rPr lang="en-US"/>
              <a:t>© Scaled Agile, Inc.</a:t>
            </a:r>
          </a:p>
        </p:txBody>
      </p:sp>
      <p:sp>
        <p:nvSpPr>
          <p:cNvPr id="5" name="Slide Number Placeholder 4">
            <a:extLst>
              <a:ext uri="{FF2B5EF4-FFF2-40B4-BE49-F238E27FC236}">
                <a16:creationId xmlns:a16="http://schemas.microsoft.com/office/drawing/2014/main" id="{DF2CBE51-4811-5049-9CE0-2A6B6C5F0AF8}"/>
              </a:ext>
            </a:extLst>
          </p:cNvPr>
          <p:cNvSpPr>
            <a:spLocks noGrp="1"/>
          </p:cNvSpPr>
          <p:nvPr>
            <p:ph type="sldNum" sz="quarter" idx="11"/>
          </p:nvPr>
        </p:nvSpPr>
        <p:spPr/>
        <p:txBody>
          <a:bodyPr/>
          <a:lstStyle>
            <a:lvl1pPr>
              <a:defRPr>
                <a:solidFill>
                  <a:schemeClr val="bg1">
                    <a:alpha val="50000"/>
                  </a:schemeClr>
                </a:solidFill>
              </a:defRPr>
            </a:lvl1pPr>
          </a:lstStyle>
          <a:p>
            <a:r>
              <a:rPr lang="en-US"/>
              <a:t>- </a:t>
            </a:r>
            <a:fld id="{C21C29FA-D81F-9D40-A402-D660C1847F79}" type="slidenum">
              <a:rPr lang="en-US" smtClean="0"/>
              <a:pPr/>
              <a:t>‹#›</a:t>
            </a:fld>
            <a:r>
              <a:rPr lang="en-US"/>
              <a:t> -</a:t>
            </a:r>
          </a:p>
        </p:txBody>
      </p:sp>
      <p:sp>
        <p:nvSpPr>
          <p:cNvPr id="6" name="Title 5">
            <a:extLst>
              <a:ext uri="{FF2B5EF4-FFF2-40B4-BE49-F238E27FC236}">
                <a16:creationId xmlns:a16="http://schemas.microsoft.com/office/drawing/2014/main" id="{2CDF0907-84EB-F54E-B6B6-ADCDA1889995}"/>
              </a:ext>
            </a:extLst>
          </p:cNvPr>
          <p:cNvSpPr>
            <a:spLocks noGrp="1"/>
          </p:cNvSpPr>
          <p:nvPr>
            <p:ph type="title"/>
          </p:nvPr>
        </p:nvSpPr>
        <p:spPr/>
        <p:txBody>
          <a:bodyPr/>
          <a:lstStyle>
            <a:lvl1pPr>
              <a:defRPr sz="2400">
                <a:solidFill>
                  <a:schemeClr val="bg1"/>
                </a:solidFill>
              </a:defRPr>
            </a:lvl1pPr>
          </a:lstStyle>
          <a:p>
            <a:r>
              <a:rPr lang="en-US"/>
              <a:t>Click to edit Master title style</a:t>
            </a:r>
          </a:p>
        </p:txBody>
      </p:sp>
      <p:sp>
        <p:nvSpPr>
          <p:cNvPr id="7" name="Content Placeholder 2">
            <a:extLst>
              <a:ext uri="{FF2B5EF4-FFF2-40B4-BE49-F238E27FC236}">
                <a16:creationId xmlns:a16="http://schemas.microsoft.com/office/drawing/2014/main" id="{3D3C52C4-1B8F-0745-A00E-77FAA2FB296D}"/>
              </a:ext>
            </a:extLst>
          </p:cNvPr>
          <p:cNvSpPr>
            <a:spLocks noGrp="1"/>
          </p:cNvSpPr>
          <p:nvPr>
            <p:ph idx="1"/>
          </p:nvPr>
        </p:nvSpPr>
        <p:spPr>
          <a:xfrm>
            <a:off x="342900" y="940955"/>
            <a:ext cx="8458200" cy="1484124"/>
          </a:xfrm>
          <a:prstGeom prst="rect">
            <a:avLst/>
          </a:prstGeom>
        </p:spPr>
        <p:txBody>
          <a:bodyPr>
            <a:spAutoFit/>
          </a:bodyPr>
          <a:lstStyle>
            <a:lvl1pPr>
              <a:buClrTx/>
              <a:defRPr sz="1800">
                <a:solidFill>
                  <a:schemeClr val="bg1"/>
                </a:solidFill>
              </a:defRPr>
            </a:lvl1pPr>
            <a:lvl2pPr marL="428625" indent="-200025">
              <a:buClrTx/>
              <a:tabLst/>
              <a:defRPr sz="1400">
                <a:solidFill>
                  <a:schemeClr val="bg1"/>
                </a:solidFill>
              </a:defRPr>
            </a:lvl2pPr>
            <a:lvl3pPr marL="857250" indent="-169863">
              <a:buClrTx/>
              <a:tabLst/>
              <a:defRPr sz="1200">
                <a:solidFill>
                  <a:schemeClr val="bg1"/>
                </a:solidFill>
              </a:defRPr>
            </a:lvl3pPr>
            <a:lvl4pPr marL="1200150" indent="-168275">
              <a:buClrTx/>
              <a:tabLst/>
              <a:defRPr sz="1200">
                <a:solidFill>
                  <a:schemeClr val="bg1"/>
                </a:solidFill>
              </a:defRPr>
            </a:lvl4pPr>
            <a:lvl5pPr marL="1543050" indent="-168275">
              <a:buClrTx/>
              <a:tabLst/>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3418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 Width ALT - Reverse">
    <p:bg>
      <p:bgPr>
        <a:solidFill>
          <a:schemeClr val="tx1"/>
        </a:solidFill>
        <a:effectLst/>
      </p:bgPr>
    </p:bg>
    <p:spTree>
      <p:nvGrpSpPr>
        <p:cNvPr id="1" name=""/>
        <p:cNvGrpSpPr/>
        <p:nvPr/>
      </p:nvGrpSpPr>
      <p:grpSpPr>
        <a:xfrm>
          <a:off x="0" y="0"/>
          <a:ext cx="0" cy="0"/>
          <a:chOff x="0" y="0"/>
          <a:chExt cx="0" cy="0"/>
        </a:xfrm>
      </p:grpSpPr>
      <p:pic>
        <p:nvPicPr>
          <p:cNvPr id="9" name="Picture 7">
            <a:extLst>
              <a:ext uri="{FF2B5EF4-FFF2-40B4-BE49-F238E27FC236}">
                <a16:creationId xmlns:a16="http://schemas.microsoft.com/office/drawing/2014/main" id="{3D68ECB5-9F2F-3241-9126-F59EB08BD6A0}"/>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5532" t="-105" r="-5164" b="4097"/>
          <a:stretch/>
        </p:blipFill>
        <p:spPr>
          <a:xfrm>
            <a:off x="8286395" y="198408"/>
            <a:ext cx="857605" cy="4945092"/>
          </a:xfrm>
          <a:prstGeom prst="rect">
            <a:avLst/>
          </a:prstGeom>
        </p:spPr>
      </p:pic>
      <p:sp>
        <p:nvSpPr>
          <p:cNvPr id="4" name="Footer Placeholder 3">
            <a:extLst>
              <a:ext uri="{FF2B5EF4-FFF2-40B4-BE49-F238E27FC236}">
                <a16:creationId xmlns:a16="http://schemas.microsoft.com/office/drawing/2014/main" id="{B685EC3C-879B-8B4A-9B81-AAA0201E48D3}"/>
              </a:ext>
            </a:extLst>
          </p:cNvPr>
          <p:cNvSpPr>
            <a:spLocks noGrp="1"/>
          </p:cNvSpPr>
          <p:nvPr>
            <p:ph type="ftr" sz="quarter" idx="10"/>
          </p:nvPr>
        </p:nvSpPr>
        <p:spPr/>
        <p:txBody>
          <a:bodyPr/>
          <a:lstStyle>
            <a:lvl1pPr>
              <a:defRPr>
                <a:solidFill>
                  <a:schemeClr val="bg1">
                    <a:alpha val="50000"/>
                  </a:schemeClr>
                </a:solidFill>
              </a:defRPr>
            </a:lvl1pPr>
          </a:lstStyle>
          <a:p>
            <a:r>
              <a:rPr lang="en-US"/>
              <a:t>© Scaled Agile, Inc.</a:t>
            </a:r>
          </a:p>
        </p:txBody>
      </p:sp>
      <p:sp>
        <p:nvSpPr>
          <p:cNvPr id="5" name="Slide Number Placeholder 4">
            <a:extLst>
              <a:ext uri="{FF2B5EF4-FFF2-40B4-BE49-F238E27FC236}">
                <a16:creationId xmlns:a16="http://schemas.microsoft.com/office/drawing/2014/main" id="{DF2CBE51-4811-5049-9CE0-2A6B6C5F0AF8}"/>
              </a:ext>
            </a:extLst>
          </p:cNvPr>
          <p:cNvSpPr>
            <a:spLocks noGrp="1"/>
          </p:cNvSpPr>
          <p:nvPr>
            <p:ph type="sldNum" sz="quarter" idx="11"/>
          </p:nvPr>
        </p:nvSpPr>
        <p:spPr/>
        <p:txBody>
          <a:bodyPr/>
          <a:lstStyle>
            <a:lvl1pPr>
              <a:defRPr>
                <a:solidFill>
                  <a:schemeClr val="bg1">
                    <a:alpha val="50000"/>
                  </a:schemeClr>
                </a:solidFill>
              </a:defRPr>
            </a:lvl1pPr>
          </a:lstStyle>
          <a:p>
            <a:r>
              <a:rPr lang="en-US"/>
              <a:t>- </a:t>
            </a:r>
            <a:fld id="{C21C29FA-D81F-9D40-A402-D660C1847F79}" type="slidenum">
              <a:rPr lang="en-US" smtClean="0"/>
              <a:pPr/>
              <a:t>‹#›</a:t>
            </a:fld>
            <a:r>
              <a:rPr lang="en-US"/>
              <a:t> -</a:t>
            </a:r>
          </a:p>
        </p:txBody>
      </p:sp>
      <p:sp>
        <p:nvSpPr>
          <p:cNvPr id="8" name="Title 3">
            <a:extLst>
              <a:ext uri="{FF2B5EF4-FFF2-40B4-BE49-F238E27FC236}">
                <a16:creationId xmlns:a16="http://schemas.microsoft.com/office/drawing/2014/main" id="{87B1C982-7ADD-7445-AE12-CD5C49C4DB79}"/>
              </a:ext>
            </a:extLst>
          </p:cNvPr>
          <p:cNvSpPr>
            <a:spLocks noGrp="1"/>
          </p:cNvSpPr>
          <p:nvPr>
            <p:ph type="title"/>
          </p:nvPr>
        </p:nvSpPr>
        <p:spPr>
          <a:xfrm>
            <a:off x="342900" y="124182"/>
            <a:ext cx="7498080" cy="714664"/>
          </a:xfrm>
        </p:spPr>
        <p:txBody>
          <a:bodyPr/>
          <a:lstStyle>
            <a:lvl1pPr>
              <a:defRPr>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547B8FF4-90A0-BC45-AB61-435EF539CED7}"/>
              </a:ext>
            </a:extLst>
          </p:cNvPr>
          <p:cNvSpPr>
            <a:spLocks noGrp="1"/>
          </p:cNvSpPr>
          <p:nvPr>
            <p:ph idx="1"/>
          </p:nvPr>
        </p:nvSpPr>
        <p:spPr>
          <a:xfrm>
            <a:off x="351705" y="940955"/>
            <a:ext cx="7498080" cy="1484124"/>
          </a:xfrm>
          <a:prstGeom prst="rect">
            <a:avLst/>
          </a:prstGeom>
        </p:spPr>
        <p:txBody>
          <a:bodyPr>
            <a:spAutoFit/>
          </a:bodyPr>
          <a:lstStyle>
            <a:lvl1pPr>
              <a:buClr>
                <a:schemeClr val="bg1"/>
              </a:buClr>
              <a:defRPr>
                <a:solidFill>
                  <a:srgbClr val="FFFFFF"/>
                </a:solidFill>
              </a:defRPr>
            </a:lvl1pPr>
            <a:lvl2pPr marL="428625" indent="-200025">
              <a:buClr>
                <a:schemeClr val="bg1"/>
              </a:buClr>
              <a:tabLst/>
              <a:defRPr>
                <a:solidFill>
                  <a:srgbClr val="FFFFFF"/>
                </a:solidFill>
              </a:defRPr>
            </a:lvl2pPr>
            <a:lvl3pPr marL="857250" indent="-169863">
              <a:buClr>
                <a:schemeClr val="bg1"/>
              </a:buClr>
              <a:tabLst/>
              <a:defRPr>
                <a:solidFill>
                  <a:srgbClr val="FFFFFF"/>
                </a:solidFill>
              </a:defRPr>
            </a:lvl3pPr>
            <a:lvl4pPr marL="1200150" indent="-168275">
              <a:buClr>
                <a:schemeClr val="bg1"/>
              </a:buClr>
              <a:tabLst/>
              <a:defRPr>
                <a:solidFill>
                  <a:srgbClr val="FFFFFF"/>
                </a:solidFill>
              </a:defRPr>
            </a:lvl4pPr>
            <a:lvl5pPr marL="1543050" indent="-168275">
              <a:buClr>
                <a:schemeClr val="bg1"/>
              </a:buClr>
              <a:tabLst/>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1407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 White">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4749444" y="940955"/>
            <a:ext cx="4051656" cy="1484124"/>
          </a:xfrm>
          <a:prstGeom prst="rect">
            <a:avLst/>
          </a:prstGeom>
        </p:spPr>
        <p:txBody>
          <a:bodyPr>
            <a:noAutofit/>
          </a:bodyPr>
          <a:lstStyle>
            <a:lvl1pPr>
              <a:defRPr sz="1800"/>
            </a:lvl1pPr>
            <a:lvl2pPr marL="428625" indent="-200025">
              <a:tabLst/>
              <a:defRPr sz="1400"/>
            </a:lvl2pPr>
            <a:lvl3pPr marL="857250" indent="-169863">
              <a:tabLst/>
              <a:defRPr sz="1200"/>
            </a:lvl3pPr>
            <a:lvl4pPr marL="1200150" indent="-168275">
              <a:tabLst/>
              <a:defRPr sz="1200"/>
            </a:lvl4pPr>
            <a:lvl5pPr marL="1543050" indent="-168275">
              <a:tabLst/>
              <a:defRPr sz="120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4024E868-0EF0-7141-BD66-E36221F2560B}"/>
              </a:ext>
            </a:extLst>
          </p:cNvPr>
          <p:cNvSpPr>
            <a:spLocks noGrp="1"/>
          </p:cNvSpPr>
          <p:nvPr>
            <p:ph type="ftr" sz="quarter" idx="10"/>
          </p:nvPr>
        </p:nvSpPr>
        <p:spPr/>
        <p:txBody>
          <a:bodyPr/>
          <a:lstStyle>
            <a:lvl1pPr>
              <a:defRPr>
                <a:solidFill>
                  <a:schemeClr val="tx2">
                    <a:lumMod val="60000"/>
                    <a:lumOff val="40000"/>
                  </a:schemeClr>
                </a:solidFill>
              </a:defRPr>
            </a:lvl1pPr>
          </a:lstStyle>
          <a:p>
            <a:r>
              <a:rPr lang="en-US"/>
              <a:t>© Scaled Agile, Inc.</a:t>
            </a:r>
          </a:p>
        </p:txBody>
      </p:sp>
      <p:sp>
        <p:nvSpPr>
          <p:cNvPr id="5" name="Slide Number Placeholder 4">
            <a:extLst>
              <a:ext uri="{FF2B5EF4-FFF2-40B4-BE49-F238E27FC236}">
                <a16:creationId xmlns:a16="http://schemas.microsoft.com/office/drawing/2014/main" id="{93F85BA7-B1B9-0147-B1FF-62A23FAC7446}"/>
              </a:ext>
            </a:extLst>
          </p:cNvPr>
          <p:cNvSpPr>
            <a:spLocks noGrp="1"/>
          </p:cNvSpPr>
          <p:nvPr>
            <p:ph type="sldNum" sz="quarter" idx="11"/>
          </p:nvPr>
        </p:nvSpPr>
        <p:spPr/>
        <p:txBody>
          <a:bodyPr/>
          <a:lstStyle>
            <a:lvl1pPr>
              <a:defRPr>
                <a:solidFill>
                  <a:schemeClr val="tx2">
                    <a:lumMod val="60000"/>
                    <a:lumOff val="40000"/>
                  </a:schemeClr>
                </a:solidFill>
              </a:defRPr>
            </a:lvl1pPr>
          </a:lstStyle>
          <a:p>
            <a:r>
              <a:rPr lang="en-US"/>
              <a:t>- </a:t>
            </a:r>
            <a:fld id="{C21C29FA-D81F-9D40-A402-D660C1847F79}" type="slidenum">
              <a:rPr lang="en-US" smtClean="0"/>
              <a:pPr/>
              <a:t>‹#›</a:t>
            </a:fld>
            <a:r>
              <a:rPr lang="en-US"/>
              <a:t> -</a:t>
            </a:r>
          </a:p>
        </p:txBody>
      </p:sp>
      <p:sp>
        <p:nvSpPr>
          <p:cNvPr id="6" name="Title 5">
            <a:extLst>
              <a:ext uri="{FF2B5EF4-FFF2-40B4-BE49-F238E27FC236}">
                <a16:creationId xmlns:a16="http://schemas.microsoft.com/office/drawing/2014/main" id="{6573B8DB-C6FD-B849-9078-09A105943E17}"/>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7" name="Content Placeholder 3">
            <a:extLst>
              <a:ext uri="{FF2B5EF4-FFF2-40B4-BE49-F238E27FC236}">
                <a16:creationId xmlns:a16="http://schemas.microsoft.com/office/drawing/2014/main" id="{6DBECDB7-1FA2-D649-9F6B-A76B16711BFA}"/>
              </a:ext>
            </a:extLst>
          </p:cNvPr>
          <p:cNvSpPr>
            <a:spLocks noGrp="1"/>
          </p:cNvSpPr>
          <p:nvPr>
            <p:ph sz="half" idx="12"/>
          </p:nvPr>
        </p:nvSpPr>
        <p:spPr>
          <a:xfrm>
            <a:off x="342901" y="940955"/>
            <a:ext cx="4051656" cy="1484124"/>
          </a:xfrm>
          <a:prstGeom prst="rect">
            <a:avLst/>
          </a:prstGeom>
        </p:spPr>
        <p:txBody>
          <a:bodyPr>
            <a:noAutofit/>
          </a:bodyPr>
          <a:lstStyle>
            <a:lvl1pPr>
              <a:defRPr sz="1800"/>
            </a:lvl1pPr>
            <a:lvl2pPr marL="428625" indent="-200025">
              <a:tabLst/>
              <a:defRPr sz="1400"/>
            </a:lvl2pPr>
            <a:lvl3pPr marL="857250" indent="-169863">
              <a:tabLst/>
              <a:defRPr sz="1200"/>
            </a:lvl3pPr>
            <a:lvl4pPr marL="1200150" indent="-168275">
              <a:tabLst/>
              <a:defRPr sz="1200"/>
            </a:lvl4pPr>
            <a:lvl5pPr marL="1543050" indent="-168275">
              <a:tabLst/>
              <a:defRPr sz="120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 Reverse">
    <p:bg>
      <p:bgPr>
        <a:solidFill>
          <a:schemeClr val="tx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685EC3C-879B-8B4A-9B81-AAA0201E48D3}"/>
              </a:ext>
            </a:extLst>
          </p:cNvPr>
          <p:cNvSpPr>
            <a:spLocks noGrp="1"/>
          </p:cNvSpPr>
          <p:nvPr>
            <p:ph type="ftr" sz="quarter" idx="10"/>
          </p:nvPr>
        </p:nvSpPr>
        <p:spPr/>
        <p:txBody>
          <a:bodyPr/>
          <a:lstStyle>
            <a:lvl1pPr>
              <a:defRPr>
                <a:solidFill>
                  <a:schemeClr val="bg1">
                    <a:alpha val="50000"/>
                  </a:schemeClr>
                </a:solidFill>
              </a:defRPr>
            </a:lvl1pPr>
          </a:lstStyle>
          <a:p>
            <a:r>
              <a:rPr lang="en-US"/>
              <a:t>© Scaled Agile, Inc.</a:t>
            </a:r>
          </a:p>
        </p:txBody>
      </p:sp>
      <p:sp>
        <p:nvSpPr>
          <p:cNvPr id="5" name="Slide Number Placeholder 4">
            <a:extLst>
              <a:ext uri="{FF2B5EF4-FFF2-40B4-BE49-F238E27FC236}">
                <a16:creationId xmlns:a16="http://schemas.microsoft.com/office/drawing/2014/main" id="{DF2CBE51-4811-5049-9CE0-2A6B6C5F0AF8}"/>
              </a:ext>
            </a:extLst>
          </p:cNvPr>
          <p:cNvSpPr>
            <a:spLocks noGrp="1"/>
          </p:cNvSpPr>
          <p:nvPr>
            <p:ph type="sldNum" sz="quarter" idx="11"/>
          </p:nvPr>
        </p:nvSpPr>
        <p:spPr/>
        <p:txBody>
          <a:bodyPr/>
          <a:lstStyle>
            <a:lvl1pPr>
              <a:defRPr>
                <a:solidFill>
                  <a:schemeClr val="bg1">
                    <a:alpha val="50000"/>
                  </a:schemeClr>
                </a:solidFill>
              </a:defRPr>
            </a:lvl1pPr>
          </a:lstStyle>
          <a:p>
            <a:r>
              <a:rPr lang="en-US"/>
              <a:t>- </a:t>
            </a:r>
            <a:fld id="{C21C29FA-D81F-9D40-A402-D660C1847F79}" type="slidenum">
              <a:rPr lang="en-US" smtClean="0"/>
              <a:pPr/>
              <a:t>‹#›</a:t>
            </a:fld>
            <a:r>
              <a:rPr lang="en-US"/>
              <a:t> -</a:t>
            </a:r>
          </a:p>
        </p:txBody>
      </p:sp>
      <p:sp>
        <p:nvSpPr>
          <p:cNvPr id="6" name="Title 5">
            <a:extLst>
              <a:ext uri="{FF2B5EF4-FFF2-40B4-BE49-F238E27FC236}">
                <a16:creationId xmlns:a16="http://schemas.microsoft.com/office/drawing/2014/main" id="{2CDF0907-84EB-F54E-B6B6-ADCDA1889995}"/>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9" name="Content Placeholder 2">
            <a:extLst>
              <a:ext uri="{FF2B5EF4-FFF2-40B4-BE49-F238E27FC236}">
                <a16:creationId xmlns:a16="http://schemas.microsoft.com/office/drawing/2014/main" id="{544A6C37-A400-A942-BDA8-91CB99F59CD6}"/>
              </a:ext>
            </a:extLst>
          </p:cNvPr>
          <p:cNvSpPr>
            <a:spLocks noGrp="1"/>
          </p:cNvSpPr>
          <p:nvPr>
            <p:ph sz="half" idx="1"/>
          </p:nvPr>
        </p:nvSpPr>
        <p:spPr>
          <a:xfrm>
            <a:off x="335280" y="940955"/>
            <a:ext cx="4054232" cy="1484124"/>
          </a:xfrm>
          <a:prstGeom prst="rect">
            <a:avLst/>
          </a:prstGeom>
        </p:spPr>
        <p:txBody>
          <a:bodyPr>
            <a:noAutofit/>
          </a:bodyPr>
          <a:lstStyle>
            <a:lvl1pPr>
              <a:buClr>
                <a:schemeClr val="bg1"/>
              </a:buClr>
              <a:defRPr sz="1800">
                <a:solidFill>
                  <a:schemeClr val="bg1"/>
                </a:solidFill>
              </a:defRPr>
            </a:lvl1pPr>
            <a:lvl2pPr marL="428625" indent="-200025">
              <a:buClr>
                <a:schemeClr val="bg1"/>
              </a:buClr>
              <a:tabLst/>
              <a:defRPr sz="1400">
                <a:solidFill>
                  <a:schemeClr val="bg1"/>
                </a:solidFill>
              </a:defRPr>
            </a:lvl2pPr>
            <a:lvl3pPr marL="857250" indent="-169863">
              <a:buClr>
                <a:schemeClr val="bg1"/>
              </a:buClr>
              <a:tabLst/>
              <a:defRPr sz="1200">
                <a:solidFill>
                  <a:schemeClr val="bg1"/>
                </a:solidFill>
              </a:defRPr>
            </a:lvl3pPr>
            <a:lvl4pPr marL="1200150" indent="-168275">
              <a:buClr>
                <a:schemeClr val="bg1"/>
              </a:buClr>
              <a:tabLst/>
              <a:defRPr sz="1200">
                <a:solidFill>
                  <a:schemeClr val="bg1"/>
                </a:solidFill>
              </a:defRPr>
            </a:lvl4pPr>
            <a:lvl5pPr marL="1543050" indent="-168275">
              <a:buClr>
                <a:schemeClr val="bg1"/>
              </a:buClr>
              <a:tabLst/>
              <a:defRPr sz="1200">
                <a:solidFill>
                  <a:schemeClr val="bg1"/>
                </a:solidFill>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3A6CB9BD-07CA-B84A-91BF-99D8EDF10BC6}"/>
              </a:ext>
            </a:extLst>
          </p:cNvPr>
          <p:cNvSpPr>
            <a:spLocks noGrp="1"/>
          </p:cNvSpPr>
          <p:nvPr>
            <p:ph sz="half" idx="2"/>
          </p:nvPr>
        </p:nvSpPr>
        <p:spPr>
          <a:xfrm>
            <a:off x="4749444" y="940955"/>
            <a:ext cx="4051656" cy="1484124"/>
          </a:xfrm>
          <a:prstGeom prst="rect">
            <a:avLst/>
          </a:prstGeom>
        </p:spPr>
        <p:txBody>
          <a:bodyPr>
            <a:noAutofit/>
          </a:bodyPr>
          <a:lstStyle>
            <a:lvl1pPr>
              <a:buClr>
                <a:schemeClr val="bg1"/>
              </a:buClr>
              <a:defRPr sz="1800">
                <a:solidFill>
                  <a:schemeClr val="bg1"/>
                </a:solidFill>
              </a:defRPr>
            </a:lvl1pPr>
            <a:lvl2pPr marL="428625" indent="-200025">
              <a:buClr>
                <a:schemeClr val="bg1"/>
              </a:buClr>
              <a:tabLst/>
              <a:defRPr sz="1400">
                <a:solidFill>
                  <a:schemeClr val="bg1"/>
                </a:solidFill>
              </a:defRPr>
            </a:lvl2pPr>
            <a:lvl3pPr marL="857250" indent="-169863">
              <a:buClr>
                <a:schemeClr val="bg1"/>
              </a:buClr>
              <a:tabLst/>
              <a:defRPr sz="1200">
                <a:solidFill>
                  <a:schemeClr val="bg1"/>
                </a:solidFill>
              </a:defRPr>
            </a:lvl3pPr>
            <a:lvl4pPr marL="1200150" indent="-168275">
              <a:buClr>
                <a:schemeClr val="bg1"/>
              </a:buClr>
              <a:tabLst/>
              <a:defRPr sz="1200">
                <a:solidFill>
                  <a:schemeClr val="bg1"/>
                </a:solidFill>
              </a:defRPr>
            </a:lvl4pPr>
            <a:lvl5pPr marL="1543050" indent="-168275">
              <a:buClr>
                <a:schemeClr val="bg1"/>
              </a:buClr>
              <a:tabLst/>
              <a:defRPr sz="1200">
                <a:solidFill>
                  <a:schemeClr val="bg1"/>
                </a:solidFill>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15520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alf Content - White">
    <p:spTree>
      <p:nvGrpSpPr>
        <p:cNvPr id="1" name=""/>
        <p:cNvGrpSpPr/>
        <p:nvPr/>
      </p:nvGrpSpPr>
      <p:grpSpPr>
        <a:xfrm>
          <a:off x="0" y="0"/>
          <a:ext cx="0" cy="0"/>
          <a:chOff x="0" y="0"/>
          <a:chExt cx="0" cy="0"/>
        </a:xfrm>
      </p:grpSpPr>
      <p:sp>
        <p:nvSpPr>
          <p:cNvPr id="14" name="Content Placeholder 13"/>
          <p:cNvSpPr>
            <a:spLocks noGrp="1"/>
          </p:cNvSpPr>
          <p:nvPr>
            <p:ph sz="quarter" idx="10"/>
          </p:nvPr>
        </p:nvSpPr>
        <p:spPr>
          <a:xfrm>
            <a:off x="4829633" y="1729979"/>
            <a:ext cx="3971467" cy="1484124"/>
          </a:xfrm>
          <a:prstGeom prst="rect">
            <a:avLst/>
          </a:prstGeom>
        </p:spPr>
        <p:txBody>
          <a:bodyPr>
            <a:spAutoFit/>
          </a:bodyPr>
          <a:lstStyle>
            <a:lvl1pPr>
              <a:defRPr sz="1800"/>
            </a:lvl1pPr>
            <a:lvl2pPr marL="428625" indent="-200025">
              <a:tabLst/>
              <a:defRPr sz="1400"/>
            </a:lvl2pPr>
            <a:lvl3pPr marL="857250" indent="-169863">
              <a:tabLst/>
              <a:defRPr sz="1200"/>
            </a:lvl3pPr>
            <a:lvl4pPr marL="1200150" indent="-168275">
              <a:tabLst/>
              <a:defRPr sz="1200"/>
            </a:lvl4pPr>
            <a:lvl5pPr marL="1543050" indent="-168275">
              <a:tabLst/>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a:xfrm>
            <a:off x="4829634" y="837045"/>
            <a:ext cx="3971467" cy="747351"/>
          </a:xfrm>
          <a:prstGeom prst="rect">
            <a:avLst/>
          </a:prstGeom>
        </p:spPr>
        <p:txBody>
          <a:bodyPr anchor="b">
            <a:noAutofit/>
          </a:bodyPr>
          <a:lstStyle>
            <a:lvl1pPr>
              <a:defRPr sz="2400">
                <a:solidFill>
                  <a:schemeClr val="tx1"/>
                </a:solidFill>
              </a:defRPr>
            </a:lvl1pPr>
          </a:lstStyle>
          <a:p>
            <a:r>
              <a:rPr lang="en-US"/>
              <a:t>Click to Edit Master Title Style</a:t>
            </a:r>
          </a:p>
        </p:txBody>
      </p:sp>
      <p:sp>
        <p:nvSpPr>
          <p:cNvPr id="3" name="Footer Placeholder 2">
            <a:extLst>
              <a:ext uri="{FF2B5EF4-FFF2-40B4-BE49-F238E27FC236}">
                <a16:creationId xmlns:a16="http://schemas.microsoft.com/office/drawing/2014/main" id="{8FED5595-918E-A44C-820B-04E6188796E7}"/>
              </a:ext>
            </a:extLst>
          </p:cNvPr>
          <p:cNvSpPr>
            <a:spLocks noGrp="1"/>
          </p:cNvSpPr>
          <p:nvPr>
            <p:ph type="ftr" sz="quarter" idx="11"/>
          </p:nvPr>
        </p:nvSpPr>
        <p:spPr/>
        <p:txBody>
          <a:bodyPr/>
          <a:lstStyle>
            <a:lvl1pPr>
              <a:defRPr>
                <a:solidFill>
                  <a:schemeClr val="tx2">
                    <a:lumMod val="60000"/>
                    <a:lumOff val="40000"/>
                  </a:schemeClr>
                </a:solidFill>
              </a:defRPr>
            </a:lvl1pPr>
          </a:lstStyle>
          <a:p>
            <a:r>
              <a:rPr lang="en-US"/>
              <a:t>© Scaled Agile, Inc.</a:t>
            </a:r>
          </a:p>
        </p:txBody>
      </p:sp>
      <p:sp>
        <p:nvSpPr>
          <p:cNvPr id="4" name="Slide Number Placeholder 3">
            <a:extLst>
              <a:ext uri="{FF2B5EF4-FFF2-40B4-BE49-F238E27FC236}">
                <a16:creationId xmlns:a16="http://schemas.microsoft.com/office/drawing/2014/main" id="{69DAD039-418E-6E48-B764-66DB5B65190B}"/>
              </a:ext>
            </a:extLst>
          </p:cNvPr>
          <p:cNvSpPr>
            <a:spLocks noGrp="1"/>
          </p:cNvSpPr>
          <p:nvPr>
            <p:ph type="sldNum" sz="quarter" idx="12"/>
          </p:nvPr>
        </p:nvSpPr>
        <p:spPr/>
        <p:txBody>
          <a:bodyPr/>
          <a:lstStyle>
            <a:lvl1pPr>
              <a:defRPr>
                <a:solidFill>
                  <a:schemeClr val="tx2">
                    <a:lumMod val="60000"/>
                    <a:lumOff val="40000"/>
                  </a:schemeClr>
                </a:solidFill>
              </a:defRPr>
            </a:lvl1pPr>
          </a:lstStyle>
          <a:p>
            <a:r>
              <a:rPr lang="en-US"/>
              <a:t>- </a:t>
            </a:r>
            <a:fld id="{C21C29FA-D81F-9D40-A402-D660C1847F79}" type="slidenum">
              <a:rPr lang="en-US" smtClean="0"/>
              <a:pPr/>
              <a:t>‹#›</a:t>
            </a:fld>
            <a:r>
              <a:rPr lang="en-US"/>
              <a:t> -</a:t>
            </a:r>
          </a:p>
        </p:txBody>
      </p:sp>
    </p:spTree>
    <p:extLst>
      <p:ext uri="{BB962C8B-B14F-4D97-AF65-F5344CB8AC3E}">
        <p14:creationId xmlns:p14="http://schemas.microsoft.com/office/powerpoint/2010/main" val="3789964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Half Content - Revers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29634" y="837045"/>
            <a:ext cx="3971467" cy="747351"/>
          </a:xfrm>
          <a:prstGeom prst="rect">
            <a:avLst/>
          </a:prstGeom>
        </p:spPr>
        <p:txBody>
          <a:bodyPr anchor="b">
            <a:noAutofit/>
          </a:bodyPr>
          <a:lstStyle>
            <a:lvl1pPr>
              <a:defRPr sz="2400">
                <a:solidFill>
                  <a:schemeClr val="bg1"/>
                </a:solidFill>
              </a:defRPr>
            </a:lvl1pPr>
          </a:lstStyle>
          <a:p>
            <a:r>
              <a:rPr lang="en-US"/>
              <a:t>Click to Edit Master Title Style</a:t>
            </a:r>
          </a:p>
        </p:txBody>
      </p:sp>
      <p:sp>
        <p:nvSpPr>
          <p:cNvPr id="3" name="Footer Placeholder 2">
            <a:extLst>
              <a:ext uri="{FF2B5EF4-FFF2-40B4-BE49-F238E27FC236}">
                <a16:creationId xmlns:a16="http://schemas.microsoft.com/office/drawing/2014/main" id="{8FED5595-918E-A44C-820B-04E6188796E7}"/>
              </a:ext>
            </a:extLst>
          </p:cNvPr>
          <p:cNvSpPr>
            <a:spLocks noGrp="1"/>
          </p:cNvSpPr>
          <p:nvPr>
            <p:ph type="ftr" sz="quarter" idx="11"/>
          </p:nvPr>
        </p:nvSpPr>
        <p:spPr/>
        <p:txBody>
          <a:bodyPr/>
          <a:lstStyle>
            <a:lvl1pPr>
              <a:defRPr>
                <a:solidFill>
                  <a:schemeClr val="bg1">
                    <a:alpha val="50000"/>
                  </a:schemeClr>
                </a:solidFill>
              </a:defRPr>
            </a:lvl1pPr>
          </a:lstStyle>
          <a:p>
            <a:r>
              <a:rPr lang="en-US"/>
              <a:t>© Scaled Agile, Inc.</a:t>
            </a:r>
          </a:p>
        </p:txBody>
      </p:sp>
      <p:sp>
        <p:nvSpPr>
          <p:cNvPr id="4" name="Slide Number Placeholder 3">
            <a:extLst>
              <a:ext uri="{FF2B5EF4-FFF2-40B4-BE49-F238E27FC236}">
                <a16:creationId xmlns:a16="http://schemas.microsoft.com/office/drawing/2014/main" id="{69DAD039-418E-6E48-B764-66DB5B65190B}"/>
              </a:ext>
            </a:extLst>
          </p:cNvPr>
          <p:cNvSpPr>
            <a:spLocks noGrp="1"/>
          </p:cNvSpPr>
          <p:nvPr>
            <p:ph type="sldNum" sz="quarter" idx="12"/>
          </p:nvPr>
        </p:nvSpPr>
        <p:spPr/>
        <p:txBody>
          <a:bodyPr/>
          <a:lstStyle>
            <a:lvl1pPr>
              <a:defRPr>
                <a:solidFill>
                  <a:schemeClr val="bg1">
                    <a:alpha val="50000"/>
                  </a:schemeClr>
                </a:solidFill>
              </a:defRPr>
            </a:lvl1pPr>
          </a:lstStyle>
          <a:p>
            <a:r>
              <a:rPr lang="en-US"/>
              <a:t>- </a:t>
            </a:r>
            <a:fld id="{C21C29FA-D81F-9D40-A402-D660C1847F79}" type="slidenum">
              <a:rPr lang="en-US" smtClean="0"/>
              <a:pPr/>
              <a:t>‹#›</a:t>
            </a:fld>
            <a:r>
              <a:rPr lang="en-US"/>
              <a:t> -</a:t>
            </a:r>
          </a:p>
        </p:txBody>
      </p:sp>
      <p:sp>
        <p:nvSpPr>
          <p:cNvPr id="6" name="Content Placeholder 13">
            <a:extLst>
              <a:ext uri="{FF2B5EF4-FFF2-40B4-BE49-F238E27FC236}">
                <a16:creationId xmlns:a16="http://schemas.microsoft.com/office/drawing/2014/main" id="{D14ADE32-28DB-A84E-A5D1-EEC232912608}"/>
              </a:ext>
            </a:extLst>
          </p:cNvPr>
          <p:cNvSpPr>
            <a:spLocks noGrp="1"/>
          </p:cNvSpPr>
          <p:nvPr>
            <p:ph sz="quarter" idx="10"/>
          </p:nvPr>
        </p:nvSpPr>
        <p:spPr>
          <a:xfrm>
            <a:off x="4829633" y="1729979"/>
            <a:ext cx="3971467" cy="1484124"/>
          </a:xfrm>
          <a:prstGeom prst="rect">
            <a:avLst/>
          </a:prstGeom>
        </p:spPr>
        <p:txBody>
          <a:bodyPr>
            <a:spAutoFit/>
          </a:bodyPr>
          <a:lstStyle>
            <a:lvl1pPr>
              <a:buClrTx/>
              <a:defRPr sz="1800">
                <a:solidFill>
                  <a:schemeClr val="bg1"/>
                </a:solidFill>
              </a:defRPr>
            </a:lvl1pPr>
            <a:lvl2pPr marL="428625" indent="-200025">
              <a:buClrTx/>
              <a:tabLst/>
              <a:defRPr sz="1400">
                <a:solidFill>
                  <a:schemeClr val="bg1"/>
                </a:solidFill>
              </a:defRPr>
            </a:lvl2pPr>
            <a:lvl3pPr marL="857250" indent="-169863">
              <a:buClrTx/>
              <a:tabLst/>
              <a:defRPr sz="1200">
                <a:solidFill>
                  <a:schemeClr val="bg1"/>
                </a:solidFill>
              </a:defRPr>
            </a:lvl3pPr>
            <a:lvl4pPr marL="1200150" indent="-168275">
              <a:buClrTx/>
              <a:tabLst/>
              <a:defRPr sz="1200">
                <a:solidFill>
                  <a:schemeClr val="bg1"/>
                </a:solidFill>
              </a:defRPr>
            </a:lvl4pPr>
            <a:lvl5pPr marL="1543050" indent="-168275">
              <a:buClrTx/>
              <a:tabLst/>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2418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87744-3B8E-EB4C-BE81-818455F9D8E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5E38466-2F94-2444-A040-D18BA319C401}"/>
              </a:ext>
            </a:extLst>
          </p:cNvPr>
          <p:cNvSpPr>
            <a:spLocks noGrp="1"/>
          </p:cNvSpPr>
          <p:nvPr>
            <p:ph type="ftr" sz="quarter" idx="10"/>
          </p:nvPr>
        </p:nvSpPr>
        <p:spPr/>
        <p:txBody>
          <a:bodyPr/>
          <a:lstStyle>
            <a:lvl1pPr>
              <a:defRPr>
                <a:solidFill>
                  <a:schemeClr val="tx2">
                    <a:lumMod val="60000"/>
                    <a:lumOff val="40000"/>
                  </a:schemeClr>
                </a:solidFill>
              </a:defRPr>
            </a:lvl1pPr>
          </a:lstStyle>
          <a:p>
            <a:r>
              <a:rPr lang="en-US"/>
              <a:t>© Scaled Agile, Inc.</a:t>
            </a:r>
          </a:p>
        </p:txBody>
      </p:sp>
      <p:sp>
        <p:nvSpPr>
          <p:cNvPr id="6" name="Slide Number Placeholder 5">
            <a:extLst>
              <a:ext uri="{FF2B5EF4-FFF2-40B4-BE49-F238E27FC236}">
                <a16:creationId xmlns:a16="http://schemas.microsoft.com/office/drawing/2014/main" id="{89BD8C60-AF59-7147-B2BB-DB1213DC12F5}"/>
              </a:ext>
            </a:extLst>
          </p:cNvPr>
          <p:cNvSpPr>
            <a:spLocks noGrp="1"/>
          </p:cNvSpPr>
          <p:nvPr>
            <p:ph type="sldNum" sz="quarter" idx="11"/>
          </p:nvPr>
        </p:nvSpPr>
        <p:spPr/>
        <p:txBody>
          <a:bodyPr/>
          <a:lstStyle>
            <a:lvl1pPr>
              <a:defRPr>
                <a:solidFill>
                  <a:schemeClr val="tx2">
                    <a:lumMod val="60000"/>
                    <a:lumOff val="40000"/>
                  </a:schemeClr>
                </a:solidFill>
              </a:defRPr>
            </a:lvl1pPr>
          </a:lstStyle>
          <a:p>
            <a:r>
              <a:rPr lang="en-US"/>
              <a:t>- </a:t>
            </a:r>
            <a:fld id="{C21C29FA-D81F-9D40-A402-D660C1847F79}" type="slidenum">
              <a:rPr lang="en-US" smtClean="0"/>
              <a:pPr/>
              <a:t>‹#›</a:t>
            </a:fld>
            <a:r>
              <a:rPr lang="en-US"/>
              <a:t> -</a:t>
            </a:r>
          </a:p>
        </p:txBody>
      </p:sp>
    </p:spTree>
    <p:extLst>
      <p:ext uri="{BB962C8B-B14F-4D97-AF65-F5344CB8AC3E}">
        <p14:creationId xmlns:p14="http://schemas.microsoft.com/office/powerpoint/2010/main" val="2127600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 Revers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87744-3B8E-EB4C-BE81-818455F9D8E5}"/>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Footer Placeholder 2">
            <a:extLst>
              <a:ext uri="{FF2B5EF4-FFF2-40B4-BE49-F238E27FC236}">
                <a16:creationId xmlns:a16="http://schemas.microsoft.com/office/drawing/2014/main" id="{95461225-6834-6747-B0F7-15045BAA8353}"/>
              </a:ext>
            </a:extLst>
          </p:cNvPr>
          <p:cNvSpPr>
            <a:spLocks noGrp="1"/>
          </p:cNvSpPr>
          <p:nvPr>
            <p:ph type="ftr" sz="quarter" idx="10"/>
          </p:nvPr>
        </p:nvSpPr>
        <p:spPr/>
        <p:txBody>
          <a:bodyPr/>
          <a:lstStyle>
            <a:lvl1pPr>
              <a:defRPr>
                <a:solidFill>
                  <a:schemeClr val="bg1">
                    <a:alpha val="50000"/>
                  </a:schemeClr>
                </a:solidFill>
              </a:defRPr>
            </a:lvl1pPr>
          </a:lstStyle>
          <a:p>
            <a:r>
              <a:rPr lang="en-US"/>
              <a:t>© Scaled Agile, Inc.</a:t>
            </a:r>
          </a:p>
        </p:txBody>
      </p:sp>
      <p:sp>
        <p:nvSpPr>
          <p:cNvPr id="4" name="Slide Number Placeholder 3">
            <a:extLst>
              <a:ext uri="{FF2B5EF4-FFF2-40B4-BE49-F238E27FC236}">
                <a16:creationId xmlns:a16="http://schemas.microsoft.com/office/drawing/2014/main" id="{31E59C70-7E93-6B49-8B25-D6A03545C070}"/>
              </a:ext>
            </a:extLst>
          </p:cNvPr>
          <p:cNvSpPr>
            <a:spLocks noGrp="1"/>
          </p:cNvSpPr>
          <p:nvPr>
            <p:ph type="sldNum" sz="quarter" idx="11"/>
          </p:nvPr>
        </p:nvSpPr>
        <p:spPr/>
        <p:txBody>
          <a:bodyPr/>
          <a:lstStyle>
            <a:lvl1pPr>
              <a:defRPr>
                <a:solidFill>
                  <a:schemeClr val="bg1">
                    <a:alpha val="50000"/>
                  </a:schemeClr>
                </a:solidFill>
              </a:defRPr>
            </a:lvl1pPr>
          </a:lstStyle>
          <a:p>
            <a:r>
              <a:rPr lang="en-US"/>
              <a:t>- </a:t>
            </a:r>
            <a:fld id="{C21C29FA-D81F-9D40-A402-D660C1847F79}" type="slidenum">
              <a:rPr lang="en-US" smtClean="0"/>
              <a:pPr/>
              <a:t>‹#›</a:t>
            </a:fld>
            <a:r>
              <a:rPr lang="en-US"/>
              <a:t> -</a:t>
            </a:r>
          </a:p>
        </p:txBody>
      </p:sp>
    </p:spTree>
    <p:extLst>
      <p:ext uri="{BB962C8B-B14F-4D97-AF65-F5344CB8AC3E}">
        <p14:creationId xmlns:p14="http://schemas.microsoft.com/office/powerpoint/2010/main" val="2602845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 Gray">
    <p:bg>
      <p:bgPr>
        <a:solidFill>
          <a:srgbClr val="695CA8"/>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FB7F5E7-EEE1-564F-975C-0175AB4A0B77}"/>
              </a:ext>
            </a:extLst>
          </p:cNvPr>
          <p:cNvSpPr>
            <a:spLocks noGrp="1"/>
          </p:cNvSpPr>
          <p:nvPr>
            <p:ph type="ftr" sz="quarter" idx="10"/>
          </p:nvPr>
        </p:nvSpPr>
        <p:spPr/>
        <p:txBody>
          <a:bodyPr/>
          <a:lstStyle>
            <a:lvl1pPr>
              <a:defRPr>
                <a:solidFill>
                  <a:schemeClr val="bg1">
                    <a:alpha val="50000"/>
                  </a:schemeClr>
                </a:solidFill>
              </a:defRPr>
            </a:lvl1pPr>
          </a:lstStyle>
          <a:p>
            <a:r>
              <a:rPr lang="en-US"/>
              <a:t>© Scaled Agile, Inc.</a:t>
            </a:r>
          </a:p>
        </p:txBody>
      </p:sp>
      <p:sp>
        <p:nvSpPr>
          <p:cNvPr id="3" name="Slide Number Placeholder 2">
            <a:extLst>
              <a:ext uri="{FF2B5EF4-FFF2-40B4-BE49-F238E27FC236}">
                <a16:creationId xmlns:a16="http://schemas.microsoft.com/office/drawing/2014/main" id="{63B0F89B-49FE-B74B-8EF1-C7053A23BEA9}"/>
              </a:ext>
            </a:extLst>
          </p:cNvPr>
          <p:cNvSpPr>
            <a:spLocks noGrp="1"/>
          </p:cNvSpPr>
          <p:nvPr>
            <p:ph type="sldNum" sz="quarter" idx="11"/>
          </p:nvPr>
        </p:nvSpPr>
        <p:spPr/>
        <p:txBody>
          <a:bodyPr/>
          <a:lstStyle>
            <a:lvl1pPr>
              <a:defRPr>
                <a:solidFill>
                  <a:schemeClr val="bg1">
                    <a:alpha val="50000"/>
                  </a:schemeClr>
                </a:solidFill>
              </a:defRPr>
            </a:lvl1pPr>
          </a:lstStyle>
          <a:p>
            <a:r>
              <a:rPr lang="en-US"/>
              <a:t>- </a:t>
            </a:r>
            <a:fld id="{C21C29FA-D81F-9D40-A402-D660C1847F79}" type="slidenum">
              <a:rPr lang="en-US" smtClean="0"/>
              <a:pPr/>
              <a:t>‹#›</a:t>
            </a:fld>
            <a:r>
              <a:rPr lang="en-US"/>
              <a:t> -</a:t>
            </a:r>
          </a:p>
        </p:txBody>
      </p:sp>
      <p:sp>
        <p:nvSpPr>
          <p:cNvPr id="5" name="Title 1">
            <a:extLst>
              <a:ext uri="{FF2B5EF4-FFF2-40B4-BE49-F238E27FC236}">
                <a16:creationId xmlns:a16="http://schemas.microsoft.com/office/drawing/2014/main" id="{0BDCA03E-DDCE-229E-00E0-FF494E4D4076}"/>
              </a:ext>
            </a:extLst>
          </p:cNvPr>
          <p:cNvSpPr>
            <a:spLocks noGrp="1"/>
          </p:cNvSpPr>
          <p:nvPr>
            <p:ph type="title"/>
          </p:nvPr>
        </p:nvSpPr>
        <p:spPr>
          <a:xfrm>
            <a:off x="342899" y="124182"/>
            <a:ext cx="8461985" cy="714664"/>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13354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Blank - Gray">
    <p:bg>
      <p:bgPr>
        <a:solidFill>
          <a:srgbClr val="8ACBC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FB7F5E7-EEE1-564F-975C-0175AB4A0B77}"/>
              </a:ext>
            </a:extLst>
          </p:cNvPr>
          <p:cNvSpPr>
            <a:spLocks noGrp="1"/>
          </p:cNvSpPr>
          <p:nvPr>
            <p:ph type="ftr" sz="quarter" idx="10"/>
          </p:nvPr>
        </p:nvSpPr>
        <p:spPr/>
        <p:txBody>
          <a:bodyPr/>
          <a:lstStyle>
            <a:lvl1pPr>
              <a:defRPr>
                <a:solidFill>
                  <a:schemeClr val="bg1">
                    <a:alpha val="50000"/>
                  </a:schemeClr>
                </a:solidFill>
              </a:defRPr>
            </a:lvl1pPr>
          </a:lstStyle>
          <a:p>
            <a:r>
              <a:rPr lang="en-US"/>
              <a:t>© Scaled Agile, Inc.</a:t>
            </a:r>
          </a:p>
        </p:txBody>
      </p:sp>
      <p:sp>
        <p:nvSpPr>
          <p:cNvPr id="3" name="Slide Number Placeholder 2">
            <a:extLst>
              <a:ext uri="{FF2B5EF4-FFF2-40B4-BE49-F238E27FC236}">
                <a16:creationId xmlns:a16="http://schemas.microsoft.com/office/drawing/2014/main" id="{63B0F89B-49FE-B74B-8EF1-C7053A23BEA9}"/>
              </a:ext>
            </a:extLst>
          </p:cNvPr>
          <p:cNvSpPr>
            <a:spLocks noGrp="1"/>
          </p:cNvSpPr>
          <p:nvPr>
            <p:ph type="sldNum" sz="quarter" idx="11"/>
          </p:nvPr>
        </p:nvSpPr>
        <p:spPr/>
        <p:txBody>
          <a:bodyPr/>
          <a:lstStyle>
            <a:lvl1pPr>
              <a:defRPr>
                <a:solidFill>
                  <a:schemeClr val="bg1">
                    <a:alpha val="50000"/>
                  </a:schemeClr>
                </a:solidFill>
              </a:defRPr>
            </a:lvl1pPr>
          </a:lstStyle>
          <a:p>
            <a:r>
              <a:rPr lang="en-US"/>
              <a:t>- </a:t>
            </a:r>
            <a:fld id="{C21C29FA-D81F-9D40-A402-D660C1847F79}" type="slidenum">
              <a:rPr lang="en-US" smtClean="0"/>
              <a:pPr/>
              <a:t>‹#›</a:t>
            </a:fld>
            <a:r>
              <a:rPr lang="en-US"/>
              <a:t> -</a:t>
            </a:r>
          </a:p>
        </p:txBody>
      </p:sp>
      <p:sp>
        <p:nvSpPr>
          <p:cNvPr id="4" name="Title 1">
            <a:extLst>
              <a:ext uri="{FF2B5EF4-FFF2-40B4-BE49-F238E27FC236}">
                <a16:creationId xmlns:a16="http://schemas.microsoft.com/office/drawing/2014/main" id="{565A6566-42CC-5829-6202-E63A63A49A9A}"/>
              </a:ext>
            </a:extLst>
          </p:cNvPr>
          <p:cNvSpPr>
            <a:spLocks noGrp="1"/>
          </p:cNvSpPr>
          <p:nvPr>
            <p:ph type="title"/>
          </p:nvPr>
        </p:nvSpPr>
        <p:spPr>
          <a:xfrm>
            <a:off x="342899" y="124182"/>
            <a:ext cx="8461985" cy="714664"/>
          </a:xfrm>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365206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Blank - Gray">
    <p:bg>
      <p:bgPr>
        <a:solidFill>
          <a:srgbClr val="043846"/>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FB7F5E7-EEE1-564F-975C-0175AB4A0B77}"/>
              </a:ext>
            </a:extLst>
          </p:cNvPr>
          <p:cNvSpPr>
            <a:spLocks noGrp="1"/>
          </p:cNvSpPr>
          <p:nvPr>
            <p:ph type="ftr" sz="quarter" idx="10"/>
          </p:nvPr>
        </p:nvSpPr>
        <p:spPr/>
        <p:txBody>
          <a:bodyPr/>
          <a:lstStyle>
            <a:lvl1pPr>
              <a:defRPr>
                <a:solidFill>
                  <a:schemeClr val="bg1">
                    <a:alpha val="50000"/>
                  </a:schemeClr>
                </a:solidFill>
              </a:defRPr>
            </a:lvl1pPr>
          </a:lstStyle>
          <a:p>
            <a:r>
              <a:rPr lang="en-US"/>
              <a:t>© Scaled Agile, Inc.</a:t>
            </a:r>
          </a:p>
        </p:txBody>
      </p:sp>
      <p:sp>
        <p:nvSpPr>
          <p:cNvPr id="3" name="Slide Number Placeholder 2">
            <a:extLst>
              <a:ext uri="{FF2B5EF4-FFF2-40B4-BE49-F238E27FC236}">
                <a16:creationId xmlns:a16="http://schemas.microsoft.com/office/drawing/2014/main" id="{63B0F89B-49FE-B74B-8EF1-C7053A23BEA9}"/>
              </a:ext>
            </a:extLst>
          </p:cNvPr>
          <p:cNvSpPr>
            <a:spLocks noGrp="1"/>
          </p:cNvSpPr>
          <p:nvPr>
            <p:ph type="sldNum" sz="quarter" idx="11"/>
          </p:nvPr>
        </p:nvSpPr>
        <p:spPr/>
        <p:txBody>
          <a:bodyPr/>
          <a:lstStyle>
            <a:lvl1pPr>
              <a:defRPr>
                <a:solidFill>
                  <a:schemeClr val="bg1">
                    <a:alpha val="50000"/>
                  </a:schemeClr>
                </a:solidFill>
              </a:defRPr>
            </a:lvl1pPr>
          </a:lstStyle>
          <a:p>
            <a:r>
              <a:rPr lang="en-US"/>
              <a:t>- </a:t>
            </a:r>
            <a:fld id="{C21C29FA-D81F-9D40-A402-D660C1847F79}" type="slidenum">
              <a:rPr lang="en-US" smtClean="0"/>
              <a:pPr/>
              <a:t>‹#›</a:t>
            </a:fld>
            <a:r>
              <a:rPr lang="en-US"/>
              <a:t> -</a:t>
            </a:r>
          </a:p>
        </p:txBody>
      </p:sp>
      <p:sp>
        <p:nvSpPr>
          <p:cNvPr id="4" name="Title 1">
            <a:extLst>
              <a:ext uri="{FF2B5EF4-FFF2-40B4-BE49-F238E27FC236}">
                <a16:creationId xmlns:a16="http://schemas.microsoft.com/office/drawing/2014/main" id="{DE2F705C-7897-7FB5-AEAD-28A4EF75C19B}"/>
              </a:ext>
            </a:extLst>
          </p:cNvPr>
          <p:cNvSpPr>
            <a:spLocks noGrp="1"/>
          </p:cNvSpPr>
          <p:nvPr>
            <p:ph type="title"/>
          </p:nvPr>
        </p:nvSpPr>
        <p:spPr>
          <a:xfrm>
            <a:off x="342899" y="124182"/>
            <a:ext cx="8461985" cy="714664"/>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746508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Line Graph Example">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5E38466-2F94-2444-A040-D18BA319C401}"/>
              </a:ext>
            </a:extLst>
          </p:cNvPr>
          <p:cNvSpPr>
            <a:spLocks noGrp="1"/>
          </p:cNvSpPr>
          <p:nvPr>
            <p:ph type="ftr" sz="quarter" idx="10"/>
          </p:nvPr>
        </p:nvSpPr>
        <p:spPr/>
        <p:txBody>
          <a:bodyPr/>
          <a:lstStyle>
            <a:lvl1pPr>
              <a:defRPr>
                <a:solidFill>
                  <a:schemeClr val="tx2">
                    <a:lumMod val="60000"/>
                    <a:lumOff val="40000"/>
                  </a:schemeClr>
                </a:solidFill>
              </a:defRPr>
            </a:lvl1pPr>
          </a:lstStyle>
          <a:p>
            <a:r>
              <a:rPr lang="en-US"/>
              <a:t>© Scaled Agile, Inc.</a:t>
            </a:r>
          </a:p>
        </p:txBody>
      </p:sp>
      <p:sp>
        <p:nvSpPr>
          <p:cNvPr id="6" name="Slide Number Placeholder 5">
            <a:extLst>
              <a:ext uri="{FF2B5EF4-FFF2-40B4-BE49-F238E27FC236}">
                <a16:creationId xmlns:a16="http://schemas.microsoft.com/office/drawing/2014/main" id="{89BD8C60-AF59-7147-B2BB-DB1213DC12F5}"/>
              </a:ext>
            </a:extLst>
          </p:cNvPr>
          <p:cNvSpPr>
            <a:spLocks noGrp="1"/>
          </p:cNvSpPr>
          <p:nvPr>
            <p:ph type="sldNum" sz="quarter" idx="11"/>
          </p:nvPr>
        </p:nvSpPr>
        <p:spPr/>
        <p:txBody>
          <a:bodyPr/>
          <a:lstStyle>
            <a:lvl1pPr>
              <a:defRPr>
                <a:solidFill>
                  <a:schemeClr val="tx2">
                    <a:lumMod val="60000"/>
                    <a:lumOff val="40000"/>
                  </a:schemeClr>
                </a:solidFill>
              </a:defRPr>
            </a:lvl1pPr>
          </a:lstStyle>
          <a:p>
            <a:r>
              <a:rPr lang="en-US"/>
              <a:t>- </a:t>
            </a:r>
            <a:fld id="{C21C29FA-D81F-9D40-A402-D660C1847F79}" type="slidenum">
              <a:rPr lang="en-US" smtClean="0"/>
              <a:pPr/>
              <a:t>‹#›</a:t>
            </a:fld>
            <a:r>
              <a:rPr lang="en-US"/>
              <a:t> -</a:t>
            </a:r>
          </a:p>
        </p:txBody>
      </p:sp>
      <p:sp>
        <p:nvSpPr>
          <p:cNvPr id="7" name="Rectangle 6">
            <a:extLst>
              <a:ext uri="{FF2B5EF4-FFF2-40B4-BE49-F238E27FC236}">
                <a16:creationId xmlns:a16="http://schemas.microsoft.com/office/drawing/2014/main" id="{F0827F35-969F-4849-8744-F361D98D5615}"/>
              </a:ext>
            </a:extLst>
          </p:cNvPr>
          <p:cNvSpPr/>
          <p:nvPr userDrawn="1"/>
        </p:nvSpPr>
        <p:spPr>
          <a:xfrm>
            <a:off x="6033247" y="0"/>
            <a:ext cx="3110753" cy="51435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solidFill>
                <a:schemeClr val="accent6"/>
              </a:solidFill>
            </a:endParaRPr>
          </a:p>
        </p:txBody>
      </p:sp>
      <p:graphicFrame>
        <p:nvGraphicFramePr>
          <p:cNvPr id="9" name="Content Placeholder 3">
            <a:extLst>
              <a:ext uri="{FF2B5EF4-FFF2-40B4-BE49-F238E27FC236}">
                <a16:creationId xmlns:a16="http://schemas.microsoft.com/office/drawing/2014/main" id="{10BCDEF0-F3CA-414F-BECC-12ACD1621567}"/>
              </a:ext>
            </a:extLst>
          </p:cNvPr>
          <p:cNvGraphicFramePr>
            <a:graphicFrameLocks/>
          </p:cNvGraphicFramePr>
          <p:nvPr userDrawn="1"/>
        </p:nvGraphicFramePr>
        <p:xfrm>
          <a:off x="0" y="642174"/>
          <a:ext cx="6033247" cy="4222993"/>
        </p:xfrm>
        <a:graphic>
          <a:graphicData uri="http://schemas.openxmlformats.org/drawingml/2006/chart">
            <c:chart xmlns:c="http://schemas.openxmlformats.org/drawingml/2006/chart" xmlns:r="http://schemas.openxmlformats.org/officeDocument/2006/relationships" r:id="rId2"/>
          </a:graphicData>
        </a:graphic>
      </p:graphicFrame>
      <p:sp>
        <p:nvSpPr>
          <p:cNvPr id="10" name="Slide Number Placeholder 4">
            <a:extLst>
              <a:ext uri="{FF2B5EF4-FFF2-40B4-BE49-F238E27FC236}">
                <a16:creationId xmlns:a16="http://schemas.microsoft.com/office/drawing/2014/main" id="{927D368F-10AB-0542-BC79-BCEF473078E1}"/>
              </a:ext>
            </a:extLst>
          </p:cNvPr>
          <p:cNvSpPr txBox="1">
            <a:spLocks/>
          </p:cNvSpPr>
          <p:nvPr userDrawn="1"/>
        </p:nvSpPr>
        <p:spPr>
          <a:xfrm>
            <a:off x="8369007" y="4768925"/>
            <a:ext cx="432093" cy="264757"/>
          </a:xfrm>
          <a:prstGeom prst="rect">
            <a:avLst/>
          </a:prstGeom>
        </p:spPr>
        <p:txBody>
          <a:bodyPr vert="horz" lIns="91440" tIns="45720" rIns="91440" bIns="45720" rtlCol="0" anchor="ctr"/>
          <a:lstStyle>
            <a:defPPr>
              <a:defRPr lang="en-US"/>
            </a:defPPr>
            <a:lvl1pPr marL="0" algn="r" defTabSz="914400" rtl="0" eaLnBrk="1" latinLnBrk="0" hangingPunct="1">
              <a:defRPr sz="700" kern="1200">
                <a:solidFill>
                  <a:schemeClr val="tx2">
                    <a:lumMod val="60000"/>
                    <a:lumOff val="4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alpha val="50000"/>
                  </a:schemeClr>
                </a:solidFill>
              </a:rPr>
              <a:t>- </a:t>
            </a:r>
            <a:fld id="{C21C29FA-D81F-9D40-A402-D660C1847F79}" type="slidenum">
              <a:rPr lang="en-US" smtClean="0">
                <a:solidFill>
                  <a:schemeClr val="bg1">
                    <a:alpha val="50000"/>
                  </a:schemeClr>
                </a:solidFill>
              </a:rPr>
              <a:pPr/>
              <a:t>‹#›</a:t>
            </a:fld>
            <a:r>
              <a:rPr lang="en-US">
                <a:solidFill>
                  <a:schemeClr val="bg1">
                    <a:alpha val="50000"/>
                  </a:schemeClr>
                </a:solidFill>
              </a:rPr>
              <a:t> -</a:t>
            </a:r>
          </a:p>
        </p:txBody>
      </p:sp>
      <p:sp>
        <p:nvSpPr>
          <p:cNvPr id="11" name="Title 5">
            <a:extLst>
              <a:ext uri="{FF2B5EF4-FFF2-40B4-BE49-F238E27FC236}">
                <a16:creationId xmlns:a16="http://schemas.microsoft.com/office/drawing/2014/main" id="{F5BC0598-E8E6-184D-97A1-8AE995F2C6B5}"/>
              </a:ext>
            </a:extLst>
          </p:cNvPr>
          <p:cNvSpPr>
            <a:spLocks noGrp="1"/>
          </p:cNvSpPr>
          <p:nvPr>
            <p:ph type="title" hasCustomPrompt="1"/>
          </p:nvPr>
        </p:nvSpPr>
        <p:spPr>
          <a:xfrm>
            <a:off x="342900" y="124182"/>
            <a:ext cx="5516294" cy="714664"/>
          </a:xfrm>
        </p:spPr>
        <p:txBody>
          <a:bodyPr/>
          <a:lstStyle/>
          <a:p>
            <a:r>
              <a:rPr lang="en-US"/>
              <a:t>Line Graph Example</a:t>
            </a:r>
          </a:p>
        </p:txBody>
      </p:sp>
      <p:sp>
        <p:nvSpPr>
          <p:cNvPr id="4" name="Text Placeholder 3">
            <a:extLst>
              <a:ext uri="{FF2B5EF4-FFF2-40B4-BE49-F238E27FC236}">
                <a16:creationId xmlns:a16="http://schemas.microsoft.com/office/drawing/2014/main" id="{93C8D514-386F-DE41-8CD2-AEB77741BB47}"/>
              </a:ext>
            </a:extLst>
          </p:cNvPr>
          <p:cNvSpPr>
            <a:spLocks noGrp="1"/>
          </p:cNvSpPr>
          <p:nvPr>
            <p:ph type="body" sz="quarter" idx="12"/>
          </p:nvPr>
        </p:nvSpPr>
        <p:spPr>
          <a:xfrm>
            <a:off x="6429375" y="1273175"/>
            <a:ext cx="2371725" cy="1856534"/>
          </a:xfrm>
        </p:spPr>
        <p:txBody>
          <a:bodyPr>
            <a:noAutofit/>
          </a:bodyPr>
          <a:lstStyle>
            <a:lvl1pPr>
              <a:buClrTx/>
              <a:defRPr sz="1400">
                <a:solidFill>
                  <a:schemeClr val="bg2"/>
                </a:solidFill>
              </a:defRPr>
            </a:lvl1pPr>
            <a:lvl2pPr>
              <a:buClrTx/>
              <a:defRPr sz="1200">
                <a:solidFill>
                  <a:schemeClr val="bg2"/>
                </a:solidFill>
              </a:defRPr>
            </a:lvl2pPr>
            <a:lvl3pPr>
              <a:buClrTx/>
              <a:defRPr sz="1200">
                <a:solidFill>
                  <a:schemeClr val="bg2"/>
                </a:solidFill>
              </a:defRPr>
            </a:lvl3pPr>
            <a:lvl4pPr>
              <a:buClrTx/>
              <a:defRPr sz="1200">
                <a:solidFill>
                  <a:schemeClr val="bg2"/>
                </a:solidFill>
              </a:defRPr>
            </a:lvl4pPr>
            <a:lvl5pPr>
              <a:buClrTx/>
              <a:defRPr sz="12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649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Pie Chart Example">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5E38466-2F94-2444-A040-D18BA319C401}"/>
              </a:ext>
            </a:extLst>
          </p:cNvPr>
          <p:cNvSpPr>
            <a:spLocks noGrp="1"/>
          </p:cNvSpPr>
          <p:nvPr>
            <p:ph type="ftr" sz="quarter" idx="10"/>
          </p:nvPr>
        </p:nvSpPr>
        <p:spPr/>
        <p:txBody>
          <a:bodyPr/>
          <a:lstStyle>
            <a:lvl1pPr>
              <a:defRPr>
                <a:solidFill>
                  <a:schemeClr val="tx2">
                    <a:lumMod val="60000"/>
                    <a:lumOff val="40000"/>
                  </a:schemeClr>
                </a:solidFill>
              </a:defRPr>
            </a:lvl1pPr>
          </a:lstStyle>
          <a:p>
            <a:r>
              <a:rPr lang="en-US"/>
              <a:t>© Scaled Agile, Inc.</a:t>
            </a:r>
          </a:p>
        </p:txBody>
      </p:sp>
      <p:sp>
        <p:nvSpPr>
          <p:cNvPr id="6" name="Slide Number Placeholder 5">
            <a:extLst>
              <a:ext uri="{FF2B5EF4-FFF2-40B4-BE49-F238E27FC236}">
                <a16:creationId xmlns:a16="http://schemas.microsoft.com/office/drawing/2014/main" id="{89BD8C60-AF59-7147-B2BB-DB1213DC12F5}"/>
              </a:ext>
            </a:extLst>
          </p:cNvPr>
          <p:cNvSpPr>
            <a:spLocks noGrp="1"/>
          </p:cNvSpPr>
          <p:nvPr>
            <p:ph type="sldNum" sz="quarter" idx="11"/>
          </p:nvPr>
        </p:nvSpPr>
        <p:spPr/>
        <p:txBody>
          <a:bodyPr/>
          <a:lstStyle>
            <a:lvl1pPr>
              <a:defRPr>
                <a:solidFill>
                  <a:schemeClr val="tx2">
                    <a:lumMod val="60000"/>
                    <a:lumOff val="40000"/>
                  </a:schemeClr>
                </a:solidFill>
              </a:defRPr>
            </a:lvl1pPr>
          </a:lstStyle>
          <a:p>
            <a:r>
              <a:rPr lang="en-US"/>
              <a:t>- </a:t>
            </a:r>
            <a:fld id="{C21C29FA-D81F-9D40-A402-D660C1847F79}" type="slidenum">
              <a:rPr lang="en-US" smtClean="0"/>
              <a:pPr/>
              <a:t>‹#›</a:t>
            </a:fld>
            <a:r>
              <a:rPr lang="en-US"/>
              <a:t> -</a:t>
            </a:r>
          </a:p>
        </p:txBody>
      </p:sp>
      <p:sp>
        <p:nvSpPr>
          <p:cNvPr id="7" name="Rectangle 6">
            <a:extLst>
              <a:ext uri="{FF2B5EF4-FFF2-40B4-BE49-F238E27FC236}">
                <a16:creationId xmlns:a16="http://schemas.microsoft.com/office/drawing/2014/main" id="{48872F8D-07F0-D646-9711-B6476D725735}"/>
              </a:ext>
            </a:extLst>
          </p:cNvPr>
          <p:cNvSpPr/>
          <p:nvPr userDrawn="1"/>
        </p:nvSpPr>
        <p:spPr>
          <a:xfrm>
            <a:off x="6033247" y="0"/>
            <a:ext cx="3110753" cy="5143500"/>
          </a:xfrm>
          <a:prstGeom prst="rect">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solidFill>
                <a:schemeClr val="accent6"/>
              </a:solidFill>
            </a:endParaRPr>
          </a:p>
        </p:txBody>
      </p:sp>
      <p:graphicFrame>
        <p:nvGraphicFramePr>
          <p:cNvPr id="9" name="Content Placeholder 5">
            <a:extLst>
              <a:ext uri="{FF2B5EF4-FFF2-40B4-BE49-F238E27FC236}">
                <a16:creationId xmlns:a16="http://schemas.microsoft.com/office/drawing/2014/main" id="{6F50D63A-12A2-6E4C-B16D-53E62A7BC2D7}"/>
              </a:ext>
            </a:extLst>
          </p:cNvPr>
          <p:cNvGraphicFramePr>
            <a:graphicFrameLocks/>
          </p:cNvGraphicFramePr>
          <p:nvPr userDrawn="1"/>
        </p:nvGraphicFramePr>
        <p:xfrm>
          <a:off x="277906" y="690282"/>
          <a:ext cx="5459506" cy="3975381"/>
        </p:xfrm>
        <a:graphic>
          <a:graphicData uri="http://schemas.openxmlformats.org/drawingml/2006/chart">
            <c:chart xmlns:c="http://schemas.openxmlformats.org/drawingml/2006/chart" xmlns:r="http://schemas.openxmlformats.org/officeDocument/2006/relationships" r:id="rId2"/>
          </a:graphicData>
        </a:graphic>
      </p:graphicFrame>
      <p:sp>
        <p:nvSpPr>
          <p:cNvPr id="10" name="Slide Number Placeholder 4">
            <a:extLst>
              <a:ext uri="{FF2B5EF4-FFF2-40B4-BE49-F238E27FC236}">
                <a16:creationId xmlns:a16="http://schemas.microsoft.com/office/drawing/2014/main" id="{C2B84C2C-BCC7-D24B-B299-95886E9BBE2E}"/>
              </a:ext>
            </a:extLst>
          </p:cNvPr>
          <p:cNvSpPr txBox="1">
            <a:spLocks/>
          </p:cNvSpPr>
          <p:nvPr userDrawn="1"/>
        </p:nvSpPr>
        <p:spPr>
          <a:xfrm>
            <a:off x="8369007" y="4768925"/>
            <a:ext cx="432093" cy="264757"/>
          </a:xfrm>
          <a:prstGeom prst="rect">
            <a:avLst/>
          </a:prstGeom>
        </p:spPr>
        <p:txBody>
          <a:bodyPr vert="horz" lIns="91440" tIns="45720" rIns="91440" bIns="45720" rtlCol="0" anchor="ctr"/>
          <a:lstStyle>
            <a:defPPr>
              <a:defRPr lang="en-US"/>
            </a:defPPr>
            <a:lvl1pPr marL="0" algn="r" defTabSz="914400" rtl="0" eaLnBrk="1" latinLnBrk="0" hangingPunct="1">
              <a:defRPr sz="700" kern="1200">
                <a:solidFill>
                  <a:schemeClr val="tx2">
                    <a:lumMod val="60000"/>
                    <a:lumOff val="4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a:t>
            </a:r>
            <a:fld id="{C21C29FA-D81F-9D40-A402-D660C1847F79}" type="slidenum">
              <a:rPr lang="en-US" smtClean="0"/>
              <a:pPr/>
              <a:t>‹#›</a:t>
            </a:fld>
            <a:r>
              <a:rPr lang="en-US"/>
              <a:t> -</a:t>
            </a:r>
          </a:p>
        </p:txBody>
      </p:sp>
      <p:sp>
        <p:nvSpPr>
          <p:cNvPr id="11" name="Title 5">
            <a:extLst>
              <a:ext uri="{FF2B5EF4-FFF2-40B4-BE49-F238E27FC236}">
                <a16:creationId xmlns:a16="http://schemas.microsoft.com/office/drawing/2014/main" id="{98B01978-554C-D84D-B0F9-6BE5A8095A09}"/>
              </a:ext>
            </a:extLst>
          </p:cNvPr>
          <p:cNvSpPr>
            <a:spLocks noGrp="1"/>
          </p:cNvSpPr>
          <p:nvPr>
            <p:ph type="title" hasCustomPrompt="1"/>
          </p:nvPr>
        </p:nvSpPr>
        <p:spPr>
          <a:xfrm>
            <a:off x="342900" y="124182"/>
            <a:ext cx="5516294" cy="714664"/>
          </a:xfrm>
        </p:spPr>
        <p:txBody>
          <a:bodyPr/>
          <a:lstStyle/>
          <a:p>
            <a:r>
              <a:rPr lang="en-US"/>
              <a:t>Pie Chart Example </a:t>
            </a:r>
          </a:p>
        </p:txBody>
      </p:sp>
      <p:sp>
        <p:nvSpPr>
          <p:cNvPr id="12" name="Text Placeholder 3">
            <a:extLst>
              <a:ext uri="{FF2B5EF4-FFF2-40B4-BE49-F238E27FC236}">
                <a16:creationId xmlns:a16="http://schemas.microsoft.com/office/drawing/2014/main" id="{AB747014-A625-4E40-B010-5575EACC89BE}"/>
              </a:ext>
            </a:extLst>
          </p:cNvPr>
          <p:cNvSpPr>
            <a:spLocks noGrp="1"/>
          </p:cNvSpPr>
          <p:nvPr>
            <p:ph type="body" sz="quarter" idx="12"/>
          </p:nvPr>
        </p:nvSpPr>
        <p:spPr>
          <a:xfrm>
            <a:off x="6429375" y="1273175"/>
            <a:ext cx="2371725" cy="1856534"/>
          </a:xfrm>
        </p:spPr>
        <p:txBody>
          <a:bodyPr>
            <a:noAutofit/>
          </a:bodyPr>
          <a:lstStyle>
            <a:lvl1pPr>
              <a:buClrTx/>
              <a:defRPr sz="1400">
                <a:solidFill>
                  <a:schemeClr val="tx2"/>
                </a:solidFill>
              </a:defRPr>
            </a:lvl1pPr>
            <a:lvl2pPr>
              <a:buClrTx/>
              <a:defRPr sz="1200">
                <a:solidFill>
                  <a:schemeClr val="tx2"/>
                </a:solidFill>
              </a:defRPr>
            </a:lvl2pPr>
            <a:lvl3pPr>
              <a:buClrTx/>
              <a:defRPr sz="1200">
                <a:solidFill>
                  <a:schemeClr val="tx2"/>
                </a:solidFill>
              </a:defRPr>
            </a:lvl3pPr>
            <a:lvl4pPr>
              <a:buClrTx/>
              <a:defRPr sz="1200">
                <a:solidFill>
                  <a:schemeClr val="tx2"/>
                </a:solidFill>
              </a:defRPr>
            </a:lvl4pPr>
            <a:lvl5pPr>
              <a:buClrTx/>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67718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Bar Chart Exa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87744-3B8E-EB4C-BE81-818455F9D8E5}"/>
              </a:ext>
            </a:extLst>
          </p:cNvPr>
          <p:cNvSpPr>
            <a:spLocks noGrp="1"/>
          </p:cNvSpPr>
          <p:nvPr>
            <p:ph type="title" hasCustomPrompt="1"/>
          </p:nvPr>
        </p:nvSpPr>
        <p:spPr>
          <a:xfrm>
            <a:off x="342899" y="124182"/>
            <a:ext cx="5515207" cy="714664"/>
          </a:xfrm>
        </p:spPr>
        <p:txBody>
          <a:bodyPr/>
          <a:lstStyle>
            <a:lvl1pPr>
              <a:defRPr>
                <a:solidFill>
                  <a:schemeClr val="tx1"/>
                </a:solidFill>
              </a:defRPr>
            </a:lvl1pPr>
          </a:lstStyle>
          <a:p>
            <a:r>
              <a:rPr lang="en-US"/>
              <a:t>Bar Chart Example</a:t>
            </a:r>
          </a:p>
        </p:txBody>
      </p:sp>
      <p:sp>
        <p:nvSpPr>
          <p:cNvPr id="5" name="Footer Placeholder 4">
            <a:extLst>
              <a:ext uri="{FF2B5EF4-FFF2-40B4-BE49-F238E27FC236}">
                <a16:creationId xmlns:a16="http://schemas.microsoft.com/office/drawing/2014/main" id="{95E38466-2F94-2444-A040-D18BA319C401}"/>
              </a:ext>
            </a:extLst>
          </p:cNvPr>
          <p:cNvSpPr>
            <a:spLocks noGrp="1"/>
          </p:cNvSpPr>
          <p:nvPr>
            <p:ph type="ftr" sz="quarter" idx="10"/>
          </p:nvPr>
        </p:nvSpPr>
        <p:spPr/>
        <p:txBody>
          <a:bodyPr/>
          <a:lstStyle>
            <a:lvl1pPr>
              <a:defRPr>
                <a:solidFill>
                  <a:schemeClr val="tx2">
                    <a:lumMod val="60000"/>
                    <a:lumOff val="40000"/>
                  </a:schemeClr>
                </a:solidFill>
              </a:defRPr>
            </a:lvl1pPr>
          </a:lstStyle>
          <a:p>
            <a:r>
              <a:rPr lang="en-US"/>
              <a:t>© Scaled Agile, Inc.</a:t>
            </a:r>
          </a:p>
        </p:txBody>
      </p:sp>
      <p:sp>
        <p:nvSpPr>
          <p:cNvPr id="6" name="Slide Number Placeholder 5">
            <a:extLst>
              <a:ext uri="{FF2B5EF4-FFF2-40B4-BE49-F238E27FC236}">
                <a16:creationId xmlns:a16="http://schemas.microsoft.com/office/drawing/2014/main" id="{89BD8C60-AF59-7147-B2BB-DB1213DC12F5}"/>
              </a:ext>
            </a:extLst>
          </p:cNvPr>
          <p:cNvSpPr>
            <a:spLocks noGrp="1"/>
          </p:cNvSpPr>
          <p:nvPr>
            <p:ph type="sldNum" sz="quarter" idx="11"/>
          </p:nvPr>
        </p:nvSpPr>
        <p:spPr/>
        <p:txBody>
          <a:bodyPr/>
          <a:lstStyle>
            <a:lvl1pPr>
              <a:defRPr>
                <a:solidFill>
                  <a:schemeClr val="tx2">
                    <a:lumMod val="60000"/>
                    <a:lumOff val="40000"/>
                  </a:schemeClr>
                </a:solidFill>
              </a:defRPr>
            </a:lvl1pPr>
          </a:lstStyle>
          <a:p>
            <a:r>
              <a:rPr lang="en-US"/>
              <a:t>- </a:t>
            </a:r>
            <a:fld id="{C21C29FA-D81F-9D40-A402-D660C1847F79}" type="slidenum">
              <a:rPr lang="en-US" smtClean="0"/>
              <a:pPr/>
              <a:t>‹#›</a:t>
            </a:fld>
            <a:r>
              <a:rPr lang="en-US"/>
              <a:t> -</a:t>
            </a:r>
          </a:p>
        </p:txBody>
      </p:sp>
      <p:sp>
        <p:nvSpPr>
          <p:cNvPr id="7" name="Rectangle 6">
            <a:extLst>
              <a:ext uri="{FF2B5EF4-FFF2-40B4-BE49-F238E27FC236}">
                <a16:creationId xmlns:a16="http://schemas.microsoft.com/office/drawing/2014/main" id="{44D3C557-0A0B-7540-B30E-3C1885F0CDF3}"/>
              </a:ext>
            </a:extLst>
          </p:cNvPr>
          <p:cNvSpPr/>
          <p:nvPr userDrawn="1"/>
        </p:nvSpPr>
        <p:spPr>
          <a:xfrm>
            <a:off x="6033247" y="0"/>
            <a:ext cx="3110753" cy="514350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solidFill>
                <a:schemeClr val="accent6"/>
              </a:solidFill>
            </a:endParaRPr>
          </a:p>
        </p:txBody>
      </p:sp>
      <p:graphicFrame>
        <p:nvGraphicFramePr>
          <p:cNvPr id="8" name="Content Placeholder 5">
            <a:extLst>
              <a:ext uri="{FF2B5EF4-FFF2-40B4-BE49-F238E27FC236}">
                <a16:creationId xmlns:a16="http://schemas.microsoft.com/office/drawing/2014/main" id="{A7640503-D039-AD45-831B-518E58765E67}"/>
              </a:ext>
            </a:extLst>
          </p:cNvPr>
          <p:cNvGraphicFramePr>
            <a:graphicFrameLocks/>
          </p:cNvGraphicFramePr>
          <p:nvPr userDrawn="1"/>
        </p:nvGraphicFramePr>
        <p:xfrm>
          <a:off x="342899" y="941388"/>
          <a:ext cx="5515207" cy="3652837"/>
        </p:xfrm>
        <a:graphic>
          <a:graphicData uri="http://schemas.openxmlformats.org/drawingml/2006/chart">
            <c:chart xmlns:c="http://schemas.openxmlformats.org/drawingml/2006/chart" xmlns:r="http://schemas.openxmlformats.org/officeDocument/2006/relationships" r:id="rId2"/>
          </a:graphicData>
        </a:graphic>
      </p:graphicFrame>
      <p:sp>
        <p:nvSpPr>
          <p:cNvPr id="9" name="Slide Number Placeholder 4">
            <a:extLst>
              <a:ext uri="{FF2B5EF4-FFF2-40B4-BE49-F238E27FC236}">
                <a16:creationId xmlns:a16="http://schemas.microsoft.com/office/drawing/2014/main" id="{4A9D1746-41D4-D049-AC71-5416C3DD0187}"/>
              </a:ext>
            </a:extLst>
          </p:cNvPr>
          <p:cNvSpPr txBox="1">
            <a:spLocks/>
          </p:cNvSpPr>
          <p:nvPr userDrawn="1"/>
        </p:nvSpPr>
        <p:spPr>
          <a:xfrm>
            <a:off x="8369007" y="4768925"/>
            <a:ext cx="432093" cy="264757"/>
          </a:xfrm>
          <a:prstGeom prst="rect">
            <a:avLst/>
          </a:prstGeom>
        </p:spPr>
        <p:txBody>
          <a:bodyPr vert="horz" lIns="91440" tIns="45720" rIns="91440" bIns="45720" rtlCol="0" anchor="ctr"/>
          <a:lstStyle>
            <a:defPPr>
              <a:defRPr lang="en-US"/>
            </a:defPPr>
            <a:lvl1pPr marL="0" algn="r" defTabSz="914400" rtl="0" eaLnBrk="1" latinLnBrk="0" hangingPunct="1">
              <a:defRPr sz="700" kern="1200">
                <a:solidFill>
                  <a:schemeClr val="tx2">
                    <a:lumMod val="60000"/>
                    <a:lumOff val="4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alpha val="50000"/>
                  </a:schemeClr>
                </a:solidFill>
              </a:rPr>
              <a:t>- </a:t>
            </a:r>
            <a:fld id="{C21C29FA-D81F-9D40-A402-D660C1847F79}" type="slidenum">
              <a:rPr lang="en-US" smtClean="0">
                <a:solidFill>
                  <a:schemeClr val="bg1">
                    <a:alpha val="50000"/>
                  </a:schemeClr>
                </a:solidFill>
              </a:rPr>
              <a:pPr/>
              <a:t>‹#›</a:t>
            </a:fld>
            <a:r>
              <a:rPr lang="en-US">
                <a:solidFill>
                  <a:schemeClr val="bg1">
                    <a:alpha val="50000"/>
                  </a:schemeClr>
                </a:solidFill>
              </a:rPr>
              <a:t> -</a:t>
            </a:r>
          </a:p>
        </p:txBody>
      </p:sp>
      <p:sp>
        <p:nvSpPr>
          <p:cNvPr id="11" name="Text Placeholder 3">
            <a:extLst>
              <a:ext uri="{FF2B5EF4-FFF2-40B4-BE49-F238E27FC236}">
                <a16:creationId xmlns:a16="http://schemas.microsoft.com/office/drawing/2014/main" id="{E0AD377D-5912-FF41-9738-9933D617BF56}"/>
              </a:ext>
            </a:extLst>
          </p:cNvPr>
          <p:cNvSpPr>
            <a:spLocks noGrp="1"/>
          </p:cNvSpPr>
          <p:nvPr>
            <p:ph type="body" sz="quarter" idx="12"/>
          </p:nvPr>
        </p:nvSpPr>
        <p:spPr>
          <a:xfrm>
            <a:off x="6429375" y="1273175"/>
            <a:ext cx="2371725" cy="1856534"/>
          </a:xfrm>
        </p:spPr>
        <p:txBody>
          <a:bodyPr>
            <a:noAutofit/>
          </a:bodyPr>
          <a:lstStyle>
            <a:lvl1pPr>
              <a:buClrTx/>
              <a:defRPr sz="1400">
                <a:solidFill>
                  <a:schemeClr val="bg2"/>
                </a:solidFill>
              </a:defRPr>
            </a:lvl1pPr>
            <a:lvl2pPr>
              <a:buClrTx/>
              <a:defRPr sz="1200">
                <a:solidFill>
                  <a:schemeClr val="bg2"/>
                </a:solidFill>
              </a:defRPr>
            </a:lvl2pPr>
            <a:lvl3pPr>
              <a:buClrTx/>
              <a:defRPr sz="1200">
                <a:solidFill>
                  <a:schemeClr val="bg2"/>
                </a:solidFill>
              </a:defRPr>
            </a:lvl3pPr>
            <a:lvl4pPr>
              <a:buClrTx/>
              <a:defRPr sz="1200">
                <a:solidFill>
                  <a:schemeClr val="bg2"/>
                </a:solidFill>
              </a:defRPr>
            </a:lvl4pPr>
            <a:lvl5pPr>
              <a:buClrTx/>
              <a:defRPr sz="12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1554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Basic Chart Example -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87744-3B8E-EB4C-BE81-818455F9D8E5}"/>
              </a:ext>
            </a:extLst>
          </p:cNvPr>
          <p:cNvSpPr>
            <a:spLocks noGrp="1"/>
          </p:cNvSpPr>
          <p:nvPr>
            <p:ph type="title" hasCustomPrompt="1"/>
          </p:nvPr>
        </p:nvSpPr>
        <p:spPr/>
        <p:txBody>
          <a:bodyPr/>
          <a:lstStyle>
            <a:lvl1pPr>
              <a:defRPr>
                <a:solidFill>
                  <a:schemeClr val="tx1"/>
                </a:solidFill>
              </a:defRPr>
            </a:lvl1pPr>
          </a:lstStyle>
          <a:p>
            <a:r>
              <a:rPr lang="en-US"/>
              <a:t>Basic Chart Example - White</a:t>
            </a:r>
          </a:p>
        </p:txBody>
      </p:sp>
      <p:sp>
        <p:nvSpPr>
          <p:cNvPr id="5" name="Footer Placeholder 4">
            <a:extLst>
              <a:ext uri="{FF2B5EF4-FFF2-40B4-BE49-F238E27FC236}">
                <a16:creationId xmlns:a16="http://schemas.microsoft.com/office/drawing/2014/main" id="{95E38466-2F94-2444-A040-D18BA319C401}"/>
              </a:ext>
            </a:extLst>
          </p:cNvPr>
          <p:cNvSpPr>
            <a:spLocks noGrp="1"/>
          </p:cNvSpPr>
          <p:nvPr>
            <p:ph type="ftr" sz="quarter" idx="10"/>
          </p:nvPr>
        </p:nvSpPr>
        <p:spPr/>
        <p:txBody>
          <a:bodyPr/>
          <a:lstStyle>
            <a:lvl1pPr>
              <a:defRPr>
                <a:solidFill>
                  <a:schemeClr val="tx2">
                    <a:lumMod val="60000"/>
                    <a:lumOff val="40000"/>
                  </a:schemeClr>
                </a:solidFill>
              </a:defRPr>
            </a:lvl1pPr>
          </a:lstStyle>
          <a:p>
            <a:r>
              <a:rPr lang="en-US"/>
              <a:t>© Scaled Agile, Inc.</a:t>
            </a:r>
          </a:p>
        </p:txBody>
      </p:sp>
      <p:sp>
        <p:nvSpPr>
          <p:cNvPr id="6" name="Slide Number Placeholder 5">
            <a:extLst>
              <a:ext uri="{FF2B5EF4-FFF2-40B4-BE49-F238E27FC236}">
                <a16:creationId xmlns:a16="http://schemas.microsoft.com/office/drawing/2014/main" id="{89BD8C60-AF59-7147-B2BB-DB1213DC12F5}"/>
              </a:ext>
            </a:extLst>
          </p:cNvPr>
          <p:cNvSpPr>
            <a:spLocks noGrp="1"/>
          </p:cNvSpPr>
          <p:nvPr>
            <p:ph type="sldNum" sz="quarter" idx="11"/>
          </p:nvPr>
        </p:nvSpPr>
        <p:spPr/>
        <p:txBody>
          <a:bodyPr/>
          <a:lstStyle>
            <a:lvl1pPr>
              <a:defRPr>
                <a:solidFill>
                  <a:schemeClr val="tx2">
                    <a:lumMod val="60000"/>
                    <a:lumOff val="40000"/>
                  </a:schemeClr>
                </a:solidFill>
              </a:defRPr>
            </a:lvl1pPr>
          </a:lstStyle>
          <a:p>
            <a:r>
              <a:rPr lang="en-US"/>
              <a:t>- </a:t>
            </a:r>
            <a:fld id="{C21C29FA-D81F-9D40-A402-D660C1847F79}" type="slidenum">
              <a:rPr lang="en-US" smtClean="0"/>
              <a:pPr/>
              <a:t>‹#›</a:t>
            </a:fld>
            <a:r>
              <a:rPr lang="en-US"/>
              <a:t> -</a:t>
            </a:r>
          </a:p>
        </p:txBody>
      </p:sp>
      <p:graphicFrame>
        <p:nvGraphicFramePr>
          <p:cNvPr id="7" name="Content Placeholder 3">
            <a:extLst>
              <a:ext uri="{FF2B5EF4-FFF2-40B4-BE49-F238E27FC236}">
                <a16:creationId xmlns:a16="http://schemas.microsoft.com/office/drawing/2014/main" id="{88C3619C-8DD1-1148-917F-FCCA70DE4C24}"/>
              </a:ext>
            </a:extLst>
          </p:cNvPr>
          <p:cNvGraphicFramePr>
            <a:graphicFrameLocks/>
          </p:cNvGraphicFramePr>
          <p:nvPr userDrawn="1"/>
        </p:nvGraphicFramePr>
        <p:xfrm>
          <a:off x="433552" y="1057835"/>
          <a:ext cx="8276895" cy="3496239"/>
        </p:xfrm>
        <a:graphic>
          <a:graphicData uri="http://schemas.openxmlformats.org/drawingml/2006/table">
            <a:tbl>
              <a:tblPr firstRow="1" bandRow="1">
                <a:tableStyleId>{8EC20E35-A176-4012-BC5E-935CFFF8708E}</a:tableStyleId>
              </a:tblPr>
              <a:tblGrid>
                <a:gridCol w="1655379">
                  <a:extLst>
                    <a:ext uri="{9D8B030D-6E8A-4147-A177-3AD203B41FA5}">
                      <a16:colId xmlns:a16="http://schemas.microsoft.com/office/drawing/2014/main" val="20000"/>
                    </a:ext>
                  </a:extLst>
                </a:gridCol>
                <a:gridCol w="1655379">
                  <a:extLst>
                    <a:ext uri="{9D8B030D-6E8A-4147-A177-3AD203B41FA5}">
                      <a16:colId xmlns:a16="http://schemas.microsoft.com/office/drawing/2014/main" val="20001"/>
                    </a:ext>
                  </a:extLst>
                </a:gridCol>
                <a:gridCol w="1655379">
                  <a:extLst>
                    <a:ext uri="{9D8B030D-6E8A-4147-A177-3AD203B41FA5}">
                      <a16:colId xmlns:a16="http://schemas.microsoft.com/office/drawing/2014/main" val="20002"/>
                    </a:ext>
                  </a:extLst>
                </a:gridCol>
                <a:gridCol w="1655379">
                  <a:extLst>
                    <a:ext uri="{9D8B030D-6E8A-4147-A177-3AD203B41FA5}">
                      <a16:colId xmlns:a16="http://schemas.microsoft.com/office/drawing/2014/main" val="20003"/>
                    </a:ext>
                  </a:extLst>
                </a:gridCol>
                <a:gridCol w="1655379">
                  <a:extLst>
                    <a:ext uri="{9D8B030D-6E8A-4147-A177-3AD203B41FA5}">
                      <a16:colId xmlns:a16="http://schemas.microsoft.com/office/drawing/2014/main" val="20004"/>
                    </a:ext>
                  </a:extLst>
                </a:gridCol>
              </a:tblGrid>
              <a:tr h="388471">
                <a:tc>
                  <a:txBody>
                    <a:bodyPr/>
                    <a:lstStyle/>
                    <a:p>
                      <a:pPr algn="ctr"/>
                      <a:r>
                        <a:rPr lang="en-US" sz="1200" b="1" spc="0" baseline="0">
                          <a:latin typeface="+mn-lt"/>
                          <a:ea typeface="Verdana" panose="020B0604030504040204" pitchFamily="34" charset="0"/>
                          <a:cs typeface="Verdana" panose="020B0604030504040204" pitchFamily="34" charset="0"/>
                        </a:rPr>
                        <a:t>Header 1</a:t>
                      </a:r>
                      <a:endParaRPr lang="en-US" sz="1200" b="1" i="0" spc="0" baseline="0">
                        <a:solidFill>
                          <a:schemeClr val="accent1"/>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1200" b="1" spc="0" baseline="0">
                          <a:latin typeface="+mn-lt"/>
                          <a:ea typeface="Verdana" panose="020B0604030504040204" pitchFamily="34" charset="0"/>
                          <a:cs typeface="Verdana" panose="020B0604030504040204" pitchFamily="34" charset="0"/>
                        </a:rPr>
                        <a:t>Header 2</a:t>
                      </a:r>
                      <a:endParaRPr lang="en-US" sz="1200" b="1" i="0" spc="0" baseline="0">
                        <a:solidFill>
                          <a:schemeClr val="accent1"/>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b="1" spc="0" baseline="0">
                          <a:latin typeface="+mn-lt"/>
                          <a:ea typeface="Verdana" panose="020B0604030504040204" pitchFamily="34" charset="0"/>
                          <a:cs typeface="Verdana" panose="020B0604030504040204" pitchFamily="34" charset="0"/>
                        </a:rPr>
                        <a:t>Header 3</a:t>
                      </a:r>
                      <a:endParaRPr lang="en-US" sz="1200" b="1" i="0" spc="0" baseline="0">
                        <a:solidFill>
                          <a:schemeClr val="accent1"/>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b="1" spc="0" baseline="0">
                          <a:latin typeface="+mn-lt"/>
                          <a:ea typeface="Verdana" panose="020B0604030504040204" pitchFamily="34" charset="0"/>
                          <a:cs typeface="Verdana" panose="020B0604030504040204" pitchFamily="34" charset="0"/>
                        </a:rPr>
                        <a:t>Header 4</a:t>
                      </a:r>
                      <a:endParaRPr lang="en-US" sz="1200" b="1" i="0" spc="0" baseline="0">
                        <a:solidFill>
                          <a:schemeClr val="accent1"/>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b="1" spc="0" baseline="0">
                          <a:latin typeface="+mn-lt"/>
                          <a:ea typeface="Verdana" panose="020B0604030504040204" pitchFamily="34" charset="0"/>
                          <a:cs typeface="Verdana" panose="020B0604030504040204" pitchFamily="34" charset="0"/>
                        </a:rPr>
                        <a:t>Header 5</a:t>
                      </a:r>
                      <a:endParaRPr lang="en-US" sz="1200" b="1" i="0" spc="0" baseline="0">
                        <a:solidFill>
                          <a:schemeClr val="accent1"/>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0000"/>
                  </a:ext>
                </a:extLst>
              </a:tr>
              <a:tr h="388471">
                <a:tc>
                  <a:txBody>
                    <a:bodyPr/>
                    <a:lstStyle/>
                    <a:p>
                      <a:pPr algn="ctr"/>
                      <a:r>
                        <a:rPr lang="en-US" sz="1100">
                          <a:solidFill>
                            <a:schemeClr val="tx2"/>
                          </a:solidFill>
                          <a:latin typeface="+mn-lt"/>
                          <a:ea typeface="Verdana" panose="020B0604030504040204" pitchFamily="34" charset="0"/>
                          <a:cs typeface="Verdana" panose="020B0604030504040204" pitchFamily="34" charset="0"/>
                        </a:rPr>
                        <a:t>Item 1</a:t>
                      </a:r>
                    </a:p>
                  </a:txBody>
                  <a:tcPr marL="68580" marR="68580" marT="34290" marB="34290"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a:solidFill>
                            <a:schemeClr val="tx2"/>
                          </a:solidFill>
                          <a:latin typeface="+mn-lt"/>
                          <a:ea typeface="Verdana" panose="020B0604030504040204" pitchFamily="34" charset="0"/>
                          <a:cs typeface="Verdana" panose="020B0604030504040204" pitchFamily="34" charset="0"/>
                        </a:rPr>
                        <a:t>Item 1</a:t>
                      </a: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a:solidFill>
                            <a:schemeClr val="tx2"/>
                          </a:solidFill>
                          <a:latin typeface="+mn-lt"/>
                          <a:ea typeface="Verdana" panose="020B0604030504040204" pitchFamily="34" charset="0"/>
                          <a:cs typeface="Verdana" panose="020B0604030504040204" pitchFamily="34" charset="0"/>
                        </a:rPr>
                        <a:t>Item 1</a:t>
                      </a: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a:solidFill>
                            <a:schemeClr val="tx2"/>
                          </a:solidFill>
                          <a:latin typeface="+mn-lt"/>
                          <a:ea typeface="Verdana" panose="020B0604030504040204" pitchFamily="34" charset="0"/>
                          <a:cs typeface="Verdana" panose="020B0604030504040204" pitchFamily="34" charset="0"/>
                        </a:rPr>
                        <a:t>Item 1</a:t>
                      </a: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a:solidFill>
                            <a:schemeClr val="tx2"/>
                          </a:solidFill>
                          <a:latin typeface="+mn-lt"/>
                          <a:ea typeface="Verdana" panose="020B0604030504040204" pitchFamily="34" charset="0"/>
                          <a:cs typeface="Verdana" panose="020B0604030504040204" pitchFamily="34" charset="0"/>
                        </a:rPr>
                        <a:t>Item 1</a:t>
                      </a:r>
                    </a:p>
                  </a:txBody>
                  <a:tcPr marL="68580" marR="68580" marT="34290" marB="3429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88471">
                <a:tc>
                  <a:txBody>
                    <a:bodyPr/>
                    <a:lstStyle/>
                    <a:p>
                      <a:pPr algn="ctr"/>
                      <a:r>
                        <a:rPr lang="en-US" sz="1100">
                          <a:solidFill>
                            <a:schemeClr val="tx2"/>
                          </a:solidFill>
                          <a:latin typeface="+mn-lt"/>
                          <a:ea typeface="Verdana" panose="020B0604030504040204" pitchFamily="34" charset="0"/>
                          <a:cs typeface="Verdana" panose="020B0604030504040204" pitchFamily="34" charset="0"/>
                        </a:rPr>
                        <a:t>Item 2</a:t>
                      </a:r>
                    </a:p>
                  </a:txBody>
                  <a:tcPr marL="68580" marR="68580" marT="34290" marB="34290"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a:solidFill>
                            <a:schemeClr val="tx2"/>
                          </a:solidFill>
                          <a:latin typeface="+mn-lt"/>
                          <a:ea typeface="Verdana" panose="020B0604030504040204" pitchFamily="34" charset="0"/>
                          <a:cs typeface="Verdana" panose="020B0604030504040204" pitchFamily="34" charset="0"/>
                        </a:rPr>
                        <a:t>Item 2</a:t>
                      </a: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a:solidFill>
                            <a:schemeClr val="tx2"/>
                          </a:solidFill>
                          <a:latin typeface="+mn-lt"/>
                          <a:ea typeface="Verdana" panose="020B0604030504040204" pitchFamily="34" charset="0"/>
                          <a:cs typeface="Verdana" panose="020B0604030504040204" pitchFamily="34" charset="0"/>
                        </a:rPr>
                        <a:t>Item 2</a:t>
                      </a: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a:solidFill>
                            <a:schemeClr val="tx2"/>
                          </a:solidFill>
                          <a:latin typeface="+mn-lt"/>
                          <a:ea typeface="Verdana" panose="020B0604030504040204" pitchFamily="34" charset="0"/>
                          <a:cs typeface="Verdana" panose="020B0604030504040204" pitchFamily="34" charset="0"/>
                        </a:rPr>
                        <a:t>Item 2</a:t>
                      </a: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a:solidFill>
                            <a:schemeClr val="tx2"/>
                          </a:solidFill>
                          <a:latin typeface="+mn-lt"/>
                          <a:ea typeface="Verdana" panose="020B0604030504040204" pitchFamily="34" charset="0"/>
                          <a:cs typeface="Verdana" panose="020B0604030504040204" pitchFamily="34" charset="0"/>
                        </a:rPr>
                        <a:t>Item 2</a:t>
                      </a:r>
                    </a:p>
                  </a:txBody>
                  <a:tcPr marL="68580" marR="68580" marT="34290" marB="3429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88471">
                <a:tc>
                  <a:txBody>
                    <a:bodyPr/>
                    <a:lstStyle/>
                    <a:p>
                      <a:pPr algn="ctr"/>
                      <a:r>
                        <a:rPr lang="en-US" sz="1100" b="1">
                          <a:solidFill>
                            <a:schemeClr val="accent2"/>
                          </a:solidFill>
                          <a:latin typeface="+mn-lt"/>
                          <a:ea typeface="Verdana" panose="020B0604030504040204" pitchFamily="34" charset="0"/>
                          <a:cs typeface="Verdana" panose="020B0604030504040204" pitchFamily="34" charset="0"/>
                        </a:rPr>
                        <a:t>Emphasis</a:t>
                      </a:r>
                    </a:p>
                  </a:txBody>
                  <a:tcPr marL="68580" marR="68580" marT="34290" marB="34290"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1">
                          <a:solidFill>
                            <a:schemeClr val="accent2"/>
                          </a:solidFill>
                          <a:latin typeface="+mn-lt"/>
                          <a:ea typeface="Verdana" panose="020B0604030504040204" pitchFamily="34" charset="0"/>
                          <a:cs typeface="Verdana" panose="020B0604030504040204" pitchFamily="34" charset="0"/>
                        </a:rPr>
                        <a:t>Emphasis</a:t>
                      </a: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1">
                          <a:solidFill>
                            <a:schemeClr val="accent2"/>
                          </a:solidFill>
                          <a:latin typeface="+mn-lt"/>
                          <a:ea typeface="Verdana" panose="020B0604030504040204" pitchFamily="34" charset="0"/>
                          <a:cs typeface="Verdana" panose="020B0604030504040204" pitchFamily="34" charset="0"/>
                        </a:rPr>
                        <a:t>Emphasis</a:t>
                      </a: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1">
                          <a:solidFill>
                            <a:schemeClr val="accent2"/>
                          </a:solidFill>
                          <a:latin typeface="+mn-lt"/>
                          <a:ea typeface="Verdana" panose="020B0604030504040204" pitchFamily="34" charset="0"/>
                          <a:cs typeface="Verdana" panose="020B0604030504040204" pitchFamily="34" charset="0"/>
                        </a:rPr>
                        <a:t>Emphasis</a:t>
                      </a: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1">
                          <a:solidFill>
                            <a:schemeClr val="accent2"/>
                          </a:solidFill>
                          <a:latin typeface="+mn-lt"/>
                          <a:ea typeface="Verdana" panose="020B0604030504040204" pitchFamily="34" charset="0"/>
                          <a:cs typeface="Verdana" panose="020B0604030504040204" pitchFamily="34" charset="0"/>
                        </a:rPr>
                        <a:t>Emphasis</a:t>
                      </a:r>
                    </a:p>
                  </a:txBody>
                  <a:tcPr marL="68580" marR="68580" marT="34290" marB="3429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88471">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88471">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88471">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88471">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388471">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596423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Basic Chart Example - Revers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87744-3B8E-EB4C-BE81-818455F9D8E5}"/>
              </a:ext>
            </a:extLst>
          </p:cNvPr>
          <p:cNvSpPr>
            <a:spLocks noGrp="1"/>
          </p:cNvSpPr>
          <p:nvPr>
            <p:ph type="title" hasCustomPrompt="1"/>
          </p:nvPr>
        </p:nvSpPr>
        <p:spPr/>
        <p:txBody>
          <a:bodyPr/>
          <a:lstStyle>
            <a:lvl1pPr>
              <a:defRPr>
                <a:solidFill>
                  <a:schemeClr val="bg1"/>
                </a:solidFill>
              </a:defRPr>
            </a:lvl1pPr>
          </a:lstStyle>
          <a:p>
            <a:r>
              <a:rPr lang="en-US"/>
              <a:t>Basic Chart Example - Reverse</a:t>
            </a:r>
          </a:p>
        </p:txBody>
      </p:sp>
      <p:sp>
        <p:nvSpPr>
          <p:cNvPr id="3" name="Footer Placeholder 2">
            <a:extLst>
              <a:ext uri="{FF2B5EF4-FFF2-40B4-BE49-F238E27FC236}">
                <a16:creationId xmlns:a16="http://schemas.microsoft.com/office/drawing/2014/main" id="{95461225-6834-6747-B0F7-15045BAA8353}"/>
              </a:ext>
            </a:extLst>
          </p:cNvPr>
          <p:cNvSpPr>
            <a:spLocks noGrp="1"/>
          </p:cNvSpPr>
          <p:nvPr>
            <p:ph type="ftr" sz="quarter" idx="10"/>
          </p:nvPr>
        </p:nvSpPr>
        <p:spPr/>
        <p:txBody>
          <a:bodyPr/>
          <a:lstStyle>
            <a:lvl1pPr>
              <a:defRPr>
                <a:solidFill>
                  <a:schemeClr val="bg1">
                    <a:alpha val="50000"/>
                  </a:schemeClr>
                </a:solidFill>
              </a:defRPr>
            </a:lvl1pPr>
          </a:lstStyle>
          <a:p>
            <a:r>
              <a:rPr lang="en-US"/>
              <a:t>© Scaled Agile, Inc.</a:t>
            </a:r>
          </a:p>
        </p:txBody>
      </p:sp>
      <p:sp>
        <p:nvSpPr>
          <p:cNvPr id="4" name="Slide Number Placeholder 3">
            <a:extLst>
              <a:ext uri="{FF2B5EF4-FFF2-40B4-BE49-F238E27FC236}">
                <a16:creationId xmlns:a16="http://schemas.microsoft.com/office/drawing/2014/main" id="{31E59C70-7E93-6B49-8B25-D6A03545C070}"/>
              </a:ext>
            </a:extLst>
          </p:cNvPr>
          <p:cNvSpPr>
            <a:spLocks noGrp="1"/>
          </p:cNvSpPr>
          <p:nvPr>
            <p:ph type="sldNum" sz="quarter" idx="11"/>
          </p:nvPr>
        </p:nvSpPr>
        <p:spPr/>
        <p:txBody>
          <a:bodyPr/>
          <a:lstStyle>
            <a:lvl1pPr>
              <a:defRPr>
                <a:solidFill>
                  <a:schemeClr val="bg1">
                    <a:alpha val="50000"/>
                  </a:schemeClr>
                </a:solidFill>
              </a:defRPr>
            </a:lvl1pPr>
          </a:lstStyle>
          <a:p>
            <a:r>
              <a:rPr lang="en-US"/>
              <a:t>- </a:t>
            </a:r>
            <a:fld id="{C21C29FA-D81F-9D40-A402-D660C1847F79}" type="slidenum">
              <a:rPr lang="en-US" smtClean="0"/>
              <a:pPr/>
              <a:t>‹#›</a:t>
            </a:fld>
            <a:r>
              <a:rPr lang="en-US"/>
              <a:t> -</a:t>
            </a:r>
          </a:p>
        </p:txBody>
      </p:sp>
      <p:graphicFrame>
        <p:nvGraphicFramePr>
          <p:cNvPr id="5" name="Content Placeholder 3">
            <a:extLst>
              <a:ext uri="{FF2B5EF4-FFF2-40B4-BE49-F238E27FC236}">
                <a16:creationId xmlns:a16="http://schemas.microsoft.com/office/drawing/2014/main" id="{6E0B4A86-80EC-604C-B914-07F484D84E57}"/>
              </a:ext>
            </a:extLst>
          </p:cNvPr>
          <p:cNvGraphicFramePr>
            <a:graphicFrameLocks/>
          </p:cNvGraphicFramePr>
          <p:nvPr userDrawn="1"/>
        </p:nvGraphicFramePr>
        <p:xfrm>
          <a:off x="433553" y="1057835"/>
          <a:ext cx="8276895" cy="3496239"/>
        </p:xfrm>
        <a:graphic>
          <a:graphicData uri="http://schemas.openxmlformats.org/drawingml/2006/table">
            <a:tbl>
              <a:tblPr firstRow="1" bandRow="1">
                <a:tableStyleId>{8FD4443E-F989-4FC4-A0C8-D5A2AF1F390B}</a:tableStyleId>
              </a:tblPr>
              <a:tblGrid>
                <a:gridCol w="1655379">
                  <a:extLst>
                    <a:ext uri="{9D8B030D-6E8A-4147-A177-3AD203B41FA5}">
                      <a16:colId xmlns:a16="http://schemas.microsoft.com/office/drawing/2014/main" val="20000"/>
                    </a:ext>
                  </a:extLst>
                </a:gridCol>
                <a:gridCol w="1655379">
                  <a:extLst>
                    <a:ext uri="{9D8B030D-6E8A-4147-A177-3AD203B41FA5}">
                      <a16:colId xmlns:a16="http://schemas.microsoft.com/office/drawing/2014/main" val="20001"/>
                    </a:ext>
                  </a:extLst>
                </a:gridCol>
                <a:gridCol w="1655379">
                  <a:extLst>
                    <a:ext uri="{9D8B030D-6E8A-4147-A177-3AD203B41FA5}">
                      <a16:colId xmlns:a16="http://schemas.microsoft.com/office/drawing/2014/main" val="20002"/>
                    </a:ext>
                  </a:extLst>
                </a:gridCol>
                <a:gridCol w="1655379">
                  <a:extLst>
                    <a:ext uri="{9D8B030D-6E8A-4147-A177-3AD203B41FA5}">
                      <a16:colId xmlns:a16="http://schemas.microsoft.com/office/drawing/2014/main" val="20003"/>
                    </a:ext>
                  </a:extLst>
                </a:gridCol>
                <a:gridCol w="1655379">
                  <a:extLst>
                    <a:ext uri="{9D8B030D-6E8A-4147-A177-3AD203B41FA5}">
                      <a16:colId xmlns:a16="http://schemas.microsoft.com/office/drawing/2014/main" val="20004"/>
                    </a:ext>
                  </a:extLst>
                </a:gridCol>
              </a:tblGrid>
              <a:tr h="388471">
                <a:tc>
                  <a:txBody>
                    <a:bodyPr/>
                    <a:lstStyle/>
                    <a:p>
                      <a:pPr algn="ctr"/>
                      <a:r>
                        <a:rPr lang="en-US" sz="1200" b="1" spc="300" baseline="0">
                          <a:solidFill>
                            <a:schemeClr val="accent5"/>
                          </a:solidFill>
                        </a:rPr>
                        <a:t>HEADER 1</a:t>
                      </a:r>
                      <a:endParaRPr lang="en-US" sz="1200" b="1" i="0" spc="300" baseline="0">
                        <a:solidFill>
                          <a:schemeClr val="accent5"/>
                        </a:solidFill>
                        <a:latin typeface="+mn-lt"/>
                        <a:ea typeface="Verdana" panose="020B0604030504040204" pitchFamily="34" charset="0"/>
                        <a:cs typeface="Verdana" panose="020B0604030504040204" pitchFamily="34" charset="0"/>
                      </a:endParaRPr>
                    </a:p>
                  </a:txBody>
                  <a:tcPr marL="68580" marR="68580" marT="34290" marB="34290" anchor="ctr">
                    <a:lnL>
                      <a:noFill/>
                    </a:lnL>
                    <a:lnR w="12700" cap="flat" cmpd="sng" algn="ctr">
                      <a:solidFill>
                        <a:schemeClr val="accent5"/>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spc="300" baseline="0">
                          <a:solidFill>
                            <a:schemeClr val="accent5"/>
                          </a:solidFill>
                        </a:rPr>
                        <a:t>HEADER 2</a:t>
                      </a:r>
                      <a:endParaRPr lang="en-US" sz="1200" b="1" i="0" spc="300" baseline="0">
                        <a:solidFill>
                          <a:schemeClr val="accent5"/>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b="1" spc="300" baseline="0">
                          <a:solidFill>
                            <a:schemeClr val="accent5"/>
                          </a:solidFill>
                        </a:rPr>
                        <a:t>HEADER 3</a:t>
                      </a:r>
                      <a:endParaRPr lang="en-US" sz="1200" b="1" i="0" spc="300" baseline="0">
                        <a:solidFill>
                          <a:schemeClr val="accent5"/>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b="1" spc="300" baseline="0">
                          <a:solidFill>
                            <a:schemeClr val="accent5"/>
                          </a:solidFill>
                        </a:rPr>
                        <a:t>HEADER 4</a:t>
                      </a:r>
                      <a:endParaRPr lang="en-US" sz="1200" b="1" i="0" spc="300" baseline="0">
                        <a:solidFill>
                          <a:schemeClr val="accent5"/>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b="1" spc="300" baseline="0">
                          <a:solidFill>
                            <a:schemeClr val="accent5"/>
                          </a:solidFill>
                        </a:rPr>
                        <a:t>HEADER 5</a:t>
                      </a:r>
                      <a:endParaRPr lang="en-US" sz="1200" b="1" i="0" spc="300" baseline="0">
                        <a:solidFill>
                          <a:schemeClr val="accent5"/>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88471">
                <a:tc>
                  <a:txBody>
                    <a:bodyPr/>
                    <a:lstStyle/>
                    <a:p>
                      <a:pPr algn="ctr"/>
                      <a:r>
                        <a:rPr lang="en-US" sz="1100"/>
                        <a:t>Item 1</a:t>
                      </a:r>
                      <a:endParaRPr lang="en-US" sz="11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a:noFill/>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t>Item 1</a:t>
                      </a:r>
                      <a:endParaRPr lang="en-US" sz="11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t>Item 1</a:t>
                      </a:r>
                      <a:endParaRPr lang="en-US" sz="11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t>Item 1</a:t>
                      </a:r>
                      <a:endParaRPr lang="en-US" sz="11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t>Item 1</a:t>
                      </a:r>
                      <a:endParaRPr lang="en-US" sz="11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88471">
                <a:tc>
                  <a:txBody>
                    <a:bodyPr/>
                    <a:lstStyle/>
                    <a:p>
                      <a:pPr algn="ctr"/>
                      <a:r>
                        <a:rPr lang="en-US" sz="1100"/>
                        <a:t>Item 2</a:t>
                      </a:r>
                      <a:endParaRPr lang="en-US" sz="11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a:noFill/>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t>Item 2</a:t>
                      </a:r>
                      <a:endParaRPr lang="en-US" sz="11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t>Item 2</a:t>
                      </a:r>
                      <a:endParaRPr lang="en-US" sz="11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t>Item 2</a:t>
                      </a:r>
                      <a:endParaRPr lang="en-US" sz="11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t>Item 2</a:t>
                      </a:r>
                      <a:endParaRPr lang="en-US" sz="11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88471">
                <a:tc>
                  <a:txBody>
                    <a:bodyPr/>
                    <a:lstStyle/>
                    <a:p>
                      <a:pPr algn="ctr"/>
                      <a:r>
                        <a:rPr lang="en-US" sz="1100" b="0" i="1">
                          <a:solidFill>
                            <a:schemeClr val="accent3"/>
                          </a:solidFill>
                          <a:latin typeface="+mn-lt"/>
                          <a:ea typeface="Verdana" panose="020B0604030504040204" pitchFamily="34" charset="0"/>
                          <a:cs typeface="Verdana" panose="020B0604030504040204" pitchFamily="34" charset="0"/>
                        </a:rPr>
                        <a:t>Emphasis</a:t>
                      </a:r>
                    </a:p>
                  </a:txBody>
                  <a:tcPr marL="68580" marR="68580" marT="34290" marB="34290" anchor="ctr">
                    <a:lnL>
                      <a:noFill/>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0" i="1">
                          <a:solidFill>
                            <a:schemeClr val="accent3"/>
                          </a:solidFill>
                          <a:latin typeface="+mn-lt"/>
                          <a:ea typeface="Verdana" panose="020B0604030504040204" pitchFamily="34" charset="0"/>
                          <a:cs typeface="Verdana" panose="020B0604030504040204" pitchFamily="34" charset="0"/>
                        </a:rPr>
                        <a:t>Emphasis</a:t>
                      </a: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0" i="1">
                          <a:solidFill>
                            <a:schemeClr val="accent3"/>
                          </a:solidFill>
                          <a:latin typeface="+mn-lt"/>
                          <a:ea typeface="Verdana" panose="020B0604030504040204" pitchFamily="34" charset="0"/>
                          <a:cs typeface="Verdana" panose="020B0604030504040204" pitchFamily="34" charset="0"/>
                        </a:rPr>
                        <a:t>Emphasis</a:t>
                      </a: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0" i="1">
                          <a:solidFill>
                            <a:schemeClr val="accent3"/>
                          </a:solidFill>
                          <a:latin typeface="+mn-lt"/>
                          <a:ea typeface="Verdana" panose="020B0604030504040204" pitchFamily="34" charset="0"/>
                          <a:cs typeface="Verdana" panose="020B0604030504040204" pitchFamily="34" charset="0"/>
                        </a:rPr>
                        <a:t>Emphasis</a:t>
                      </a: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0" i="1">
                          <a:solidFill>
                            <a:schemeClr val="accent3"/>
                          </a:solidFill>
                          <a:latin typeface="+mn-lt"/>
                          <a:ea typeface="Verdana" panose="020B0604030504040204" pitchFamily="34" charset="0"/>
                          <a:cs typeface="Verdana" panose="020B0604030504040204" pitchFamily="34" charset="0"/>
                        </a:rPr>
                        <a:t>Emphasis</a:t>
                      </a:r>
                    </a:p>
                  </a:txBody>
                  <a:tcPr marL="68580" marR="68580" marT="34290" marB="34290" anchor="ctr">
                    <a:lnL w="12700" cap="flat" cmpd="sng" algn="ctr">
                      <a:solidFill>
                        <a:schemeClr val="accent5"/>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88471">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a:noFill/>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88471">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a:noFill/>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88471">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a:noFill/>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88471">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a:noFill/>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388471">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a:noFill/>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745949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ine Graph Example">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5E38466-2F94-2444-A040-D18BA319C401}"/>
              </a:ext>
            </a:extLst>
          </p:cNvPr>
          <p:cNvSpPr>
            <a:spLocks noGrp="1"/>
          </p:cNvSpPr>
          <p:nvPr>
            <p:ph type="ftr" sz="quarter" idx="10"/>
          </p:nvPr>
        </p:nvSpPr>
        <p:spPr/>
        <p:txBody>
          <a:bodyPr/>
          <a:lstStyle>
            <a:lvl1pPr>
              <a:defRPr>
                <a:solidFill>
                  <a:schemeClr val="tx2">
                    <a:lumMod val="60000"/>
                    <a:lumOff val="40000"/>
                  </a:schemeClr>
                </a:solidFill>
              </a:defRPr>
            </a:lvl1pPr>
          </a:lstStyle>
          <a:p>
            <a:r>
              <a:rPr lang="en-US"/>
              <a:t>© Scaled Agile, Inc.</a:t>
            </a:r>
          </a:p>
        </p:txBody>
      </p:sp>
      <p:sp>
        <p:nvSpPr>
          <p:cNvPr id="6" name="Slide Number Placeholder 5">
            <a:extLst>
              <a:ext uri="{FF2B5EF4-FFF2-40B4-BE49-F238E27FC236}">
                <a16:creationId xmlns:a16="http://schemas.microsoft.com/office/drawing/2014/main" id="{89BD8C60-AF59-7147-B2BB-DB1213DC12F5}"/>
              </a:ext>
            </a:extLst>
          </p:cNvPr>
          <p:cNvSpPr>
            <a:spLocks noGrp="1"/>
          </p:cNvSpPr>
          <p:nvPr>
            <p:ph type="sldNum" sz="quarter" idx="11"/>
          </p:nvPr>
        </p:nvSpPr>
        <p:spPr/>
        <p:txBody>
          <a:bodyPr/>
          <a:lstStyle>
            <a:lvl1pPr>
              <a:defRPr>
                <a:solidFill>
                  <a:schemeClr val="tx2">
                    <a:lumMod val="60000"/>
                    <a:lumOff val="40000"/>
                  </a:schemeClr>
                </a:solidFill>
              </a:defRPr>
            </a:lvl1pPr>
          </a:lstStyle>
          <a:p>
            <a:r>
              <a:rPr lang="en-US"/>
              <a:t>- </a:t>
            </a:r>
            <a:fld id="{C21C29FA-D81F-9D40-A402-D660C1847F79}" type="slidenum">
              <a:rPr lang="en-US" smtClean="0"/>
              <a:pPr/>
              <a:t>‹#›</a:t>
            </a:fld>
            <a:r>
              <a:rPr lang="en-US"/>
              <a:t> -</a:t>
            </a:r>
          </a:p>
        </p:txBody>
      </p:sp>
      <p:sp>
        <p:nvSpPr>
          <p:cNvPr id="7" name="Rectangle 6">
            <a:extLst>
              <a:ext uri="{FF2B5EF4-FFF2-40B4-BE49-F238E27FC236}">
                <a16:creationId xmlns:a16="http://schemas.microsoft.com/office/drawing/2014/main" id="{F0827F35-969F-4849-8744-F361D98D5615}"/>
              </a:ext>
            </a:extLst>
          </p:cNvPr>
          <p:cNvSpPr/>
          <p:nvPr userDrawn="1"/>
        </p:nvSpPr>
        <p:spPr>
          <a:xfrm>
            <a:off x="6033247" y="0"/>
            <a:ext cx="3110753" cy="51435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solidFill>
                <a:schemeClr val="accent6"/>
              </a:solidFill>
            </a:endParaRPr>
          </a:p>
        </p:txBody>
      </p:sp>
      <p:graphicFrame>
        <p:nvGraphicFramePr>
          <p:cNvPr id="9" name="Content Placeholder 3">
            <a:extLst>
              <a:ext uri="{FF2B5EF4-FFF2-40B4-BE49-F238E27FC236}">
                <a16:creationId xmlns:a16="http://schemas.microsoft.com/office/drawing/2014/main" id="{10BCDEF0-F3CA-414F-BECC-12ACD1621567}"/>
              </a:ext>
            </a:extLst>
          </p:cNvPr>
          <p:cNvGraphicFramePr>
            <a:graphicFrameLocks/>
          </p:cNvGraphicFramePr>
          <p:nvPr userDrawn="1">
            <p:extLst>
              <p:ext uri="{D42A27DB-BD31-4B8C-83A1-F6EECF244321}">
                <p14:modId xmlns:p14="http://schemas.microsoft.com/office/powerpoint/2010/main" val="1826831468"/>
              </p:ext>
            </p:extLst>
          </p:nvPr>
        </p:nvGraphicFramePr>
        <p:xfrm>
          <a:off x="0" y="642174"/>
          <a:ext cx="6033247" cy="4222993"/>
        </p:xfrm>
        <a:graphic>
          <a:graphicData uri="http://schemas.openxmlformats.org/drawingml/2006/chart">
            <c:chart xmlns:c="http://schemas.openxmlformats.org/drawingml/2006/chart" xmlns:r="http://schemas.openxmlformats.org/officeDocument/2006/relationships" r:id="rId2"/>
          </a:graphicData>
        </a:graphic>
      </p:graphicFrame>
      <p:sp>
        <p:nvSpPr>
          <p:cNvPr id="10" name="Slide Number Placeholder 4">
            <a:extLst>
              <a:ext uri="{FF2B5EF4-FFF2-40B4-BE49-F238E27FC236}">
                <a16:creationId xmlns:a16="http://schemas.microsoft.com/office/drawing/2014/main" id="{927D368F-10AB-0542-BC79-BCEF473078E1}"/>
              </a:ext>
            </a:extLst>
          </p:cNvPr>
          <p:cNvSpPr txBox="1">
            <a:spLocks/>
          </p:cNvSpPr>
          <p:nvPr userDrawn="1"/>
        </p:nvSpPr>
        <p:spPr>
          <a:xfrm>
            <a:off x="8369007" y="4768925"/>
            <a:ext cx="432093" cy="264757"/>
          </a:xfrm>
          <a:prstGeom prst="rect">
            <a:avLst/>
          </a:prstGeom>
        </p:spPr>
        <p:txBody>
          <a:bodyPr vert="horz" lIns="91440" tIns="45720" rIns="91440" bIns="45720" rtlCol="0" anchor="ctr"/>
          <a:lstStyle>
            <a:defPPr>
              <a:defRPr lang="en-US"/>
            </a:defPPr>
            <a:lvl1pPr marL="0" algn="r" defTabSz="914400" rtl="0" eaLnBrk="1" latinLnBrk="0" hangingPunct="1">
              <a:defRPr sz="700" kern="1200">
                <a:solidFill>
                  <a:schemeClr val="tx2">
                    <a:lumMod val="60000"/>
                    <a:lumOff val="4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alpha val="50000"/>
                  </a:schemeClr>
                </a:solidFill>
              </a:rPr>
              <a:t>- </a:t>
            </a:r>
            <a:fld id="{C21C29FA-D81F-9D40-A402-D660C1847F79}" type="slidenum">
              <a:rPr lang="en-US" smtClean="0">
                <a:solidFill>
                  <a:schemeClr val="bg1">
                    <a:alpha val="50000"/>
                  </a:schemeClr>
                </a:solidFill>
              </a:rPr>
              <a:pPr/>
              <a:t>‹#›</a:t>
            </a:fld>
            <a:r>
              <a:rPr lang="en-US">
                <a:solidFill>
                  <a:schemeClr val="bg1">
                    <a:alpha val="50000"/>
                  </a:schemeClr>
                </a:solidFill>
              </a:rPr>
              <a:t> -</a:t>
            </a:r>
          </a:p>
        </p:txBody>
      </p:sp>
      <p:sp>
        <p:nvSpPr>
          <p:cNvPr id="11" name="Title 5">
            <a:extLst>
              <a:ext uri="{FF2B5EF4-FFF2-40B4-BE49-F238E27FC236}">
                <a16:creationId xmlns:a16="http://schemas.microsoft.com/office/drawing/2014/main" id="{F5BC0598-E8E6-184D-97A1-8AE995F2C6B5}"/>
              </a:ext>
            </a:extLst>
          </p:cNvPr>
          <p:cNvSpPr>
            <a:spLocks noGrp="1"/>
          </p:cNvSpPr>
          <p:nvPr>
            <p:ph type="title" hasCustomPrompt="1"/>
          </p:nvPr>
        </p:nvSpPr>
        <p:spPr>
          <a:xfrm>
            <a:off x="342900" y="124182"/>
            <a:ext cx="5516294" cy="714664"/>
          </a:xfrm>
        </p:spPr>
        <p:txBody>
          <a:bodyPr/>
          <a:lstStyle/>
          <a:p>
            <a:r>
              <a:rPr lang="en-US"/>
              <a:t>Line Graph Example</a:t>
            </a:r>
          </a:p>
        </p:txBody>
      </p:sp>
      <p:sp>
        <p:nvSpPr>
          <p:cNvPr id="4" name="Text Placeholder 3">
            <a:extLst>
              <a:ext uri="{FF2B5EF4-FFF2-40B4-BE49-F238E27FC236}">
                <a16:creationId xmlns:a16="http://schemas.microsoft.com/office/drawing/2014/main" id="{93C8D514-386F-DE41-8CD2-AEB77741BB47}"/>
              </a:ext>
            </a:extLst>
          </p:cNvPr>
          <p:cNvSpPr>
            <a:spLocks noGrp="1"/>
          </p:cNvSpPr>
          <p:nvPr>
            <p:ph type="body" sz="quarter" idx="12"/>
          </p:nvPr>
        </p:nvSpPr>
        <p:spPr>
          <a:xfrm>
            <a:off x="6429375" y="1273175"/>
            <a:ext cx="2371725" cy="1856534"/>
          </a:xfrm>
        </p:spPr>
        <p:txBody>
          <a:bodyPr>
            <a:noAutofit/>
          </a:bodyPr>
          <a:lstStyle>
            <a:lvl1pPr>
              <a:buClrTx/>
              <a:defRPr sz="1400">
                <a:solidFill>
                  <a:schemeClr val="bg2"/>
                </a:solidFill>
              </a:defRPr>
            </a:lvl1pPr>
            <a:lvl2pPr>
              <a:buClrTx/>
              <a:defRPr sz="1200">
                <a:solidFill>
                  <a:schemeClr val="bg2"/>
                </a:solidFill>
              </a:defRPr>
            </a:lvl2pPr>
            <a:lvl3pPr>
              <a:buClrTx/>
              <a:defRPr sz="1200">
                <a:solidFill>
                  <a:schemeClr val="bg2"/>
                </a:solidFill>
              </a:defRPr>
            </a:lvl3pPr>
            <a:lvl4pPr>
              <a:buClrTx/>
              <a:defRPr sz="1200">
                <a:solidFill>
                  <a:schemeClr val="bg2"/>
                </a:solidFill>
              </a:defRPr>
            </a:lvl4pPr>
            <a:lvl5pPr>
              <a:buClrTx/>
              <a:defRPr sz="12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649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ie Chart Example">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5E38466-2F94-2444-A040-D18BA319C401}"/>
              </a:ext>
            </a:extLst>
          </p:cNvPr>
          <p:cNvSpPr>
            <a:spLocks noGrp="1"/>
          </p:cNvSpPr>
          <p:nvPr>
            <p:ph type="ftr" sz="quarter" idx="10"/>
          </p:nvPr>
        </p:nvSpPr>
        <p:spPr/>
        <p:txBody>
          <a:bodyPr/>
          <a:lstStyle>
            <a:lvl1pPr>
              <a:defRPr>
                <a:solidFill>
                  <a:schemeClr val="tx2">
                    <a:lumMod val="60000"/>
                    <a:lumOff val="40000"/>
                  </a:schemeClr>
                </a:solidFill>
              </a:defRPr>
            </a:lvl1pPr>
          </a:lstStyle>
          <a:p>
            <a:r>
              <a:rPr lang="en-US"/>
              <a:t>© Scaled Agile, Inc.</a:t>
            </a:r>
          </a:p>
        </p:txBody>
      </p:sp>
      <p:sp>
        <p:nvSpPr>
          <p:cNvPr id="6" name="Slide Number Placeholder 5">
            <a:extLst>
              <a:ext uri="{FF2B5EF4-FFF2-40B4-BE49-F238E27FC236}">
                <a16:creationId xmlns:a16="http://schemas.microsoft.com/office/drawing/2014/main" id="{89BD8C60-AF59-7147-B2BB-DB1213DC12F5}"/>
              </a:ext>
            </a:extLst>
          </p:cNvPr>
          <p:cNvSpPr>
            <a:spLocks noGrp="1"/>
          </p:cNvSpPr>
          <p:nvPr>
            <p:ph type="sldNum" sz="quarter" idx="11"/>
          </p:nvPr>
        </p:nvSpPr>
        <p:spPr/>
        <p:txBody>
          <a:bodyPr/>
          <a:lstStyle>
            <a:lvl1pPr>
              <a:defRPr>
                <a:solidFill>
                  <a:schemeClr val="tx2">
                    <a:lumMod val="60000"/>
                    <a:lumOff val="40000"/>
                  </a:schemeClr>
                </a:solidFill>
              </a:defRPr>
            </a:lvl1pPr>
          </a:lstStyle>
          <a:p>
            <a:r>
              <a:rPr lang="en-US"/>
              <a:t>- </a:t>
            </a:r>
            <a:fld id="{C21C29FA-D81F-9D40-A402-D660C1847F79}" type="slidenum">
              <a:rPr lang="en-US" smtClean="0"/>
              <a:pPr/>
              <a:t>‹#›</a:t>
            </a:fld>
            <a:r>
              <a:rPr lang="en-US"/>
              <a:t> -</a:t>
            </a:r>
          </a:p>
        </p:txBody>
      </p:sp>
      <p:sp>
        <p:nvSpPr>
          <p:cNvPr id="7" name="Rectangle 6">
            <a:extLst>
              <a:ext uri="{FF2B5EF4-FFF2-40B4-BE49-F238E27FC236}">
                <a16:creationId xmlns:a16="http://schemas.microsoft.com/office/drawing/2014/main" id="{48872F8D-07F0-D646-9711-B6476D725735}"/>
              </a:ext>
            </a:extLst>
          </p:cNvPr>
          <p:cNvSpPr/>
          <p:nvPr userDrawn="1"/>
        </p:nvSpPr>
        <p:spPr>
          <a:xfrm>
            <a:off x="6033247" y="0"/>
            <a:ext cx="3110753" cy="5143500"/>
          </a:xfrm>
          <a:prstGeom prst="rect">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solidFill>
                <a:schemeClr val="accent6"/>
              </a:solidFill>
            </a:endParaRPr>
          </a:p>
        </p:txBody>
      </p:sp>
      <p:graphicFrame>
        <p:nvGraphicFramePr>
          <p:cNvPr id="9" name="Content Placeholder 5">
            <a:extLst>
              <a:ext uri="{FF2B5EF4-FFF2-40B4-BE49-F238E27FC236}">
                <a16:creationId xmlns:a16="http://schemas.microsoft.com/office/drawing/2014/main" id="{6F50D63A-12A2-6E4C-B16D-53E62A7BC2D7}"/>
              </a:ext>
            </a:extLst>
          </p:cNvPr>
          <p:cNvGraphicFramePr>
            <a:graphicFrameLocks/>
          </p:cNvGraphicFramePr>
          <p:nvPr userDrawn="1">
            <p:extLst>
              <p:ext uri="{D42A27DB-BD31-4B8C-83A1-F6EECF244321}">
                <p14:modId xmlns:p14="http://schemas.microsoft.com/office/powerpoint/2010/main" val="2231542825"/>
              </p:ext>
            </p:extLst>
          </p:nvPr>
        </p:nvGraphicFramePr>
        <p:xfrm>
          <a:off x="277906" y="690282"/>
          <a:ext cx="5459506" cy="3975381"/>
        </p:xfrm>
        <a:graphic>
          <a:graphicData uri="http://schemas.openxmlformats.org/drawingml/2006/chart">
            <c:chart xmlns:c="http://schemas.openxmlformats.org/drawingml/2006/chart" xmlns:r="http://schemas.openxmlformats.org/officeDocument/2006/relationships" r:id="rId2"/>
          </a:graphicData>
        </a:graphic>
      </p:graphicFrame>
      <p:sp>
        <p:nvSpPr>
          <p:cNvPr id="10" name="Slide Number Placeholder 4">
            <a:extLst>
              <a:ext uri="{FF2B5EF4-FFF2-40B4-BE49-F238E27FC236}">
                <a16:creationId xmlns:a16="http://schemas.microsoft.com/office/drawing/2014/main" id="{C2B84C2C-BCC7-D24B-B299-95886E9BBE2E}"/>
              </a:ext>
            </a:extLst>
          </p:cNvPr>
          <p:cNvSpPr txBox="1">
            <a:spLocks/>
          </p:cNvSpPr>
          <p:nvPr userDrawn="1"/>
        </p:nvSpPr>
        <p:spPr>
          <a:xfrm>
            <a:off x="8369007" y="4768925"/>
            <a:ext cx="432093" cy="264757"/>
          </a:xfrm>
          <a:prstGeom prst="rect">
            <a:avLst/>
          </a:prstGeom>
        </p:spPr>
        <p:txBody>
          <a:bodyPr vert="horz" lIns="91440" tIns="45720" rIns="91440" bIns="45720" rtlCol="0" anchor="ctr"/>
          <a:lstStyle>
            <a:defPPr>
              <a:defRPr lang="en-US"/>
            </a:defPPr>
            <a:lvl1pPr marL="0" algn="r" defTabSz="914400" rtl="0" eaLnBrk="1" latinLnBrk="0" hangingPunct="1">
              <a:defRPr sz="700" kern="1200">
                <a:solidFill>
                  <a:schemeClr val="tx2">
                    <a:lumMod val="60000"/>
                    <a:lumOff val="4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a:t>
            </a:r>
            <a:fld id="{C21C29FA-D81F-9D40-A402-D660C1847F79}" type="slidenum">
              <a:rPr lang="en-US" smtClean="0"/>
              <a:pPr/>
              <a:t>‹#›</a:t>
            </a:fld>
            <a:r>
              <a:rPr lang="en-US"/>
              <a:t> -</a:t>
            </a:r>
          </a:p>
        </p:txBody>
      </p:sp>
      <p:sp>
        <p:nvSpPr>
          <p:cNvPr id="11" name="Title 5">
            <a:extLst>
              <a:ext uri="{FF2B5EF4-FFF2-40B4-BE49-F238E27FC236}">
                <a16:creationId xmlns:a16="http://schemas.microsoft.com/office/drawing/2014/main" id="{98B01978-554C-D84D-B0F9-6BE5A8095A09}"/>
              </a:ext>
            </a:extLst>
          </p:cNvPr>
          <p:cNvSpPr>
            <a:spLocks noGrp="1"/>
          </p:cNvSpPr>
          <p:nvPr>
            <p:ph type="title" hasCustomPrompt="1"/>
          </p:nvPr>
        </p:nvSpPr>
        <p:spPr>
          <a:xfrm>
            <a:off x="342900" y="124182"/>
            <a:ext cx="5516294" cy="714664"/>
          </a:xfrm>
        </p:spPr>
        <p:txBody>
          <a:bodyPr/>
          <a:lstStyle/>
          <a:p>
            <a:r>
              <a:rPr lang="en-US"/>
              <a:t>Pie Chart Example </a:t>
            </a:r>
          </a:p>
        </p:txBody>
      </p:sp>
      <p:sp>
        <p:nvSpPr>
          <p:cNvPr id="12" name="Text Placeholder 3">
            <a:extLst>
              <a:ext uri="{FF2B5EF4-FFF2-40B4-BE49-F238E27FC236}">
                <a16:creationId xmlns:a16="http://schemas.microsoft.com/office/drawing/2014/main" id="{AB747014-A625-4E40-B010-5575EACC89BE}"/>
              </a:ext>
            </a:extLst>
          </p:cNvPr>
          <p:cNvSpPr>
            <a:spLocks noGrp="1"/>
          </p:cNvSpPr>
          <p:nvPr>
            <p:ph type="body" sz="quarter" idx="12"/>
          </p:nvPr>
        </p:nvSpPr>
        <p:spPr>
          <a:xfrm>
            <a:off x="6429375" y="1273175"/>
            <a:ext cx="2371725" cy="1856534"/>
          </a:xfrm>
        </p:spPr>
        <p:txBody>
          <a:bodyPr>
            <a:noAutofit/>
          </a:bodyPr>
          <a:lstStyle>
            <a:lvl1pPr>
              <a:buClrTx/>
              <a:defRPr sz="1400">
                <a:solidFill>
                  <a:schemeClr val="tx2"/>
                </a:solidFill>
              </a:defRPr>
            </a:lvl1pPr>
            <a:lvl2pPr>
              <a:buClrTx/>
              <a:defRPr sz="1200">
                <a:solidFill>
                  <a:schemeClr val="tx2"/>
                </a:solidFill>
              </a:defRPr>
            </a:lvl2pPr>
            <a:lvl3pPr>
              <a:buClrTx/>
              <a:defRPr sz="1200">
                <a:solidFill>
                  <a:schemeClr val="tx2"/>
                </a:solidFill>
              </a:defRPr>
            </a:lvl3pPr>
            <a:lvl4pPr>
              <a:buClrTx/>
              <a:defRPr sz="1200">
                <a:solidFill>
                  <a:schemeClr val="tx2"/>
                </a:solidFill>
              </a:defRPr>
            </a:lvl4pPr>
            <a:lvl5pPr>
              <a:buClrTx/>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67718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ar Chart Exam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87744-3B8E-EB4C-BE81-818455F9D8E5}"/>
              </a:ext>
            </a:extLst>
          </p:cNvPr>
          <p:cNvSpPr>
            <a:spLocks noGrp="1"/>
          </p:cNvSpPr>
          <p:nvPr>
            <p:ph type="title" hasCustomPrompt="1"/>
          </p:nvPr>
        </p:nvSpPr>
        <p:spPr>
          <a:xfrm>
            <a:off x="342899" y="124182"/>
            <a:ext cx="5515207" cy="714664"/>
          </a:xfrm>
        </p:spPr>
        <p:txBody>
          <a:bodyPr/>
          <a:lstStyle>
            <a:lvl1pPr>
              <a:defRPr>
                <a:solidFill>
                  <a:schemeClr val="tx1"/>
                </a:solidFill>
              </a:defRPr>
            </a:lvl1pPr>
          </a:lstStyle>
          <a:p>
            <a:r>
              <a:rPr lang="en-US"/>
              <a:t>Bar Chart Example</a:t>
            </a:r>
          </a:p>
        </p:txBody>
      </p:sp>
      <p:sp>
        <p:nvSpPr>
          <p:cNvPr id="5" name="Footer Placeholder 4">
            <a:extLst>
              <a:ext uri="{FF2B5EF4-FFF2-40B4-BE49-F238E27FC236}">
                <a16:creationId xmlns:a16="http://schemas.microsoft.com/office/drawing/2014/main" id="{95E38466-2F94-2444-A040-D18BA319C401}"/>
              </a:ext>
            </a:extLst>
          </p:cNvPr>
          <p:cNvSpPr>
            <a:spLocks noGrp="1"/>
          </p:cNvSpPr>
          <p:nvPr>
            <p:ph type="ftr" sz="quarter" idx="10"/>
          </p:nvPr>
        </p:nvSpPr>
        <p:spPr/>
        <p:txBody>
          <a:bodyPr/>
          <a:lstStyle>
            <a:lvl1pPr>
              <a:defRPr>
                <a:solidFill>
                  <a:schemeClr val="tx2">
                    <a:lumMod val="60000"/>
                    <a:lumOff val="40000"/>
                  </a:schemeClr>
                </a:solidFill>
              </a:defRPr>
            </a:lvl1pPr>
          </a:lstStyle>
          <a:p>
            <a:r>
              <a:rPr lang="en-US"/>
              <a:t>© Scaled Agile, Inc.</a:t>
            </a:r>
          </a:p>
        </p:txBody>
      </p:sp>
      <p:sp>
        <p:nvSpPr>
          <p:cNvPr id="6" name="Slide Number Placeholder 5">
            <a:extLst>
              <a:ext uri="{FF2B5EF4-FFF2-40B4-BE49-F238E27FC236}">
                <a16:creationId xmlns:a16="http://schemas.microsoft.com/office/drawing/2014/main" id="{89BD8C60-AF59-7147-B2BB-DB1213DC12F5}"/>
              </a:ext>
            </a:extLst>
          </p:cNvPr>
          <p:cNvSpPr>
            <a:spLocks noGrp="1"/>
          </p:cNvSpPr>
          <p:nvPr>
            <p:ph type="sldNum" sz="quarter" idx="11"/>
          </p:nvPr>
        </p:nvSpPr>
        <p:spPr/>
        <p:txBody>
          <a:bodyPr/>
          <a:lstStyle>
            <a:lvl1pPr>
              <a:defRPr>
                <a:solidFill>
                  <a:schemeClr val="tx2">
                    <a:lumMod val="60000"/>
                    <a:lumOff val="40000"/>
                  </a:schemeClr>
                </a:solidFill>
              </a:defRPr>
            </a:lvl1pPr>
          </a:lstStyle>
          <a:p>
            <a:r>
              <a:rPr lang="en-US"/>
              <a:t>- </a:t>
            </a:r>
            <a:fld id="{C21C29FA-D81F-9D40-A402-D660C1847F79}" type="slidenum">
              <a:rPr lang="en-US" smtClean="0"/>
              <a:pPr/>
              <a:t>‹#›</a:t>
            </a:fld>
            <a:r>
              <a:rPr lang="en-US"/>
              <a:t> -</a:t>
            </a:r>
          </a:p>
        </p:txBody>
      </p:sp>
      <p:sp>
        <p:nvSpPr>
          <p:cNvPr id="7" name="Rectangle 6">
            <a:extLst>
              <a:ext uri="{FF2B5EF4-FFF2-40B4-BE49-F238E27FC236}">
                <a16:creationId xmlns:a16="http://schemas.microsoft.com/office/drawing/2014/main" id="{44D3C557-0A0B-7540-B30E-3C1885F0CDF3}"/>
              </a:ext>
            </a:extLst>
          </p:cNvPr>
          <p:cNvSpPr/>
          <p:nvPr userDrawn="1"/>
        </p:nvSpPr>
        <p:spPr>
          <a:xfrm>
            <a:off x="6033247" y="0"/>
            <a:ext cx="3110753" cy="514350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solidFill>
                <a:schemeClr val="accent6"/>
              </a:solidFill>
            </a:endParaRPr>
          </a:p>
        </p:txBody>
      </p:sp>
      <p:graphicFrame>
        <p:nvGraphicFramePr>
          <p:cNvPr id="8" name="Content Placeholder 5">
            <a:extLst>
              <a:ext uri="{FF2B5EF4-FFF2-40B4-BE49-F238E27FC236}">
                <a16:creationId xmlns:a16="http://schemas.microsoft.com/office/drawing/2014/main" id="{A7640503-D039-AD45-831B-518E58765E67}"/>
              </a:ext>
            </a:extLst>
          </p:cNvPr>
          <p:cNvGraphicFramePr>
            <a:graphicFrameLocks/>
          </p:cNvGraphicFramePr>
          <p:nvPr userDrawn="1">
            <p:extLst>
              <p:ext uri="{D42A27DB-BD31-4B8C-83A1-F6EECF244321}">
                <p14:modId xmlns:p14="http://schemas.microsoft.com/office/powerpoint/2010/main" val="1418900245"/>
              </p:ext>
            </p:extLst>
          </p:nvPr>
        </p:nvGraphicFramePr>
        <p:xfrm>
          <a:off x="342899" y="941388"/>
          <a:ext cx="5515207" cy="3652837"/>
        </p:xfrm>
        <a:graphic>
          <a:graphicData uri="http://schemas.openxmlformats.org/drawingml/2006/chart">
            <c:chart xmlns:c="http://schemas.openxmlformats.org/drawingml/2006/chart" xmlns:r="http://schemas.openxmlformats.org/officeDocument/2006/relationships" r:id="rId2"/>
          </a:graphicData>
        </a:graphic>
      </p:graphicFrame>
      <p:sp>
        <p:nvSpPr>
          <p:cNvPr id="9" name="Slide Number Placeholder 4">
            <a:extLst>
              <a:ext uri="{FF2B5EF4-FFF2-40B4-BE49-F238E27FC236}">
                <a16:creationId xmlns:a16="http://schemas.microsoft.com/office/drawing/2014/main" id="{4A9D1746-41D4-D049-AC71-5416C3DD0187}"/>
              </a:ext>
            </a:extLst>
          </p:cNvPr>
          <p:cNvSpPr txBox="1">
            <a:spLocks/>
          </p:cNvSpPr>
          <p:nvPr userDrawn="1"/>
        </p:nvSpPr>
        <p:spPr>
          <a:xfrm>
            <a:off x="8369007" y="4768925"/>
            <a:ext cx="432093" cy="264757"/>
          </a:xfrm>
          <a:prstGeom prst="rect">
            <a:avLst/>
          </a:prstGeom>
        </p:spPr>
        <p:txBody>
          <a:bodyPr vert="horz" lIns="91440" tIns="45720" rIns="91440" bIns="45720" rtlCol="0" anchor="ctr"/>
          <a:lstStyle>
            <a:defPPr>
              <a:defRPr lang="en-US"/>
            </a:defPPr>
            <a:lvl1pPr marL="0" algn="r" defTabSz="914400" rtl="0" eaLnBrk="1" latinLnBrk="0" hangingPunct="1">
              <a:defRPr sz="700" kern="1200">
                <a:solidFill>
                  <a:schemeClr val="tx2">
                    <a:lumMod val="60000"/>
                    <a:lumOff val="4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alpha val="50000"/>
                  </a:schemeClr>
                </a:solidFill>
              </a:rPr>
              <a:t>- </a:t>
            </a:r>
            <a:fld id="{C21C29FA-D81F-9D40-A402-D660C1847F79}" type="slidenum">
              <a:rPr lang="en-US" smtClean="0">
                <a:solidFill>
                  <a:schemeClr val="bg1">
                    <a:alpha val="50000"/>
                  </a:schemeClr>
                </a:solidFill>
              </a:rPr>
              <a:pPr/>
              <a:t>‹#›</a:t>
            </a:fld>
            <a:r>
              <a:rPr lang="en-US">
                <a:solidFill>
                  <a:schemeClr val="bg1">
                    <a:alpha val="50000"/>
                  </a:schemeClr>
                </a:solidFill>
              </a:rPr>
              <a:t> -</a:t>
            </a:r>
          </a:p>
        </p:txBody>
      </p:sp>
      <p:sp>
        <p:nvSpPr>
          <p:cNvPr id="11" name="Text Placeholder 3">
            <a:extLst>
              <a:ext uri="{FF2B5EF4-FFF2-40B4-BE49-F238E27FC236}">
                <a16:creationId xmlns:a16="http://schemas.microsoft.com/office/drawing/2014/main" id="{E0AD377D-5912-FF41-9738-9933D617BF56}"/>
              </a:ext>
            </a:extLst>
          </p:cNvPr>
          <p:cNvSpPr>
            <a:spLocks noGrp="1"/>
          </p:cNvSpPr>
          <p:nvPr>
            <p:ph type="body" sz="quarter" idx="12"/>
          </p:nvPr>
        </p:nvSpPr>
        <p:spPr>
          <a:xfrm>
            <a:off x="6429375" y="1273175"/>
            <a:ext cx="2371725" cy="1856534"/>
          </a:xfrm>
        </p:spPr>
        <p:txBody>
          <a:bodyPr>
            <a:noAutofit/>
          </a:bodyPr>
          <a:lstStyle>
            <a:lvl1pPr>
              <a:buClrTx/>
              <a:defRPr sz="1400">
                <a:solidFill>
                  <a:schemeClr val="bg2"/>
                </a:solidFill>
              </a:defRPr>
            </a:lvl1pPr>
            <a:lvl2pPr>
              <a:buClrTx/>
              <a:defRPr sz="1200">
                <a:solidFill>
                  <a:schemeClr val="bg2"/>
                </a:solidFill>
              </a:defRPr>
            </a:lvl2pPr>
            <a:lvl3pPr>
              <a:buClrTx/>
              <a:defRPr sz="1200">
                <a:solidFill>
                  <a:schemeClr val="bg2"/>
                </a:solidFill>
              </a:defRPr>
            </a:lvl3pPr>
            <a:lvl4pPr>
              <a:buClrTx/>
              <a:defRPr sz="1200">
                <a:solidFill>
                  <a:schemeClr val="bg2"/>
                </a:solidFill>
              </a:defRPr>
            </a:lvl4pPr>
            <a:lvl5pPr>
              <a:buClrTx/>
              <a:defRPr sz="12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1554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asic Chart Example -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87744-3B8E-EB4C-BE81-818455F9D8E5}"/>
              </a:ext>
            </a:extLst>
          </p:cNvPr>
          <p:cNvSpPr>
            <a:spLocks noGrp="1"/>
          </p:cNvSpPr>
          <p:nvPr>
            <p:ph type="title" hasCustomPrompt="1"/>
          </p:nvPr>
        </p:nvSpPr>
        <p:spPr/>
        <p:txBody>
          <a:bodyPr/>
          <a:lstStyle>
            <a:lvl1pPr>
              <a:defRPr>
                <a:solidFill>
                  <a:schemeClr val="tx1"/>
                </a:solidFill>
              </a:defRPr>
            </a:lvl1pPr>
          </a:lstStyle>
          <a:p>
            <a:r>
              <a:rPr lang="en-US"/>
              <a:t>Basic Chart Example - White</a:t>
            </a:r>
          </a:p>
        </p:txBody>
      </p:sp>
      <p:sp>
        <p:nvSpPr>
          <p:cNvPr id="5" name="Footer Placeholder 4">
            <a:extLst>
              <a:ext uri="{FF2B5EF4-FFF2-40B4-BE49-F238E27FC236}">
                <a16:creationId xmlns:a16="http://schemas.microsoft.com/office/drawing/2014/main" id="{95E38466-2F94-2444-A040-D18BA319C401}"/>
              </a:ext>
            </a:extLst>
          </p:cNvPr>
          <p:cNvSpPr>
            <a:spLocks noGrp="1"/>
          </p:cNvSpPr>
          <p:nvPr>
            <p:ph type="ftr" sz="quarter" idx="10"/>
          </p:nvPr>
        </p:nvSpPr>
        <p:spPr/>
        <p:txBody>
          <a:bodyPr/>
          <a:lstStyle>
            <a:lvl1pPr>
              <a:defRPr>
                <a:solidFill>
                  <a:schemeClr val="tx2">
                    <a:lumMod val="60000"/>
                    <a:lumOff val="40000"/>
                  </a:schemeClr>
                </a:solidFill>
              </a:defRPr>
            </a:lvl1pPr>
          </a:lstStyle>
          <a:p>
            <a:r>
              <a:rPr lang="en-US"/>
              <a:t>© Scaled Agile, Inc.</a:t>
            </a:r>
          </a:p>
        </p:txBody>
      </p:sp>
      <p:sp>
        <p:nvSpPr>
          <p:cNvPr id="6" name="Slide Number Placeholder 5">
            <a:extLst>
              <a:ext uri="{FF2B5EF4-FFF2-40B4-BE49-F238E27FC236}">
                <a16:creationId xmlns:a16="http://schemas.microsoft.com/office/drawing/2014/main" id="{89BD8C60-AF59-7147-B2BB-DB1213DC12F5}"/>
              </a:ext>
            </a:extLst>
          </p:cNvPr>
          <p:cNvSpPr>
            <a:spLocks noGrp="1"/>
          </p:cNvSpPr>
          <p:nvPr>
            <p:ph type="sldNum" sz="quarter" idx="11"/>
          </p:nvPr>
        </p:nvSpPr>
        <p:spPr/>
        <p:txBody>
          <a:bodyPr/>
          <a:lstStyle>
            <a:lvl1pPr>
              <a:defRPr>
                <a:solidFill>
                  <a:schemeClr val="tx2">
                    <a:lumMod val="60000"/>
                    <a:lumOff val="40000"/>
                  </a:schemeClr>
                </a:solidFill>
              </a:defRPr>
            </a:lvl1pPr>
          </a:lstStyle>
          <a:p>
            <a:r>
              <a:rPr lang="en-US"/>
              <a:t>- </a:t>
            </a:r>
            <a:fld id="{C21C29FA-D81F-9D40-A402-D660C1847F79}" type="slidenum">
              <a:rPr lang="en-US" smtClean="0"/>
              <a:pPr/>
              <a:t>‹#›</a:t>
            </a:fld>
            <a:r>
              <a:rPr lang="en-US"/>
              <a:t> -</a:t>
            </a:r>
          </a:p>
        </p:txBody>
      </p:sp>
      <p:graphicFrame>
        <p:nvGraphicFramePr>
          <p:cNvPr id="7" name="Content Placeholder 3">
            <a:extLst>
              <a:ext uri="{FF2B5EF4-FFF2-40B4-BE49-F238E27FC236}">
                <a16:creationId xmlns:a16="http://schemas.microsoft.com/office/drawing/2014/main" id="{88C3619C-8DD1-1148-917F-FCCA70DE4C24}"/>
              </a:ext>
            </a:extLst>
          </p:cNvPr>
          <p:cNvGraphicFramePr>
            <a:graphicFrameLocks/>
          </p:cNvGraphicFramePr>
          <p:nvPr userDrawn="1">
            <p:extLst>
              <p:ext uri="{D42A27DB-BD31-4B8C-83A1-F6EECF244321}">
                <p14:modId xmlns:p14="http://schemas.microsoft.com/office/powerpoint/2010/main" val="4037523716"/>
              </p:ext>
            </p:extLst>
          </p:nvPr>
        </p:nvGraphicFramePr>
        <p:xfrm>
          <a:off x="433552" y="1057835"/>
          <a:ext cx="8276895" cy="3496239"/>
        </p:xfrm>
        <a:graphic>
          <a:graphicData uri="http://schemas.openxmlformats.org/drawingml/2006/table">
            <a:tbl>
              <a:tblPr firstRow="1" bandRow="1">
                <a:tableStyleId>{8EC20E35-A176-4012-BC5E-935CFFF8708E}</a:tableStyleId>
              </a:tblPr>
              <a:tblGrid>
                <a:gridCol w="1655379">
                  <a:extLst>
                    <a:ext uri="{9D8B030D-6E8A-4147-A177-3AD203B41FA5}">
                      <a16:colId xmlns:a16="http://schemas.microsoft.com/office/drawing/2014/main" val="20000"/>
                    </a:ext>
                  </a:extLst>
                </a:gridCol>
                <a:gridCol w="1655379">
                  <a:extLst>
                    <a:ext uri="{9D8B030D-6E8A-4147-A177-3AD203B41FA5}">
                      <a16:colId xmlns:a16="http://schemas.microsoft.com/office/drawing/2014/main" val="20001"/>
                    </a:ext>
                  </a:extLst>
                </a:gridCol>
                <a:gridCol w="1655379">
                  <a:extLst>
                    <a:ext uri="{9D8B030D-6E8A-4147-A177-3AD203B41FA5}">
                      <a16:colId xmlns:a16="http://schemas.microsoft.com/office/drawing/2014/main" val="20002"/>
                    </a:ext>
                  </a:extLst>
                </a:gridCol>
                <a:gridCol w="1655379">
                  <a:extLst>
                    <a:ext uri="{9D8B030D-6E8A-4147-A177-3AD203B41FA5}">
                      <a16:colId xmlns:a16="http://schemas.microsoft.com/office/drawing/2014/main" val="20003"/>
                    </a:ext>
                  </a:extLst>
                </a:gridCol>
                <a:gridCol w="1655379">
                  <a:extLst>
                    <a:ext uri="{9D8B030D-6E8A-4147-A177-3AD203B41FA5}">
                      <a16:colId xmlns:a16="http://schemas.microsoft.com/office/drawing/2014/main" val="20004"/>
                    </a:ext>
                  </a:extLst>
                </a:gridCol>
              </a:tblGrid>
              <a:tr h="388471">
                <a:tc>
                  <a:txBody>
                    <a:bodyPr/>
                    <a:lstStyle/>
                    <a:p>
                      <a:pPr algn="ctr"/>
                      <a:r>
                        <a:rPr lang="en-US" sz="1200" b="1" spc="0" baseline="0">
                          <a:latin typeface="+mn-lt"/>
                          <a:ea typeface="Verdana" panose="020B0604030504040204" pitchFamily="34" charset="0"/>
                          <a:cs typeface="Verdana" panose="020B0604030504040204" pitchFamily="34" charset="0"/>
                        </a:rPr>
                        <a:t>Header 1</a:t>
                      </a:r>
                      <a:endParaRPr lang="en-US" sz="1200" b="1" i="0" spc="0" baseline="0">
                        <a:solidFill>
                          <a:schemeClr val="accent1"/>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1200" b="1" spc="0" baseline="0">
                          <a:latin typeface="+mn-lt"/>
                          <a:ea typeface="Verdana" panose="020B0604030504040204" pitchFamily="34" charset="0"/>
                          <a:cs typeface="Verdana" panose="020B0604030504040204" pitchFamily="34" charset="0"/>
                        </a:rPr>
                        <a:t>Header 2</a:t>
                      </a:r>
                      <a:endParaRPr lang="en-US" sz="1200" b="1" i="0" spc="0" baseline="0">
                        <a:solidFill>
                          <a:schemeClr val="accent1"/>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b="1" spc="0" baseline="0">
                          <a:latin typeface="+mn-lt"/>
                          <a:ea typeface="Verdana" panose="020B0604030504040204" pitchFamily="34" charset="0"/>
                          <a:cs typeface="Verdana" panose="020B0604030504040204" pitchFamily="34" charset="0"/>
                        </a:rPr>
                        <a:t>Header 3</a:t>
                      </a:r>
                      <a:endParaRPr lang="en-US" sz="1200" b="1" i="0" spc="0" baseline="0">
                        <a:solidFill>
                          <a:schemeClr val="accent1"/>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b="1" spc="0" baseline="0">
                          <a:latin typeface="+mn-lt"/>
                          <a:ea typeface="Verdana" panose="020B0604030504040204" pitchFamily="34" charset="0"/>
                          <a:cs typeface="Verdana" panose="020B0604030504040204" pitchFamily="34" charset="0"/>
                        </a:rPr>
                        <a:t>Header 4</a:t>
                      </a:r>
                      <a:endParaRPr lang="en-US" sz="1200" b="1" i="0" spc="0" baseline="0">
                        <a:solidFill>
                          <a:schemeClr val="accent1"/>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b="1" spc="0" baseline="0">
                          <a:latin typeface="+mn-lt"/>
                          <a:ea typeface="Verdana" panose="020B0604030504040204" pitchFamily="34" charset="0"/>
                          <a:cs typeface="Verdana" panose="020B0604030504040204" pitchFamily="34" charset="0"/>
                        </a:rPr>
                        <a:t>Header 5</a:t>
                      </a:r>
                      <a:endParaRPr lang="en-US" sz="1200" b="1" i="0" spc="0" baseline="0">
                        <a:solidFill>
                          <a:schemeClr val="accent1"/>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0000"/>
                  </a:ext>
                </a:extLst>
              </a:tr>
              <a:tr h="388471">
                <a:tc>
                  <a:txBody>
                    <a:bodyPr/>
                    <a:lstStyle/>
                    <a:p>
                      <a:pPr algn="ctr"/>
                      <a:r>
                        <a:rPr lang="en-US" sz="1100">
                          <a:solidFill>
                            <a:schemeClr val="tx2"/>
                          </a:solidFill>
                          <a:latin typeface="+mn-lt"/>
                          <a:ea typeface="Verdana" panose="020B0604030504040204" pitchFamily="34" charset="0"/>
                          <a:cs typeface="Verdana" panose="020B0604030504040204" pitchFamily="34" charset="0"/>
                        </a:rPr>
                        <a:t>Item 1</a:t>
                      </a:r>
                    </a:p>
                  </a:txBody>
                  <a:tcPr marL="68580" marR="68580" marT="34290" marB="34290"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a:solidFill>
                            <a:schemeClr val="tx2"/>
                          </a:solidFill>
                          <a:latin typeface="+mn-lt"/>
                          <a:ea typeface="Verdana" panose="020B0604030504040204" pitchFamily="34" charset="0"/>
                          <a:cs typeface="Verdana" panose="020B0604030504040204" pitchFamily="34" charset="0"/>
                        </a:rPr>
                        <a:t>Item 1</a:t>
                      </a: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a:solidFill>
                            <a:schemeClr val="tx2"/>
                          </a:solidFill>
                          <a:latin typeface="+mn-lt"/>
                          <a:ea typeface="Verdana" panose="020B0604030504040204" pitchFamily="34" charset="0"/>
                          <a:cs typeface="Verdana" panose="020B0604030504040204" pitchFamily="34" charset="0"/>
                        </a:rPr>
                        <a:t>Item 1</a:t>
                      </a: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a:solidFill>
                            <a:schemeClr val="tx2"/>
                          </a:solidFill>
                          <a:latin typeface="+mn-lt"/>
                          <a:ea typeface="Verdana" panose="020B0604030504040204" pitchFamily="34" charset="0"/>
                          <a:cs typeface="Verdana" panose="020B0604030504040204" pitchFamily="34" charset="0"/>
                        </a:rPr>
                        <a:t>Item 1</a:t>
                      </a: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a:solidFill>
                            <a:schemeClr val="tx2"/>
                          </a:solidFill>
                          <a:latin typeface="+mn-lt"/>
                          <a:ea typeface="Verdana" panose="020B0604030504040204" pitchFamily="34" charset="0"/>
                          <a:cs typeface="Verdana" panose="020B0604030504040204" pitchFamily="34" charset="0"/>
                        </a:rPr>
                        <a:t>Item 1</a:t>
                      </a:r>
                    </a:p>
                  </a:txBody>
                  <a:tcPr marL="68580" marR="68580" marT="34290" marB="3429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88471">
                <a:tc>
                  <a:txBody>
                    <a:bodyPr/>
                    <a:lstStyle/>
                    <a:p>
                      <a:pPr algn="ctr"/>
                      <a:r>
                        <a:rPr lang="en-US" sz="1100">
                          <a:solidFill>
                            <a:schemeClr val="tx2"/>
                          </a:solidFill>
                          <a:latin typeface="+mn-lt"/>
                          <a:ea typeface="Verdana" panose="020B0604030504040204" pitchFamily="34" charset="0"/>
                          <a:cs typeface="Verdana" panose="020B0604030504040204" pitchFamily="34" charset="0"/>
                        </a:rPr>
                        <a:t>Item 2</a:t>
                      </a:r>
                    </a:p>
                  </a:txBody>
                  <a:tcPr marL="68580" marR="68580" marT="34290" marB="34290"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a:solidFill>
                            <a:schemeClr val="tx2"/>
                          </a:solidFill>
                          <a:latin typeface="+mn-lt"/>
                          <a:ea typeface="Verdana" panose="020B0604030504040204" pitchFamily="34" charset="0"/>
                          <a:cs typeface="Verdana" panose="020B0604030504040204" pitchFamily="34" charset="0"/>
                        </a:rPr>
                        <a:t>Item 2</a:t>
                      </a: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a:solidFill>
                            <a:schemeClr val="tx2"/>
                          </a:solidFill>
                          <a:latin typeface="+mn-lt"/>
                          <a:ea typeface="Verdana" panose="020B0604030504040204" pitchFamily="34" charset="0"/>
                          <a:cs typeface="Verdana" panose="020B0604030504040204" pitchFamily="34" charset="0"/>
                        </a:rPr>
                        <a:t>Item 2</a:t>
                      </a: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a:solidFill>
                            <a:schemeClr val="tx2"/>
                          </a:solidFill>
                          <a:latin typeface="+mn-lt"/>
                          <a:ea typeface="Verdana" panose="020B0604030504040204" pitchFamily="34" charset="0"/>
                          <a:cs typeface="Verdana" panose="020B0604030504040204" pitchFamily="34" charset="0"/>
                        </a:rPr>
                        <a:t>Item 2</a:t>
                      </a: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a:solidFill>
                            <a:schemeClr val="tx2"/>
                          </a:solidFill>
                          <a:latin typeface="+mn-lt"/>
                          <a:ea typeface="Verdana" panose="020B0604030504040204" pitchFamily="34" charset="0"/>
                          <a:cs typeface="Verdana" panose="020B0604030504040204" pitchFamily="34" charset="0"/>
                        </a:rPr>
                        <a:t>Item 2</a:t>
                      </a:r>
                    </a:p>
                  </a:txBody>
                  <a:tcPr marL="68580" marR="68580" marT="34290" marB="3429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88471">
                <a:tc>
                  <a:txBody>
                    <a:bodyPr/>
                    <a:lstStyle/>
                    <a:p>
                      <a:pPr algn="ctr"/>
                      <a:r>
                        <a:rPr lang="en-US" sz="1100" b="1">
                          <a:solidFill>
                            <a:schemeClr val="accent2"/>
                          </a:solidFill>
                          <a:latin typeface="+mn-lt"/>
                          <a:ea typeface="Verdana" panose="020B0604030504040204" pitchFamily="34" charset="0"/>
                          <a:cs typeface="Verdana" panose="020B0604030504040204" pitchFamily="34" charset="0"/>
                        </a:rPr>
                        <a:t>Emphasis</a:t>
                      </a:r>
                    </a:p>
                  </a:txBody>
                  <a:tcPr marL="68580" marR="68580" marT="34290" marB="34290"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1">
                          <a:solidFill>
                            <a:schemeClr val="accent2"/>
                          </a:solidFill>
                          <a:latin typeface="+mn-lt"/>
                          <a:ea typeface="Verdana" panose="020B0604030504040204" pitchFamily="34" charset="0"/>
                          <a:cs typeface="Verdana" panose="020B0604030504040204" pitchFamily="34" charset="0"/>
                        </a:rPr>
                        <a:t>Emphasis</a:t>
                      </a: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1">
                          <a:solidFill>
                            <a:schemeClr val="accent2"/>
                          </a:solidFill>
                          <a:latin typeface="+mn-lt"/>
                          <a:ea typeface="Verdana" panose="020B0604030504040204" pitchFamily="34" charset="0"/>
                          <a:cs typeface="Verdana" panose="020B0604030504040204" pitchFamily="34" charset="0"/>
                        </a:rPr>
                        <a:t>Emphasis</a:t>
                      </a: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1">
                          <a:solidFill>
                            <a:schemeClr val="accent2"/>
                          </a:solidFill>
                          <a:latin typeface="+mn-lt"/>
                          <a:ea typeface="Verdana" panose="020B0604030504040204" pitchFamily="34" charset="0"/>
                          <a:cs typeface="Verdana" panose="020B0604030504040204" pitchFamily="34" charset="0"/>
                        </a:rPr>
                        <a:t>Emphasis</a:t>
                      </a: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1">
                          <a:solidFill>
                            <a:schemeClr val="accent2"/>
                          </a:solidFill>
                          <a:latin typeface="+mn-lt"/>
                          <a:ea typeface="Verdana" panose="020B0604030504040204" pitchFamily="34" charset="0"/>
                          <a:cs typeface="Verdana" panose="020B0604030504040204" pitchFamily="34" charset="0"/>
                        </a:rPr>
                        <a:t>Emphasis</a:t>
                      </a:r>
                    </a:p>
                  </a:txBody>
                  <a:tcPr marL="68580" marR="68580" marT="34290" marB="3429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88471">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88471">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88471">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88471">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388471">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chemeClr val="tx2"/>
                        </a:solidFill>
                        <a:latin typeface="+mn-lt"/>
                        <a:ea typeface="Verdana" panose="020B0604030504040204" pitchFamily="34" charset="0"/>
                        <a:cs typeface="Verdana" panose="020B0604030504040204" pitchFamily="34" charset="0"/>
                      </a:endParaRPr>
                    </a:p>
                  </a:txBody>
                  <a:tcPr marL="68580" marR="68580" marT="34290" marB="3429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596423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asic Chart Example - Revers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87744-3B8E-EB4C-BE81-818455F9D8E5}"/>
              </a:ext>
            </a:extLst>
          </p:cNvPr>
          <p:cNvSpPr>
            <a:spLocks noGrp="1"/>
          </p:cNvSpPr>
          <p:nvPr>
            <p:ph type="title" hasCustomPrompt="1"/>
          </p:nvPr>
        </p:nvSpPr>
        <p:spPr/>
        <p:txBody>
          <a:bodyPr/>
          <a:lstStyle>
            <a:lvl1pPr>
              <a:defRPr>
                <a:solidFill>
                  <a:schemeClr val="bg1"/>
                </a:solidFill>
              </a:defRPr>
            </a:lvl1pPr>
          </a:lstStyle>
          <a:p>
            <a:r>
              <a:rPr lang="en-US"/>
              <a:t>Basic Chart Example - Reverse</a:t>
            </a:r>
          </a:p>
        </p:txBody>
      </p:sp>
      <p:sp>
        <p:nvSpPr>
          <p:cNvPr id="3" name="Footer Placeholder 2">
            <a:extLst>
              <a:ext uri="{FF2B5EF4-FFF2-40B4-BE49-F238E27FC236}">
                <a16:creationId xmlns:a16="http://schemas.microsoft.com/office/drawing/2014/main" id="{95461225-6834-6747-B0F7-15045BAA8353}"/>
              </a:ext>
            </a:extLst>
          </p:cNvPr>
          <p:cNvSpPr>
            <a:spLocks noGrp="1"/>
          </p:cNvSpPr>
          <p:nvPr>
            <p:ph type="ftr" sz="quarter" idx="10"/>
          </p:nvPr>
        </p:nvSpPr>
        <p:spPr/>
        <p:txBody>
          <a:bodyPr/>
          <a:lstStyle>
            <a:lvl1pPr>
              <a:defRPr>
                <a:solidFill>
                  <a:schemeClr val="bg1">
                    <a:alpha val="50000"/>
                  </a:schemeClr>
                </a:solidFill>
              </a:defRPr>
            </a:lvl1pPr>
          </a:lstStyle>
          <a:p>
            <a:r>
              <a:rPr lang="en-US"/>
              <a:t>© Scaled Agile, Inc.</a:t>
            </a:r>
          </a:p>
        </p:txBody>
      </p:sp>
      <p:sp>
        <p:nvSpPr>
          <p:cNvPr id="4" name="Slide Number Placeholder 3">
            <a:extLst>
              <a:ext uri="{FF2B5EF4-FFF2-40B4-BE49-F238E27FC236}">
                <a16:creationId xmlns:a16="http://schemas.microsoft.com/office/drawing/2014/main" id="{31E59C70-7E93-6B49-8B25-D6A03545C070}"/>
              </a:ext>
            </a:extLst>
          </p:cNvPr>
          <p:cNvSpPr>
            <a:spLocks noGrp="1"/>
          </p:cNvSpPr>
          <p:nvPr>
            <p:ph type="sldNum" sz="quarter" idx="11"/>
          </p:nvPr>
        </p:nvSpPr>
        <p:spPr/>
        <p:txBody>
          <a:bodyPr/>
          <a:lstStyle>
            <a:lvl1pPr>
              <a:defRPr>
                <a:solidFill>
                  <a:schemeClr val="bg1">
                    <a:alpha val="50000"/>
                  </a:schemeClr>
                </a:solidFill>
              </a:defRPr>
            </a:lvl1pPr>
          </a:lstStyle>
          <a:p>
            <a:r>
              <a:rPr lang="en-US"/>
              <a:t>- </a:t>
            </a:r>
            <a:fld id="{C21C29FA-D81F-9D40-A402-D660C1847F79}" type="slidenum">
              <a:rPr lang="en-US" smtClean="0"/>
              <a:pPr/>
              <a:t>‹#›</a:t>
            </a:fld>
            <a:r>
              <a:rPr lang="en-US"/>
              <a:t> -</a:t>
            </a:r>
          </a:p>
        </p:txBody>
      </p:sp>
      <p:graphicFrame>
        <p:nvGraphicFramePr>
          <p:cNvPr id="5" name="Content Placeholder 3">
            <a:extLst>
              <a:ext uri="{FF2B5EF4-FFF2-40B4-BE49-F238E27FC236}">
                <a16:creationId xmlns:a16="http://schemas.microsoft.com/office/drawing/2014/main" id="{6E0B4A86-80EC-604C-B914-07F484D84E57}"/>
              </a:ext>
            </a:extLst>
          </p:cNvPr>
          <p:cNvGraphicFramePr>
            <a:graphicFrameLocks/>
          </p:cNvGraphicFramePr>
          <p:nvPr userDrawn="1">
            <p:extLst>
              <p:ext uri="{D42A27DB-BD31-4B8C-83A1-F6EECF244321}">
                <p14:modId xmlns:p14="http://schemas.microsoft.com/office/powerpoint/2010/main" val="3631402589"/>
              </p:ext>
            </p:extLst>
          </p:nvPr>
        </p:nvGraphicFramePr>
        <p:xfrm>
          <a:off x="433553" y="1057835"/>
          <a:ext cx="8276895" cy="3496239"/>
        </p:xfrm>
        <a:graphic>
          <a:graphicData uri="http://schemas.openxmlformats.org/drawingml/2006/table">
            <a:tbl>
              <a:tblPr firstRow="1" bandRow="1">
                <a:tableStyleId>{8FD4443E-F989-4FC4-A0C8-D5A2AF1F390B}</a:tableStyleId>
              </a:tblPr>
              <a:tblGrid>
                <a:gridCol w="1655379">
                  <a:extLst>
                    <a:ext uri="{9D8B030D-6E8A-4147-A177-3AD203B41FA5}">
                      <a16:colId xmlns:a16="http://schemas.microsoft.com/office/drawing/2014/main" val="20000"/>
                    </a:ext>
                  </a:extLst>
                </a:gridCol>
                <a:gridCol w="1655379">
                  <a:extLst>
                    <a:ext uri="{9D8B030D-6E8A-4147-A177-3AD203B41FA5}">
                      <a16:colId xmlns:a16="http://schemas.microsoft.com/office/drawing/2014/main" val="20001"/>
                    </a:ext>
                  </a:extLst>
                </a:gridCol>
                <a:gridCol w="1655379">
                  <a:extLst>
                    <a:ext uri="{9D8B030D-6E8A-4147-A177-3AD203B41FA5}">
                      <a16:colId xmlns:a16="http://schemas.microsoft.com/office/drawing/2014/main" val="20002"/>
                    </a:ext>
                  </a:extLst>
                </a:gridCol>
                <a:gridCol w="1655379">
                  <a:extLst>
                    <a:ext uri="{9D8B030D-6E8A-4147-A177-3AD203B41FA5}">
                      <a16:colId xmlns:a16="http://schemas.microsoft.com/office/drawing/2014/main" val="20003"/>
                    </a:ext>
                  </a:extLst>
                </a:gridCol>
                <a:gridCol w="1655379">
                  <a:extLst>
                    <a:ext uri="{9D8B030D-6E8A-4147-A177-3AD203B41FA5}">
                      <a16:colId xmlns:a16="http://schemas.microsoft.com/office/drawing/2014/main" val="20004"/>
                    </a:ext>
                  </a:extLst>
                </a:gridCol>
              </a:tblGrid>
              <a:tr h="388471">
                <a:tc>
                  <a:txBody>
                    <a:bodyPr/>
                    <a:lstStyle/>
                    <a:p>
                      <a:pPr algn="ctr"/>
                      <a:r>
                        <a:rPr lang="en-US" sz="1200" b="1" spc="300" baseline="0">
                          <a:solidFill>
                            <a:schemeClr val="accent5"/>
                          </a:solidFill>
                        </a:rPr>
                        <a:t>HEADER 1</a:t>
                      </a:r>
                      <a:endParaRPr lang="en-US" sz="1200" b="1" i="0" spc="300" baseline="0">
                        <a:solidFill>
                          <a:schemeClr val="accent5"/>
                        </a:solidFill>
                        <a:latin typeface="+mn-lt"/>
                        <a:ea typeface="Verdana" panose="020B0604030504040204" pitchFamily="34" charset="0"/>
                        <a:cs typeface="Verdana" panose="020B0604030504040204" pitchFamily="34" charset="0"/>
                      </a:endParaRPr>
                    </a:p>
                  </a:txBody>
                  <a:tcPr marL="68580" marR="68580" marT="34290" marB="34290" anchor="ctr">
                    <a:lnL>
                      <a:noFill/>
                    </a:lnL>
                    <a:lnR w="12700" cap="flat" cmpd="sng" algn="ctr">
                      <a:solidFill>
                        <a:schemeClr val="accent5"/>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spc="300" baseline="0">
                          <a:solidFill>
                            <a:schemeClr val="accent5"/>
                          </a:solidFill>
                        </a:rPr>
                        <a:t>HEADER 2</a:t>
                      </a:r>
                      <a:endParaRPr lang="en-US" sz="1200" b="1" i="0" spc="300" baseline="0">
                        <a:solidFill>
                          <a:schemeClr val="accent5"/>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b="1" spc="300" baseline="0">
                          <a:solidFill>
                            <a:schemeClr val="accent5"/>
                          </a:solidFill>
                        </a:rPr>
                        <a:t>HEADER 3</a:t>
                      </a:r>
                      <a:endParaRPr lang="en-US" sz="1200" b="1" i="0" spc="300" baseline="0">
                        <a:solidFill>
                          <a:schemeClr val="accent5"/>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b="1" spc="300" baseline="0">
                          <a:solidFill>
                            <a:schemeClr val="accent5"/>
                          </a:solidFill>
                        </a:rPr>
                        <a:t>HEADER 4</a:t>
                      </a:r>
                      <a:endParaRPr lang="en-US" sz="1200" b="1" i="0" spc="300" baseline="0">
                        <a:solidFill>
                          <a:schemeClr val="accent5"/>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b="1" spc="300" baseline="0">
                          <a:solidFill>
                            <a:schemeClr val="accent5"/>
                          </a:solidFill>
                        </a:rPr>
                        <a:t>HEADER 5</a:t>
                      </a:r>
                      <a:endParaRPr lang="en-US" sz="1200" b="1" i="0" spc="300" baseline="0">
                        <a:solidFill>
                          <a:schemeClr val="accent5"/>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88471">
                <a:tc>
                  <a:txBody>
                    <a:bodyPr/>
                    <a:lstStyle/>
                    <a:p>
                      <a:pPr algn="ctr"/>
                      <a:r>
                        <a:rPr lang="en-US" sz="1100"/>
                        <a:t>Item 1</a:t>
                      </a:r>
                      <a:endParaRPr lang="en-US" sz="11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a:noFill/>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t>Item 1</a:t>
                      </a:r>
                      <a:endParaRPr lang="en-US" sz="11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t>Item 1</a:t>
                      </a:r>
                      <a:endParaRPr lang="en-US" sz="11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t>Item 1</a:t>
                      </a:r>
                      <a:endParaRPr lang="en-US" sz="11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t>Item 1</a:t>
                      </a:r>
                      <a:endParaRPr lang="en-US" sz="11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88471">
                <a:tc>
                  <a:txBody>
                    <a:bodyPr/>
                    <a:lstStyle/>
                    <a:p>
                      <a:pPr algn="ctr"/>
                      <a:r>
                        <a:rPr lang="en-US" sz="1100"/>
                        <a:t>Item 2</a:t>
                      </a:r>
                      <a:endParaRPr lang="en-US" sz="11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a:noFill/>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t>Item 2</a:t>
                      </a:r>
                      <a:endParaRPr lang="en-US" sz="11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t>Item 2</a:t>
                      </a:r>
                      <a:endParaRPr lang="en-US" sz="11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t>Item 2</a:t>
                      </a:r>
                      <a:endParaRPr lang="en-US" sz="11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t>Item 2</a:t>
                      </a:r>
                      <a:endParaRPr lang="en-US" sz="11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88471">
                <a:tc>
                  <a:txBody>
                    <a:bodyPr/>
                    <a:lstStyle/>
                    <a:p>
                      <a:pPr algn="ctr"/>
                      <a:r>
                        <a:rPr lang="en-US" sz="1100" b="0" i="1">
                          <a:solidFill>
                            <a:schemeClr val="accent3"/>
                          </a:solidFill>
                          <a:latin typeface="+mn-lt"/>
                          <a:ea typeface="Verdana" panose="020B0604030504040204" pitchFamily="34" charset="0"/>
                          <a:cs typeface="Verdana" panose="020B0604030504040204" pitchFamily="34" charset="0"/>
                        </a:rPr>
                        <a:t>Emphasis</a:t>
                      </a:r>
                    </a:p>
                  </a:txBody>
                  <a:tcPr marL="68580" marR="68580" marT="34290" marB="34290" anchor="ctr">
                    <a:lnL>
                      <a:noFill/>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0" i="1">
                          <a:solidFill>
                            <a:schemeClr val="accent3"/>
                          </a:solidFill>
                          <a:latin typeface="+mn-lt"/>
                          <a:ea typeface="Verdana" panose="020B0604030504040204" pitchFamily="34" charset="0"/>
                          <a:cs typeface="Verdana" panose="020B0604030504040204" pitchFamily="34" charset="0"/>
                        </a:rPr>
                        <a:t>Emphasis</a:t>
                      </a: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0" i="1">
                          <a:solidFill>
                            <a:schemeClr val="accent3"/>
                          </a:solidFill>
                          <a:latin typeface="+mn-lt"/>
                          <a:ea typeface="Verdana" panose="020B0604030504040204" pitchFamily="34" charset="0"/>
                          <a:cs typeface="Verdana" panose="020B0604030504040204" pitchFamily="34" charset="0"/>
                        </a:rPr>
                        <a:t>Emphasis</a:t>
                      </a: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0" i="1">
                          <a:solidFill>
                            <a:schemeClr val="accent3"/>
                          </a:solidFill>
                          <a:latin typeface="+mn-lt"/>
                          <a:ea typeface="Verdana" panose="020B0604030504040204" pitchFamily="34" charset="0"/>
                          <a:cs typeface="Verdana" panose="020B0604030504040204" pitchFamily="34" charset="0"/>
                        </a:rPr>
                        <a:t>Emphasis</a:t>
                      </a: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0" i="1">
                          <a:solidFill>
                            <a:schemeClr val="accent3"/>
                          </a:solidFill>
                          <a:latin typeface="+mn-lt"/>
                          <a:ea typeface="Verdana" panose="020B0604030504040204" pitchFamily="34" charset="0"/>
                          <a:cs typeface="Verdana" panose="020B0604030504040204" pitchFamily="34" charset="0"/>
                        </a:rPr>
                        <a:t>Emphasis</a:t>
                      </a:r>
                    </a:p>
                  </a:txBody>
                  <a:tcPr marL="68580" marR="68580" marT="34290" marB="34290" anchor="ctr">
                    <a:lnL w="12700" cap="flat" cmpd="sng" algn="ctr">
                      <a:solidFill>
                        <a:schemeClr val="accent5"/>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88471">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a:noFill/>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88471">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a:noFill/>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88471">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a:noFill/>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88471">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a:noFill/>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388471">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a:noFill/>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endParaRPr lang="en-US" sz="1000">
                        <a:solidFill>
                          <a:srgbClr val="39424A"/>
                        </a:solidFill>
                        <a:latin typeface="+mn-lt"/>
                        <a:ea typeface="Verdana" panose="020B0604030504040204" pitchFamily="34" charset="0"/>
                        <a:cs typeface="Verdana" panose="020B0604030504040204" pitchFamily="34" charset="0"/>
                      </a:endParaRPr>
                    </a:p>
                  </a:txBody>
                  <a:tcPr marL="68580" marR="68580" marT="34290" marB="34290" anchor="ctr">
                    <a:lnL w="12700" cap="flat" cmpd="sng" algn="ctr">
                      <a:solidFill>
                        <a:schemeClr val="accent5"/>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745949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Module Layout - Dk Teal">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E2446BD-0C99-8C47-BC42-78A70DE80C0E}"/>
              </a:ext>
            </a:extLst>
          </p:cNvPr>
          <p:cNvSpPr>
            <a:spLocks noGrp="1"/>
          </p:cNvSpPr>
          <p:nvPr>
            <p:ph type="ftr" sz="quarter" idx="10"/>
          </p:nvPr>
        </p:nvSpPr>
        <p:spPr/>
        <p:txBody>
          <a:bodyPr/>
          <a:lstStyle>
            <a:lvl1pPr>
              <a:defRPr>
                <a:solidFill>
                  <a:schemeClr val="bg1">
                    <a:alpha val="50000"/>
                  </a:schemeClr>
                </a:solidFill>
              </a:defRPr>
            </a:lvl1pPr>
          </a:lstStyle>
          <a:p>
            <a:r>
              <a:rPr lang="en-US"/>
              <a:t>© Scaled Agile, Inc.</a:t>
            </a:r>
          </a:p>
        </p:txBody>
      </p:sp>
      <p:sp>
        <p:nvSpPr>
          <p:cNvPr id="3" name="Slide Number Placeholder 2">
            <a:extLst>
              <a:ext uri="{FF2B5EF4-FFF2-40B4-BE49-F238E27FC236}">
                <a16:creationId xmlns:a16="http://schemas.microsoft.com/office/drawing/2014/main" id="{D0B42183-0560-E944-9138-B003701639E5}"/>
              </a:ext>
            </a:extLst>
          </p:cNvPr>
          <p:cNvSpPr>
            <a:spLocks noGrp="1"/>
          </p:cNvSpPr>
          <p:nvPr>
            <p:ph type="sldNum" sz="quarter" idx="11"/>
          </p:nvPr>
        </p:nvSpPr>
        <p:spPr/>
        <p:txBody>
          <a:bodyPr/>
          <a:lstStyle>
            <a:lvl1pPr>
              <a:defRPr>
                <a:solidFill>
                  <a:schemeClr val="bg1">
                    <a:alpha val="50000"/>
                  </a:schemeClr>
                </a:solidFill>
              </a:defRPr>
            </a:lvl1pPr>
          </a:lstStyle>
          <a:p>
            <a:r>
              <a:rPr lang="en-US"/>
              <a:t>- </a:t>
            </a:r>
            <a:fld id="{C21C29FA-D81F-9D40-A402-D660C1847F79}" type="slidenum">
              <a:rPr lang="en-US" smtClean="0"/>
              <a:pPr/>
              <a:t>‹#›</a:t>
            </a:fld>
            <a:r>
              <a:rPr lang="en-US"/>
              <a:t> -</a:t>
            </a:r>
          </a:p>
        </p:txBody>
      </p:sp>
      <p:sp>
        <p:nvSpPr>
          <p:cNvPr id="6" name="Title 1">
            <a:extLst>
              <a:ext uri="{FF2B5EF4-FFF2-40B4-BE49-F238E27FC236}">
                <a16:creationId xmlns:a16="http://schemas.microsoft.com/office/drawing/2014/main" id="{7F30E6FD-3408-CA4E-AABF-BAAE329A44C8}"/>
              </a:ext>
            </a:extLst>
          </p:cNvPr>
          <p:cNvSpPr>
            <a:spLocks noGrp="1"/>
          </p:cNvSpPr>
          <p:nvPr>
            <p:ph type="ctrTitle" hasCustomPrompt="1"/>
          </p:nvPr>
        </p:nvSpPr>
        <p:spPr>
          <a:xfrm>
            <a:off x="1019581" y="674120"/>
            <a:ext cx="7104837" cy="1261935"/>
          </a:xfrm>
          <a:prstGeom prst="rect">
            <a:avLst/>
          </a:prstGeom>
        </p:spPr>
        <p:txBody>
          <a:bodyPr anchor="b">
            <a:noAutofit/>
          </a:bodyPr>
          <a:lstStyle>
            <a:lvl1pPr algn="ctr">
              <a:lnSpc>
                <a:spcPct val="100000"/>
              </a:lnSpc>
              <a:defRPr sz="2800" b="1" spc="0" baseline="0">
                <a:solidFill>
                  <a:schemeClr val="bg1"/>
                </a:solidFill>
                <a:latin typeface="+mj-lt"/>
                <a:ea typeface="Verdana" panose="020B0604030504040204" pitchFamily="34" charset="0"/>
                <a:cs typeface="Verdana" panose="020B0604030504040204" pitchFamily="34" charset="0"/>
              </a:defRPr>
            </a:lvl1pPr>
          </a:lstStyle>
          <a:p>
            <a:r>
              <a:rPr lang="en-US"/>
              <a:t>Click to edit master title style</a:t>
            </a:r>
          </a:p>
        </p:txBody>
      </p:sp>
      <p:sp>
        <p:nvSpPr>
          <p:cNvPr id="7" name="Subtitle 2">
            <a:extLst>
              <a:ext uri="{FF2B5EF4-FFF2-40B4-BE49-F238E27FC236}">
                <a16:creationId xmlns:a16="http://schemas.microsoft.com/office/drawing/2014/main" id="{4E931866-4484-7D44-BDF5-CCF1F76E57FE}"/>
              </a:ext>
            </a:extLst>
          </p:cNvPr>
          <p:cNvSpPr>
            <a:spLocks noGrp="1"/>
          </p:cNvSpPr>
          <p:nvPr>
            <p:ph type="subTitle" idx="1" hasCustomPrompt="1"/>
          </p:nvPr>
        </p:nvSpPr>
        <p:spPr>
          <a:xfrm>
            <a:off x="1019581" y="2109032"/>
            <a:ext cx="7105468" cy="685800"/>
          </a:xfrm>
          <a:prstGeom prst="rect">
            <a:avLst/>
          </a:prstGeom>
        </p:spPr>
        <p:txBody>
          <a:bodyPr anchor="t">
            <a:noAutofit/>
          </a:bodyPr>
          <a:lstStyle>
            <a:lvl1pPr marL="0" indent="0" algn="ctr">
              <a:buNone/>
              <a:defRPr sz="1800" b="0" cap="none" spc="0" baseline="0">
                <a:solidFill>
                  <a:schemeClr val="accent5"/>
                </a:solidFill>
                <a:latin typeface="+mn-lt"/>
                <a:ea typeface="Verdana" panose="020B0604030504040204" pitchFamily="34" charset="0"/>
                <a:cs typeface="Verdana" panose="020B060403050404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2985132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Exercise Layout - Dk Teal">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F73ADE-1C70-E14D-874B-24FEB6FB297A}"/>
              </a:ext>
            </a:extLst>
          </p:cNvPr>
          <p:cNvSpPr/>
          <p:nvPr userDrawn="1"/>
        </p:nvSpPr>
        <p:spPr>
          <a:xfrm>
            <a:off x="429768" y="854923"/>
            <a:ext cx="8284465" cy="3928417"/>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17540DD-3D8D-0B4B-8D36-E4D89E7BC859}"/>
              </a:ext>
            </a:extLst>
          </p:cNvPr>
          <p:cNvSpPr/>
          <p:nvPr userDrawn="1"/>
        </p:nvSpPr>
        <p:spPr>
          <a:xfrm>
            <a:off x="496824" y="923656"/>
            <a:ext cx="8150352" cy="3790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787744-3B8E-EB4C-BE81-818455F9D8E5}"/>
              </a:ext>
            </a:extLst>
          </p:cNvPr>
          <p:cNvSpPr>
            <a:spLocks noGrp="1"/>
          </p:cNvSpPr>
          <p:nvPr>
            <p:ph type="title"/>
          </p:nvPr>
        </p:nvSpPr>
        <p:spPr>
          <a:xfrm>
            <a:off x="184728" y="124182"/>
            <a:ext cx="8737100" cy="714664"/>
          </a:xfrm>
        </p:spPr>
        <p:txBody>
          <a:bodyPr/>
          <a:lstStyle>
            <a:lvl1pPr algn="ctr">
              <a:defRPr>
                <a:solidFill>
                  <a:schemeClr val="bg1"/>
                </a:solidFill>
              </a:defRPr>
            </a:lvl1pPr>
          </a:lstStyle>
          <a:p>
            <a:r>
              <a:rPr lang="en-US"/>
              <a:t>Click to edit Master title style</a:t>
            </a:r>
          </a:p>
        </p:txBody>
      </p:sp>
      <p:sp>
        <p:nvSpPr>
          <p:cNvPr id="3" name="Footer Placeholder 2">
            <a:extLst>
              <a:ext uri="{FF2B5EF4-FFF2-40B4-BE49-F238E27FC236}">
                <a16:creationId xmlns:a16="http://schemas.microsoft.com/office/drawing/2014/main" id="{95461225-6834-6747-B0F7-15045BAA8353}"/>
              </a:ext>
            </a:extLst>
          </p:cNvPr>
          <p:cNvSpPr>
            <a:spLocks noGrp="1"/>
          </p:cNvSpPr>
          <p:nvPr>
            <p:ph type="ftr" sz="quarter" idx="10"/>
          </p:nvPr>
        </p:nvSpPr>
        <p:spPr/>
        <p:txBody>
          <a:bodyPr/>
          <a:lstStyle>
            <a:lvl1pPr>
              <a:defRPr>
                <a:solidFill>
                  <a:schemeClr val="bg1">
                    <a:alpha val="50000"/>
                  </a:schemeClr>
                </a:solidFill>
              </a:defRPr>
            </a:lvl1pPr>
          </a:lstStyle>
          <a:p>
            <a:r>
              <a:rPr lang="en-US"/>
              <a:t>© Scaled Agile, Inc.</a:t>
            </a:r>
          </a:p>
        </p:txBody>
      </p:sp>
      <p:sp>
        <p:nvSpPr>
          <p:cNvPr id="4" name="Slide Number Placeholder 3">
            <a:extLst>
              <a:ext uri="{FF2B5EF4-FFF2-40B4-BE49-F238E27FC236}">
                <a16:creationId xmlns:a16="http://schemas.microsoft.com/office/drawing/2014/main" id="{31E59C70-7E93-6B49-8B25-D6A03545C070}"/>
              </a:ext>
            </a:extLst>
          </p:cNvPr>
          <p:cNvSpPr>
            <a:spLocks noGrp="1"/>
          </p:cNvSpPr>
          <p:nvPr>
            <p:ph type="sldNum" sz="quarter" idx="11"/>
          </p:nvPr>
        </p:nvSpPr>
        <p:spPr/>
        <p:txBody>
          <a:bodyPr/>
          <a:lstStyle>
            <a:lvl1pPr>
              <a:defRPr>
                <a:solidFill>
                  <a:schemeClr val="bg1">
                    <a:alpha val="50000"/>
                  </a:schemeClr>
                </a:solidFill>
              </a:defRPr>
            </a:lvl1pPr>
          </a:lstStyle>
          <a:p>
            <a:r>
              <a:rPr lang="en-US"/>
              <a:t>- </a:t>
            </a:r>
            <a:fld id="{C21C29FA-D81F-9D40-A402-D660C1847F79}" type="slidenum">
              <a:rPr lang="en-US" smtClean="0"/>
              <a:pPr/>
              <a:t>‹#›</a:t>
            </a:fld>
            <a:r>
              <a:rPr lang="en-US"/>
              <a:t> -</a:t>
            </a:r>
          </a:p>
        </p:txBody>
      </p:sp>
      <p:sp>
        <p:nvSpPr>
          <p:cNvPr id="8" name="Content Placeholder 2">
            <a:extLst>
              <a:ext uri="{FF2B5EF4-FFF2-40B4-BE49-F238E27FC236}">
                <a16:creationId xmlns:a16="http://schemas.microsoft.com/office/drawing/2014/main" id="{FC4B7F74-EA7C-0347-B744-C7B30CD57EB2}"/>
              </a:ext>
            </a:extLst>
          </p:cNvPr>
          <p:cNvSpPr>
            <a:spLocks noGrp="1"/>
          </p:cNvSpPr>
          <p:nvPr>
            <p:ph sz="half" idx="1"/>
          </p:nvPr>
        </p:nvSpPr>
        <p:spPr>
          <a:xfrm>
            <a:off x="660216" y="1072000"/>
            <a:ext cx="7898567" cy="1484124"/>
          </a:xfrm>
          <a:prstGeom prst="rect">
            <a:avLst/>
          </a:prstGeom>
        </p:spPr>
        <p:txBody>
          <a:bodyPr>
            <a:spAutoFit/>
          </a:bodyPr>
          <a:lstStyle>
            <a:lvl1pPr>
              <a:defRPr sz="1800"/>
            </a:lvl1pPr>
            <a:lvl2pPr>
              <a:defRPr sz="1400"/>
            </a:lvl2pPr>
            <a:lvl3pPr>
              <a:defRPr sz="1200"/>
            </a:lvl3pPr>
            <a:lvl4pPr>
              <a:defRPr sz="1200"/>
            </a:lvl4pPr>
            <a:lvl5pPr>
              <a:defRPr sz="120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6211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Exercise Layout - Red">
    <p:bg>
      <p:bgPr>
        <a:solidFill>
          <a:srgbClr val="695CA8"/>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F73ADE-1C70-E14D-874B-24FEB6FB297A}"/>
              </a:ext>
            </a:extLst>
          </p:cNvPr>
          <p:cNvSpPr/>
          <p:nvPr userDrawn="1"/>
        </p:nvSpPr>
        <p:spPr>
          <a:xfrm>
            <a:off x="429768" y="854923"/>
            <a:ext cx="8284465" cy="3928417"/>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17540DD-3D8D-0B4B-8D36-E4D89E7BC859}"/>
              </a:ext>
            </a:extLst>
          </p:cNvPr>
          <p:cNvSpPr/>
          <p:nvPr userDrawn="1"/>
        </p:nvSpPr>
        <p:spPr>
          <a:xfrm>
            <a:off x="496824" y="923656"/>
            <a:ext cx="8150352" cy="3790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787744-3B8E-EB4C-BE81-818455F9D8E5}"/>
              </a:ext>
            </a:extLst>
          </p:cNvPr>
          <p:cNvSpPr>
            <a:spLocks noGrp="1"/>
          </p:cNvSpPr>
          <p:nvPr>
            <p:ph type="title"/>
          </p:nvPr>
        </p:nvSpPr>
        <p:spPr>
          <a:xfrm>
            <a:off x="184728" y="124182"/>
            <a:ext cx="8737100" cy="714664"/>
          </a:xfrm>
        </p:spPr>
        <p:txBody>
          <a:bodyPr/>
          <a:lstStyle>
            <a:lvl1pPr algn="ctr">
              <a:defRPr>
                <a:solidFill>
                  <a:schemeClr val="bg1"/>
                </a:solidFill>
              </a:defRPr>
            </a:lvl1pPr>
          </a:lstStyle>
          <a:p>
            <a:r>
              <a:rPr lang="en-US"/>
              <a:t>Click to edit Master title style</a:t>
            </a:r>
          </a:p>
        </p:txBody>
      </p:sp>
      <p:sp>
        <p:nvSpPr>
          <p:cNvPr id="3" name="Footer Placeholder 2">
            <a:extLst>
              <a:ext uri="{FF2B5EF4-FFF2-40B4-BE49-F238E27FC236}">
                <a16:creationId xmlns:a16="http://schemas.microsoft.com/office/drawing/2014/main" id="{95461225-6834-6747-B0F7-15045BAA8353}"/>
              </a:ext>
            </a:extLst>
          </p:cNvPr>
          <p:cNvSpPr>
            <a:spLocks noGrp="1"/>
          </p:cNvSpPr>
          <p:nvPr>
            <p:ph type="ftr" sz="quarter" idx="10"/>
          </p:nvPr>
        </p:nvSpPr>
        <p:spPr/>
        <p:txBody>
          <a:bodyPr/>
          <a:lstStyle>
            <a:lvl1pPr>
              <a:defRPr>
                <a:solidFill>
                  <a:schemeClr val="bg1">
                    <a:alpha val="50000"/>
                  </a:schemeClr>
                </a:solidFill>
              </a:defRPr>
            </a:lvl1pPr>
          </a:lstStyle>
          <a:p>
            <a:r>
              <a:rPr lang="en-US"/>
              <a:t>© Scaled Agile, Inc.</a:t>
            </a:r>
          </a:p>
        </p:txBody>
      </p:sp>
      <p:sp>
        <p:nvSpPr>
          <p:cNvPr id="4" name="Slide Number Placeholder 3">
            <a:extLst>
              <a:ext uri="{FF2B5EF4-FFF2-40B4-BE49-F238E27FC236}">
                <a16:creationId xmlns:a16="http://schemas.microsoft.com/office/drawing/2014/main" id="{31E59C70-7E93-6B49-8B25-D6A03545C070}"/>
              </a:ext>
            </a:extLst>
          </p:cNvPr>
          <p:cNvSpPr>
            <a:spLocks noGrp="1"/>
          </p:cNvSpPr>
          <p:nvPr>
            <p:ph type="sldNum" sz="quarter" idx="11"/>
          </p:nvPr>
        </p:nvSpPr>
        <p:spPr/>
        <p:txBody>
          <a:bodyPr/>
          <a:lstStyle>
            <a:lvl1pPr>
              <a:defRPr>
                <a:solidFill>
                  <a:schemeClr val="bg1">
                    <a:alpha val="50000"/>
                  </a:schemeClr>
                </a:solidFill>
              </a:defRPr>
            </a:lvl1pPr>
          </a:lstStyle>
          <a:p>
            <a:r>
              <a:rPr lang="en-US"/>
              <a:t>- </a:t>
            </a:r>
            <a:fld id="{C21C29FA-D81F-9D40-A402-D660C1847F79}" type="slidenum">
              <a:rPr lang="en-US" smtClean="0"/>
              <a:pPr/>
              <a:t>‹#›</a:t>
            </a:fld>
            <a:r>
              <a:rPr lang="en-US"/>
              <a:t> -</a:t>
            </a:r>
          </a:p>
        </p:txBody>
      </p:sp>
      <p:sp>
        <p:nvSpPr>
          <p:cNvPr id="8" name="Content Placeholder 2">
            <a:extLst>
              <a:ext uri="{FF2B5EF4-FFF2-40B4-BE49-F238E27FC236}">
                <a16:creationId xmlns:a16="http://schemas.microsoft.com/office/drawing/2014/main" id="{FC4B7F74-EA7C-0347-B744-C7B30CD57EB2}"/>
              </a:ext>
            </a:extLst>
          </p:cNvPr>
          <p:cNvSpPr>
            <a:spLocks noGrp="1"/>
          </p:cNvSpPr>
          <p:nvPr>
            <p:ph sz="half" idx="1"/>
          </p:nvPr>
        </p:nvSpPr>
        <p:spPr>
          <a:xfrm>
            <a:off x="660216" y="1072000"/>
            <a:ext cx="7898567" cy="1484124"/>
          </a:xfrm>
          <a:prstGeom prst="rect">
            <a:avLst/>
          </a:prstGeom>
        </p:spPr>
        <p:txBody>
          <a:bodyPr>
            <a:spAutoFit/>
          </a:bodyPr>
          <a:lstStyle>
            <a:lvl1pPr>
              <a:defRPr sz="1800"/>
            </a:lvl1pPr>
            <a:lvl2pPr>
              <a:defRPr sz="1400"/>
            </a:lvl2pPr>
            <a:lvl3pPr>
              <a:defRPr sz="1200"/>
            </a:lvl3pPr>
            <a:lvl4pPr>
              <a:defRPr sz="1200"/>
            </a:lvl4pPr>
            <a:lvl5pPr>
              <a:defRPr sz="120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998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idebar - Dk Teal">
    <p:spTree>
      <p:nvGrpSpPr>
        <p:cNvPr id="1" name=""/>
        <p:cNvGrpSpPr/>
        <p:nvPr/>
      </p:nvGrpSpPr>
      <p:grpSpPr>
        <a:xfrm>
          <a:off x="0" y="0"/>
          <a:ext cx="0" cy="0"/>
          <a:chOff x="0" y="0"/>
          <a:chExt cx="0" cy="0"/>
        </a:xfrm>
      </p:grpSpPr>
      <p:sp>
        <p:nvSpPr>
          <p:cNvPr id="2" name="Rectangle 1"/>
          <p:cNvSpPr/>
          <p:nvPr userDrawn="1"/>
        </p:nvSpPr>
        <p:spPr>
          <a:xfrm>
            <a:off x="1" y="0"/>
            <a:ext cx="3401189" cy="51435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9" name="Text Placeholder 8">
            <a:extLst>
              <a:ext uri="{FF2B5EF4-FFF2-40B4-BE49-F238E27FC236}">
                <a16:creationId xmlns:a16="http://schemas.microsoft.com/office/drawing/2014/main" id="{D0706B42-7EBA-E646-B376-F91F8E5186D8}"/>
              </a:ext>
            </a:extLst>
          </p:cNvPr>
          <p:cNvSpPr>
            <a:spLocks noGrp="1"/>
          </p:cNvSpPr>
          <p:nvPr>
            <p:ph type="body" sz="quarter" idx="12"/>
          </p:nvPr>
        </p:nvSpPr>
        <p:spPr>
          <a:xfrm>
            <a:off x="353173" y="744414"/>
            <a:ext cx="2875802" cy="1382558"/>
          </a:xfrm>
          <a:prstGeom prst="rect">
            <a:avLst/>
          </a:prstGeom>
        </p:spPr>
        <p:txBody>
          <a:bodyPr>
            <a:spAutoFit/>
          </a:bodyPr>
          <a:lstStyle>
            <a:lvl1pPr>
              <a:buClrTx/>
              <a:defRPr sz="1400">
                <a:solidFill>
                  <a:schemeClr val="bg1"/>
                </a:solidFill>
              </a:defRPr>
            </a:lvl1pPr>
            <a:lvl2pPr>
              <a:buClrTx/>
              <a:defRPr sz="1200">
                <a:solidFill>
                  <a:schemeClr val="bg1"/>
                </a:solidFill>
              </a:defRPr>
            </a:lvl2pPr>
            <a:lvl3pPr>
              <a:buClrTx/>
              <a:defRPr sz="1200">
                <a:solidFill>
                  <a:schemeClr val="bg1"/>
                </a:solidFill>
              </a:defRPr>
            </a:lvl3pPr>
            <a:lvl4pPr>
              <a:buClrTx/>
              <a:defRPr sz="1200">
                <a:solidFill>
                  <a:schemeClr val="bg1"/>
                </a:solidFill>
              </a:defRPr>
            </a:lvl4pPr>
            <a:lvl5pPr>
              <a:buClrTx/>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idx="1"/>
          </p:nvPr>
        </p:nvSpPr>
        <p:spPr>
          <a:xfrm>
            <a:off x="3575050" y="1308497"/>
            <a:ext cx="5226050" cy="1484124"/>
          </a:xfrm>
          <a:prstGeom prst="rect">
            <a:avLst/>
          </a:prstGeom>
        </p:spPr>
        <p:txBody>
          <a:bodyPr>
            <a:spAutoFit/>
          </a:bodyPr>
          <a:lstStyle>
            <a:lvl1pPr>
              <a:defRPr sz="1800"/>
            </a:lvl1pPr>
            <a:lvl2pPr>
              <a:defRPr sz="1400"/>
            </a:lvl2pPr>
            <a:lvl3pPr>
              <a:defRPr sz="1200"/>
            </a:lvl3pPr>
            <a:lvl4pPr>
              <a:defRPr sz="1200"/>
            </a:lvl4pPr>
            <a:lvl5pPr>
              <a:defRPr sz="12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hasCustomPrompt="1"/>
          </p:nvPr>
        </p:nvSpPr>
        <p:spPr>
          <a:xfrm>
            <a:off x="3575050" y="744414"/>
            <a:ext cx="5226050" cy="378842"/>
          </a:xfrm>
          <a:prstGeom prst="rect">
            <a:avLst/>
          </a:prstGeom>
        </p:spPr>
        <p:txBody>
          <a:bodyPr>
            <a:noAutofit/>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A3E1888B-4E7B-DA4C-9F4F-CA9E15F6266A}"/>
              </a:ext>
            </a:extLst>
          </p:cNvPr>
          <p:cNvSpPr>
            <a:spLocks noGrp="1"/>
          </p:cNvSpPr>
          <p:nvPr>
            <p:ph type="ftr" sz="quarter" idx="10"/>
          </p:nvPr>
        </p:nvSpPr>
        <p:spPr/>
        <p:txBody>
          <a:bodyPr/>
          <a:lstStyle>
            <a:lvl1pPr>
              <a:defRPr>
                <a:solidFill>
                  <a:schemeClr val="bg1">
                    <a:alpha val="50000"/>
                  </a:schemeClr>
                </a:solidFill>
              </a:defRPr>
            </a:lvl1pPr>
          </a:lstStyle>
          <a:p>
            <a:r>
              <a:rPr lang="en-US"/>
              <a:t>© Scaled Agile, Inc.</a:t>
            </a:r>
          </a:p>
        </p:txBody>
      </p:sp>
      <p:sp>
        <p:nvSpPr>
          <p:cNvPr id="6" name="Slide Number Placeholder 5">
            <a:extLst>
              <a:ext uri="{FF2B5EF4-FFF2-40B4-BE49-F238E27FC236}">
                <a16:creationId xmlns:a16="http://schemas.microsoft.com/office/drawing/2014/main" id="{BED4875C-470A-634F-AA57-A5F07CE93791}"/>
              </a:ext>
            </a:extLst>
          </p:cNvPr>
          <p:cNvSpPr>
            <a:spLocks noGrp="1"/>
          </p:cNvSpPr>
          <p:nvPr>
            <p:ph type="sldNum" sz="quarter" idx="11"/>
          </p:nvPr>
        </p:nvSpPr>
        <p:spPr/>
        <p:txBody>
          <a:bodyPr/>
          <a:lstStyle>
            <a:lvl1pPr>
              <a:defRPr>
                <a:solidFill>
                  <a:schemeClr val="tx2">
                    <a:lumMod val="60000"/>
                    <a:lumOff val="40000"/>
                  </a:schemeClr>
                </a:solidFill>
              </a:defRPr>
            </a:lvl1pPr>
          </a:lstStyle>
          <a:p>
            <a:r>
              <a:rPr lang="en-US"/>
              <a:t>- </a:t>
            </a:r>
            <a:fld id="{C21C29FA-D81F-9D40-A402-D660C1847F79}" type="slidenum">
              <a:rPr lang="en-US" smtClean="0"/>
              <a:pPr/>
              <a:t>‹#›</a:t>
            </a:fld>
            <a:r>
              <a:rPr lang="en-US"/>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idebar - Turq">
    <p:spTree>
      <p:nvGrpSpPr>
        <p:cNvPr id="1" name=""/>
        <p:cNvGrpSpPr/>
        <p:nvPr/>
      </p:nvGrpSpPr>
      <p:grpSpPr>
        <a:xfrm>
          <a:off x="0" y="0"/>
          <a:ext cx="0" cy="0"/>
          <a:chOff x="0" y="0"/>
          <a:chExt cx="0" cy="0"/>
        </a:xfrm>
      </p:grpSpPr>
      <p:sp>
        <p:nvSpPr>
          <p:cNvPr id="6" name="Rectangle 5"/>
          <p:cNvSpPr/>
          <p:nvPr userDrawn="1"/>
        </p:nvSpPr>
        <p:spPr>
          <a:xfrm>
            <a:off x="1" y="0"/>
            <a:ext cx="3401189" cy="5143500"/>
          </a:xfrm>
          <a:prstGeom prst="rect">
            <a:avLst/>
          </a:prstGeom>
          <a:solidFill>
            <a:srgbClr val="8ACB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7" name="Content Placeholder 2"/>
          <p:cNvSpPr>
            <a:spLocks noGrp="1"/>
          </p:cNvSpPr>
          <p:nvPr>
            <p:ph idx="1"/>
          </p:nvPr>
        </p:nvSpPr>
        <p:spPr>
          <a:xfrm>
            <a:off x="3575051" y="1308497"/>
            <a:ext cx="5226050" cy="1484124"/>
          </a:xfrm>
          <a:prstGeom prst="rect">
            <a:avLst/>
          </a:prstGeom>
        </p:spPr>
        <p:txBody>
          <a:bodyPr>
            <a:spAutoFit/>
          </a:bodyPr>
          <a:lstStyle>
            <a:lvl1pPr>
              <a:defRPr sz="1800"/>
            </a:lvl1pPr>
            <a:lvl2pPr>
              <a:defRPr sz="1400"/>
            </a:lvl2pPr>
            <a:lvl3pPr>
              <a:defRPr sz="1200"/>
            </a:lvl3pPr>
            <a:lvl4pPr>
              <a:defRPr sz="1200"/>
            </a:lvl4pPr>
            <a:lvl5pPr>
              <a:defRPr sz="12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7"/>
          <p:cNvSpPr>
            <a:spLocks noGrp="1"/>
          </p:cNvSpPr>
          <p:nvPr>
            <p:ph type="title" hasCustomPrompt="1"/>
          </p:nvPr>
        </p:nvSpPr>
        <p:spPr>
          <a:xfrm>
            <a:off x="3575050" y="744414"/>
            <a:ext cx="5226051" cy="378842"/>
          </a:xfrm>
          <a:prstGeom prst="rect">
            <a:avLst/>
          </a:prstGeom>
        </p:spPr>
        <p:txBody>
          <a:bodyPr>
            <a:noAutofit/>
          </a:bodyPr>
          <a:lstStyle>
            <a:lvl1pPr>
              <a:defRPr>
                <a:solidFill>
                  <a:schemeClr val="tx1"/>
                </a:solidFill>
              </a:defRPr>
            </a:lvl1pPr>
          </a:lstStyle>
          <a:p>
            <a:r>
              <a:rPr lang="en-US"/>
              <a:t>Click to Edit Master Title Style</a:t>
            </a:r>
          </a:p>
        </p:txBody>
      </p:sp>
      <p:sp>
        <p:nvSpPr>
          <p:cNvPr id="2" name="Footer Placeholder 1">
            <a:extLst>
              <a:ext uri="{FF2B5EF4-FFF2-40B4-BE49-F238E27FC236}">
                <a16:creationId xmlns:a16="http://schemas.microsoft.com/office/drawing/2014/main" id="{CF24EB50-79C4-724D-962C-270A4BC6D524}"/>
              </a:ext>
            </a:extLst>
          </p:cNvPr>
          <p:cNvSpPr>
            <a:spLocks noGrp="1"/>
          </p:cNvSpPr>
          <p:nvPr>
            <p:ph type="ftr" sz="quarter" idx="10"/>
          </p:nvPr>
        </p:nvSpPr>
        <p:spPr/>
        <p:txBody>
          <a:bodyPr/>
          <a:lstStyle>
            <a:lvl1pPr>
              <a:defRPr>
                <a:solidFill>
                  <a:schemeClr val="bg1">
                    <a:alpha val="50000"/>
                  </a:schemeClr>
                </a:solidFill>
              </a:defRPr>
            </a:lvl1pPr>
          </a:lstStyle>
          <a:p>
            <a:r>
              <a:rPr lang="en-US"/>
              <a:t>© Scaled Agile, Inc.</a:t>
            </a:r>
          </a:p>
        </p:txBody>
      </p:sp>
      <p:sp>
        <p:nvSpPr>
          <p:cNvPr id="3" name="Slide Number Placeholder 2">
            <a:extLst>
              <a:ext uri="{FF2B5EF4-FFF2-40B4-BE49-F238E27FC236}">
                <a16:creationId xmlns:a16="http://schemas.microsoft.com/office/drawing/2014/main" id="{69212FBB-F6C3-ED40-B32A-7292E04120B7}"/>
              </a:ext>
            </a:extLst>
          </p:cNvPr>
          <p:cNvSpPr>
            <a:spLocks noGrp="1"/>
          </p:cNvSpPr>
          <p:nvPr>
            <p:ph type="sldNum" sz="quarter" idx="11"/>
          </p:nvPr>
        </p:nvSpPr>
        <p:spPr/>
        <p:txBody>
          <a:bodyPr/>
          <a:lstStyle/>
          <a:p>
            <a:r>
              <a:rPr lang="en-US"/>
              <a:t>- </a:t>
            </a:r>
            <a:fld id="{C21C29FA-D81F-9D40-A402-D660C1847F79}" type="slidenum">
              <a:rPr lang="en-US" smtClean="0"/>
              <a:pPr/>
              <a:t>‹#›</a:t>
            </a:fld>
            <a:r>
              <a:rPr lang="en-US"/>
              <a:t> -</a:t>
            </a:r>
          </a:p>
        </p:txBody>
      </p:sp>
      <p:sp>
        <p:nvSpPr>
          <p:cNvPr id="9" name="Text Placeholder 8">
            <a:extLst>
              <a:ext uri="{FF2B5EF4-FFF2-40B4-BE49-F238E27FC236}">
                <a16:creationId xmlns:a16="http://schemas.microsoft.com/office/drawing/2014/main" id="{352A7DB2-C11D-2542-A8DB-E2900871BC33}"/>
              </a:ext>
            </a:extLst>
          </p:cNvPr>
          <p:cNvSpPr>
            <a:spLocks noGrp="1"/>
          </p:cNvSpPr>
          <p:nvPr>
            <p:ph type="body" sz="quarter" idx="12"/>
          </p:nvPr>
        </p:nvSpPr>
        <p:spPr>
          <a:xfrm>
            <a:off x="353173" y="744414"/>
            <a:ext cx="2875802" cy="1382558"/>
          </a:xfrm>
          <a:prstGeom prst="rect">
            <a:avLst/>
          </a:prstGeom>
        </p:spPr>
        <p:txBody>
          <a:bodyPr>
            <a:spAutoFit/>
          </a:bodyPr>
          <a:lstStyle>
            <a:lvl1pPr>
              <a:buClrTx/>
              <a:defRPr sz="1400">
                <a:solidFill>
                  <a:srgbClr val="000000"/>
                </a:solidFill>
              </a:defRPr>
            </a:lvl1pPr>
            <a:lvl2pPr>
              <a:buClrTx/>
              <a:defRPr sz="1200">
                <a:solidFill>
                  <a:srgbClr val="000000"/>
                </a:solidFill>
              </a:defRPr>
            </a:lvl2pPr>
            <a:lvl3pPr>
              <a:buClrTx/>
              <a:defRPr sz="1200">
                <a:solidFill>
                  <a:srgbClr val="000000"/>
                </a:solidFill>
              </a:defRPr>
            </a:lvl3pPr>
            <a:lvl4pPr>
              <a:buClrTx/>
              <a:defRPr sz="1200">
                <a:solidFill>
                  <a:srgbClr val="000000"/>
                </a:solidFill>
              </a:defRPr>
            </a:lvl4pPr>
            <a:lvl5pPr>
              <a:buClrTx/>
              <a:defRPr sz="1200">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10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idebar - Green">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3401189" cy="5143500"/>
          </a:xfrm>
          <a:prstGeom prst="rect">
            <a:avLst/>
          </a:prstGeom>
          <a:solidFill>
            <a:srgbClr val="69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7" name="Content Placeholder 2"/>
          <p:cNvSpPr>
            <a:spLocks noGrp="1"/>
          </p:cNvSpPr>
          <p:nvPr>
            <p:ph idx="1"/>
          </p:nvPr>
        </p:nvSpPr>
        <p:spPr>
          <a:xfrm>
            <a:off x="3575051" y="1308497"/>
            <a:ext cx="5226050" cy="1484124"/>
          </a:xfrm>
          <a:prstGeom prst="rect">
            <a:avLst/>
          </a:prstGeom>
        </p:spPr>
        <p:txBody>
          <a:bodyPr>
            <a:spAutoFit/>
          </a:bodyPr>
          <a:lstStyle>
            <a:lvl1pPr>
              <a:defRPr sz="1800"/>
            </a:lvl1pPr>
            <a:lvl2pPr>
              <a:defRPr sz="1400"/>
            </a:lvl2pPr>
            <a:lvl3pPr>
              <a:defRPr sz="1200"/>
            </a:lvl3pPr>
            <a:lvl4pPr>
              <a:defRPr sz="1200"/>
            </a:lvl4pPr>
            <a:lvl5pPr>
              <a:defRPr sz="12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7"/>
          <p:cNvSpPr>
            <a:spLocks noGrp="1"/>
          </p:cNvSpPr>
          <p:nvPr>
            <p:ph type="title" hasCustomPrompt="1"/>
          </p:nvPr>
        </p:nvSpPr>
        <p:spPr>
          <a:xfrm>
            <a:off x="3575050" y="744414"/>
            <a:ext cx="5226051" cy="378842"/>
          </a:xfrm>
          <a:prstGeom prst="rect">
            <a:avLst/>
          </a:prstGeom>
        </p:spPr>
        <p:txBody>
          <a:bodyPr>
            <a:noAutofit/>
          </a:bodyPr>
          <a:lstStyle>
            <a:lvl1pPr>
              <a:defRPr>
                <a:solidFill>
                  <a:schemeClr val="tx1"/>
                </a:solidFill>
              </a:defRPr>
            </a:lvl1pPr>
          </a:lstStyle>
          <a:p>
            <a:r>
              <a:rPr lang="en-US"/>
              <a:t>Click to Edit Master Title Style</a:t>
            </a:r>
          </a:p>
        </p:txBody>
      </p:sp>
      <p:sp>
        <p:nvSpPr>
          <p:cNvPr id="2" name="Footer Placeholder 1">
            <a:extLst>
              <a:ext uri="{FF2B5EF4-FFF2-40B4-BE49-F238E27FC236}">
                <a16:creationId xmlns:a16="http://schemas.microsoft.com/office/drawing/2014/main" id="{BCB1FA43-2266-D44A-BFB5-3B8D132E2B6B}"/>
              </a:ext>
            </a:extLst>
          </p:cNvPr>
          <p:cNvSpPr>
            <a:spLocks noGrp="1"/>
          </p:cNvSpPr>
          <p:nvPr>
            <p:ph type="ftr" sz="quarter" idx="10"/>
          </p:nvPr>
        </p:nvSpPr>
        <p:spPr/>
        <p:txBody>
          <a:bodyPr/>
          <a:lstStyle>
            <a:lvl1pPr>
              <a:defRPr>
                <a:solidFill>
                  <a:schemeClr val="bg1">
                    <a:alpha val="50000"/>
                  </a:schemeClr>
                </a:solidFill>
              </a:defRPr>
            </a:lvl1pPr>
          </a:lstStyle>
          <a:p>
            <a:r>
              <a:rPr lang="en-US"/>
              <a:t>© Scaled Agile, Inc.</a:t>
            </a:r>
          </a:p>
        </p:txBody>
      </p:sp>
      <p:sp>
        <p:nvSpPr>
          <p:cNvPr id="3" name="Slide Number Placeholder 2">
            <a:extLst>
              <a:ext uri="{FF2B5EF4-FFF2-40B4-BE49-F238E27FC236}">
                <a16:creationId xmlns:a16="http://schemas.microsoft.com/office/drawing/2014/main" id="{5B97C254-853B-0A4E-9D83-357DF1C28D9C}"/>
              </a:ext>
            </a:extLst>
          </p:cNvPr>
          <p:cNvSpPr>
            <a:spLocks noGrp="1"/>
          </p:cNvSpPr>
          <p:nvPr>
            <p:ph type="sldNum" sz="quarter" idx="11"/>
          </p:nvPr>
        </p:nvSpPr>
        <p:spPr/>
        <p:txBody>
          <a:bodyPr/>
          <a:lstStyle>
            <a:lvl1pPr>
              <a:defRPr>
                <a:solidFill>
                  <a:schemeClr val="tx2">
                    <a:lumMod val="60000"/>
                    <a:lumOff val="40000"/>
                  </a:schemeClr>
                </a:solidFill>
              </a:defRPr>
            </a:lvl1pPr>
          </a:lstStyle>
          <a:p>
            <a:r>
              <a:rPr lang="en-US"/>
              <a:t>- </a:t>
            </a:r>
            <a:fld id="{C21C29FA-D81F-9D40-A402-D660C1847F79}" type="slidenum">
              <a:rPr lang="en-US" smtClean="0"/>
              <a:pPr/>
              <a:t>‹#›</a:t>
            </a:fld>
            <a:r>
              <a:rPr lang="en-US"/>
              <a:t> -</a:t>
            </a:r>
          </a:p>
        </p:txBody>
      </p:sp>
      <p:sp>
        <p:nvSpPr>
          <p:cNvPr id="9" name="Text Placeholder 8">
            <a:extLst>
              <a:ext uri="{FF2B5EF4-FFF2-40B4-BE49-F238E27FC236}">
                <a16:creationId xmlns:a16="http://schemas.microsoft.com/office/drawing/2014/main" id="{1F024B3C-CF9C-4B49-A1FA-EB27DF7C1933}"/>
              </a:ext>
            </a:extLst>
          </p:cNvPr>
          <p:cNvSpPr>
            <a:spLocks noGrp="1"/>
          </p:cNvSpPr>
          <p:nvPr>
            <p:ph type="body" sz="quarter" idx="12"/>
          </p:nvPr>
        </p:nvSpPr>
        <p:spPr>
          <a:xfrm>
            <a:off x="353173" y="744414"/>
            <a:ext cx="2875802" cy="1382558"/>
          </a:xfrm>
          <a:prstGeom prst="rect">
            <a:avLst/>
          </a:prstGeom>
        </p:spPr>
        <p:txBody>
          <a:bodyPr>
            <a:spAutoFit/>
          </a:bodyPr>
          <a:lstStyle>
            <a:lvl1pPr>
              <a:buClrTx/>
              <a:defRPr sz="1400">
                <a:solidFill>
                  <a:schemeClr val="bg1"/>
                </a:solidFill>
              </a:defRPr>
            </a:lvl1pPr>
            <a:lvl2pPr>
              <a:buClrTx/>
              <a:defRPr sz="1200">
                <a:solidFill>
                  <a:schemeClr val="bg1"/>
                </a:solidFill>
              </a:defRPr>
            </a:lvl2pPr>
            <a:lvl3pPr>
              <a:buClrTx/>
              <a:defRPr sz="1200">
                <a:solidFill>
                  <a:schemeClr val="bg1"/>
                </a:solidFill>
              </a:defRPr>
            </a:lvl3pPr>
            <a:lvl4pPr>
              <a:buClrTx/>
              <a:defRPr sz="1200">
                <a:solidFill>
                  <a:schemeClr val="bg1"/>
                </a:solidFill>
              </a:defRPr>
            </a:lvl4pPr>
            <a:lvl5pPr>
              <a:buClrTx/>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7369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idebar - Ivory">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a:xfrm>
            <a:off x="1" y="-5475"/>
            <a:ext cx="3401189" cy="51435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7" name="Content Placeholder 2"/>
          <p:cNvSpPr>
            <a:spLocks noGrp="1"/>
          </p:cNvSpPr>
          <p:nvPr>
            <p:ph idx="1"/>
          </p:nvPr>
        </p:nvSpPr>
        <p:spPr>
          <a:xfrm>
            <a:off x="3575051" y="1308497"/>
            <a:ext cx="5226050" cy="1484124"/>
          </a:xfrm>
          <a:prstGeom prst="rect">
            <a:avLst/>
          </a:prstGeom>
        </p:spPr>
        <p:txBody>
          <a:bodyPr>
            <a:spAutoFit/>
          </a:bodyPr>
          <a:lstStyle>
            <a:lvl1pPr>
              <a:defRPr sz="1800"/>
            </a:lvl1pPr>
            <a:lvl2pPr>
              <a:defRPr sz="1400"/>
            </a:lvl2pPr>
            <a:lvl3pPr>
              <a:defRPr sz="1200"/>
            </a:lvl3pPr>
            <a:lvl4pPr>
              <a:defRPr sz="1200"/>
            </a:lvl4pPr>
            <a:lvl5pPr>
              <a:defRPr sz="12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7"/>
          <p:cNvSpPr>
            <a:spLocks noGrp="1"/>
          </p:cNvSpPr>
          <p:nvPr>
            <p:ph type="title" hasCustomPrompt="1"/>
          </p:nvPr>
        </p:nvSpPr>
        <p:spPr>
          <a:xfrm>
            <a:off x="3575050" y="744414"/>
            <a:ext cx="5226051" cy="378842"/>
          </a:xfrm>
          <a:prstGeom prst="rect">
            <a:avLst/>
          </a:prstGeom>
        </p:spPr>
        <p:txBody>
          <a:bodyPr>
            <a:noAutofit/>
          </a:bodyPr>
          <a:lstStyle>
            <a:lvl1pPr>
              <a:defRPr>
                <a:solidFill>
                  <a:schemeClr val="tx1"/>
                </a:solidFill>
              </a:defRPr>
            </a:lvl1pPr>
          </a:lstStyle>
          <a:p>
            <a:r>
              <a:rPr lang="en-US"/>
              <a:t>Click to Edit Master Title Style</a:t>
            </a:r>
          </a:p>
        </p:txBody>
      </p:sp>
      <p:sp>
        <p:nvSpPr>
          <p:cNvPr id="2" name="Footer Placeholder 1">
            <a:extLst>
              <a:ext uri="{FF2B5EF4-FFF2-40B4-BE49-F238E27FC236}">
                <a16:creationId xmlns:a16="http://schemas.microsoft.com/office/drawing/2014/main" id="{BCB1FA43-2266-D44A-BFB5-3B8D132E2B6B}"/>
              </a:ext>
            </a:extLst>
          </p:cNvPr>
          <p:cNvSpPr>
            <a:spLocks noGrp="1"/>
          </p:cNvSpPr>
          <p:nvPr>
            <p:ph type="ftr" sz="quarter" idx="10"/>
          </p:nvPr>
        </p:nvSpPr>
        <p:spPr/>
        <p:txBody>
          <a:bodyPr/>
          <a:lstStyle>
            <a:lvl1pPr>
              <a:defRPr>
                <a:solidFill>
                  <a:schemeClr val="tx2">
                    <a:lumMod val="60000"/>
                    <a:lumOff val="40000"/>
                  </a:schemeClr>
                </a:solidFill>
              </a:defRPr>
            </a:lvl1pPr>
          </a:lstStyle>
          <a:p>
            <a:r>
              <a:rPr lang="en-US"/>
              <a:t>© Scaled Agile, Inc.</a:t>
            </a:r>
          </a:p>
        </p:txBody>
      </p:sp>
      <p:sp>
        <p:nvSpPr>
          <p:cNvPr id="3" name="Slide Number Placeholder 2">
            <a:extLst>
              <a:ext uri="{FF2B5EF4-FFF2-40B4-BE49-F238E27FC236}">
                <a16:creationId xmlns:a16="http://schemas.microsoft.com/office/drawing/2014/main" id="{5B97C254-853B-0A4E-9D83-357DF1C28D9C}"/>
              </a:ext>
            </a:extLst>
          </p:cNvPr>
          <p:cNvSpPr>
            <a:spLocks noGrp="1"/>
          </p:cNvSpPr>
          <p:nvPr>
            <p:ph type="sldNum" sz="quarter" idx="11"/>
          </p:nvPr>
        </p:nvSpPr>
        <p:spPr/>
        <p:txBody>
          <a:bodyPr/>
          <a:lstStyle>
            <a:lvl1pPr>
              <a:defRPr>
                <a:solidFill>
                  <a:schemeClr val="tx2">
                    <a:lumMod val="60000"/>
                    <a:lumOff val="40000"/>
                  </a:schemeClr>
                </a:solidFill>
              </a:defRPr>
            </a:lvl1pPr>
          </a:lstStyle>
          <a:p>
            <a:r>
              <a:rPr lang="en-US"/>
              <a:t>- </a:t>
            </a:r>
            <a:fld id="{C21C29FA-D81F-9D40-A402-D660C1847F79}" type="slidenum">
              <a:rPr lang="en-US" smtClean="0"/>
              <a:pPr/>
              <a:t>‹#›</a:t>
            </a:fld>
            <a:r>
              <a:rPr lang="en-US"/>
              <a:t> -</a:t>
            </a:r>
          </a:p>
        </p:txBody>
      </p:sp>
      <p:sp>
        <p:nvSpPr>
          <p:cNvPr id="9" name="Text Placeholder 8">
            <a:extLst>
              <a:ext uri="{FF2B5EF4-FFF2-40B4-BE49-F238E27FC236}">
                <a16:creationId xmlns:a16="http://schemas.microsoft.com/office/drawing/2014/main" id="{EA180472-CBFE-474C-8127-A77DF7F011D6}"/>
              </a:ext>
            </a:extLst>
          </p:cNvPr>
          <p:cNvSpPr>
            <a:spLocks noGrp="1"/>
          </p:cNvSpPr>
          <p:nvPr>
            <p:ph type="body" sz="quarter" idx="12"/>
          </p:nvPr>
        </p:nvSpPr>
        <p:spPr>
          <a:xfrm>
            <a:off x="353173" y="744414"/>
            <a:ext cx="2875802" cy="1382558"/>
          </a:xfrm>
          <a:prstGeom prst="rect">
            <a:avLst/>
          </a:prstGeom>
        </p:spPr>
        <p:txBody>
          <a:bodyPr>
            <a:spAutoFit/>
          </a:bodyPr>
          <a:lstStyle>
            <a:lvl1pPr>
              <a:buClrTx/>
              <a:defRPr sz="1400">
                <a:solidFill>
                  <a:schemeClr val="tx1"/>
                </a:solidFill>
              </a:defRPr>
            </a:lvl1pPr>
            <a:lvl2pPr>
              <a:buClrTx/>
              <a:defRPr sz="1200">
                <a:solidFill>
                  <a:schemeClr val="tx1"/>
                </a:solidFill>
              </a:defRPr>
            </a:lvl2pPr>
            <a:lvl3pPr>
              <a:buClrTx/>
              <a:defRPr sz="1200">
                <a:solidFill>
                  <a:schemeClr val="tx1"/>
                </a:solidFill>
              </a:defRPr>
            </a:lvl3pPr>
            <a:lvl4pPr>
              <a:buClrTx/>
              <a:defRPr sz="1200">
                <a:solidFill>
                  <a:schemeClr val="tx1"/>
                </a:solidFill>
              </a:defRPr>
            </a:lvl4pPr>
            <a:lvl5pPr>
              <a:buClrTx/>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9708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Hero Call Out - Turq">
    <p:bg>
      <p:bgPr>
        <a:solidFill>
          <a:schemeClr val="accent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1A2F86-9AA5-F847-A945-A52BB9A952D9}"/>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272" t="-1018" r="11164" b="-1018"/>
          <a:stretch/>
        </p:blipFill>
        <p:spPr>
          <a:xfrm rot="10800000">
            <a:off x="-2" y="0"/>
            <a:ext cx="4637505" cy="5143500"/>
          </a:xfrm>
          <a:prstGeom prst="rect">
            <a:avLst/>
          </a:prstGeom>
        </p:spPr>
      </p:pic>
      <p:sp>
        <p:nvSpPr>
          <p:cNvPr id="2" name="Footer Placeholder 1">
            <a:extLst>
              <a:ext uri="{FF2B5EF4-FFF2-40B4-BE49-F238E27FC236}">
                <a16:creationId xmlns:a16="http://schemas.microsoft.com/office/drawing/2014/main" id="{ECCD0189-7544-8949-B72D-6F8DD3B40513}"/>
              </a:ext>
            </a:extLst>
          </p:cNvPr>
          <p:cNvSpPr>
            <a:spLocks noGrp="1"/>
          </p:cNvSpPr>
          <p:nvPr>
            <p:ph type="ftr" sz="quarter" idx="10"/>
          </p:nvPr>
        </p:nvSpPr>
        <p:spPr/>
        <p:txBody>
          <a:bodyPr/>
          <a:lstStyle>
            <a:lvl1pPr>
              <a:defRPr>
                <a:solidFill>
                  <a:schemeClr val="bg1">
                    <a:alpha val="50000"/>
                  </a:schemeClr>
                </a:solidFill>
              </a:defRPr>
            </a:lvl1pPr>
          </a:lstStyle>
          <a:p>
            <a:r>
              <a:rPr lang="en-US"/>
              <a:t>© Scaled Agile, Inc.</a:t>
            </a:r>
          </a:p>
        </p:txBody>
      </p:sp>
      <p:sp>
        <p:nvSpPr>
          <p:cNvPr id="3" name="Slide Number Placeholder 2">
            <a:extLst>
              <a:ext uri="{FF2B5EF4-FFF2-40B4-BE49-F238E27FC236}">
                <a16:creationId xmlns:a16="http://schemas.microsoft.com/office/drawing/2014/main" id="{C76D50CE-0A38-FE44-AAC2-2EFD774E08F9}"/>
              </a:ext>
            </a:extLst>
          </p:cNvPr>
          <p:cNvSpPr>
            <a:spLocks noGrp="1"/>
          </p:cNvSpPr>
          <p:nvPr>
            <p:ph type="sldNum" sz="quarter" idx="11"/>
          </p:nvPr>
        </p:nvSpPr>
        <p:spPr/>
        <p:txBody>
          <a:bodyPr/>
          <a:lstStyle>
            <a:lvl1pPr>
              <a:defRPr>
                <a:solidFill>
                  <a:schemeClr val="bg1">
                    <a:alpha val="50000"/>
                  </a:schemeClr>
                </a:solidFill>
              </a:defRPr>
            </a:lvl1pPr>
          </a:lstStyle>
          <a:p>
            <a:r>
              <a:rPr lang="en-US"/>
              <a:t>- </a:t>
            </a:r>
            <a:fld id="{C21C29FA-D81F-9D40-A402-D660C1847F79}" type="slidenum">
              <a:rPr lang="en-US" smtClean="0"/>
              <a:pPr/>
              <a:t>‹#›</a:t>
            </a:fld>
            <a:r>
              <a:rPr lang="en-US"/>
              <a:t> -</a:t>
            </a:r>
          </a:p>
        </p:txBody>
      </p:sp>
      <p:sp>
        <p:nvSpPr>
          <p:cNvPr id="7" name="Title 1">
            <a:extLst>
              <a:ext uri="{FF2B5EF4-FFF2-40B4-BE49-F238E27FC236}">
                <a16:creationId xmlns:a16="http://schemas.microsoft.com/office/drawing/2014/main" id="{51E50B00-30BD-4E4B-9FEE-605A1DE4FD86}"/>
              </a:ext>
            </a:extLst>
          </p:cNvPr>
          <p:cNvSpPr>
            <a:spLocks noGrp="1"/>
          </p:cNvSpPr>
          <p:nvPr>
            <p:ph type="ctrTitle" hasCustomPrompt="1"/>
          </p:nvPr>
        </p:nvSpPr>
        <p:spPr>
          <a:xfrm>
            <a:off x="4650892" y="1463110"/>
            <a:ext cx="3836710" cy="1714640"/>
          </a:xfrm>
          <a:prstGeom prst="rect">
            <a:avLst/>
          </a:prstGeom>
        </p:spPr>
        <p:txBody>
          <a:bodyPr anchor="b">
            <a:noAutofit/>
          </a:bodyPr>
          <a:lstStyle>
            <a:lvl1pPr algn="l">
              <a:lnSpc>
                <a:spcPct val="100000"/>
              </a:lnSpc>
              <a:defRPr sz="2400" b="0" spc="0" baseline="0">
                <a:solidFill>
                  <a:schemeClr val="bg2"/>
                </a:solidFill>
                <a:latin typeface="Georgia" panose="02040502050405020303" pitchFamily="18" charset="0"/>
                <a:ea typeface="Verdana" panose="020B0604030504040204" pitchFamily="34" charset="0"/>
                <a:cs typeface="Verdana" panose="020B0604030504040204" pitchFamily="34" charset="0"/>
              </a:defRPr>
            </a:lvl1pPr>
          </a:lstStyle>
          <a:p>
            <a:r>
              <a:rPr lang="en-US"/>
              <a:t>Click to edit master title style</a:t>
            </a:r>
          </a:p>
        </p:txBody>
      </p:sp>
      <p:sp>
        <p:nvSpPr>
          <p:cNvPr id="8" name="Subtitle 2">
            <a:extLst>
              <a:ext uri="{FF2B5EF4-FFF2-40B4-BE49-F238E27FC236}">
                <a16:creationId xmlns:a16="http://schemas.microsoft.com/office/drawing/2014/main" id="{6618B774-5A22-4241-89D1-7805B93AD2AA}"/>
              </a:ext>
            </a:extLst>
          </p:cNvPr>
          <p:cNvSpPr>
            <a:spLocks noGrp="1"/>
          </p:cNvSpPr>
          <p:nvPr>
            <p:ph type="subTitle" idx="1" hasCustomPrompt="1"/>
          </p:nvPr>
        </p:nvSpPr>
        <p:spPr>
          <a:xfrm>
            <a:off x="4651142" y="3247022"/>
            <a:ext cx="3837051" cy="685800"/>
          </a:xfrm>
          <a:prstGeom prst="rect">
            <a:avLst/>
          </a:prstGeom>
        </p:spPr>
        <p:txBody>
          <a:bodyPr>
            <a:noAutofit/>
          </a:bodyPr>
          <a:lstStyle>
            <a:lvl1pPr marL="0" indent="0" algn="l">
              <a:buNone/>
              <a:defRPr sz="1200" b="0" cap="none" spc="0" baseline="0">
                <a:solidFill>
                  <a:schemeClr val="bg2"/>
                </a:solidFill>
                <a:latin typeface="+mn-lt"/>
                <a:ea typeface="Verdana" panose="020B0604030504040204" pitchFamily="34" charset="0"/>
                <a:cs typeface="Verdana" panose="020B060403050404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064290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ro Call Out - Lt Blue 2">
    <p:bg>
      <p:bgPr>
        <a:solidFill>
          <a:schemeClr val="accent5"/>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14DF8727-D997-C84E-AF7C-A64C30B0548F}"/>
              </a:ext>
            </a:extLst>
          </p:cNvPr>
          <p:cNvSpPr>
            <a:spLocks noGrp="1"/>
          </p:cNvSpPr>
          <p:nvPr>
            <p:ph type="ftr" sz="quarter" idx="10"/>
          </p:nvPr>
        </p:nvSpPr>
        <p:spPr>
          <a:xfrm>
            <a:off x="342900" y="4767263"/>
            <a:ext cx="4778739" cy="274637"/>
          </a:xfrm>
          <a:noFill/>
        </p:spPr>
        <p:txBody>
          <a:bodyPr/>
          <a:lstStyle>
            <a:lvl1pPr>
              <a:defRPr>
                <a:solidFill>
                  <a:schemeClr val="bg1">
                    <a:alpha val="60000"/>
                  </a:schemeClr>
                </a:solidFill>
              </a:defRPr>
            </a:lvl1pPr>
          </a:lstStyle>
          <a:p>
            <a:r>
              <a:rPr lang="en-US"/>
              <a:t>© Scaled Agile, Inc.</a:t>
            </a:r>
          </a:p>
        </p:txBody>
      </p:sp>
      <p:sp>
        <p:nvSpPr>
          <p:cNvPr id="7" name="Slide Number Placeholder 6">
            <a:extLst>
              <a:ext uri="{FF2B5EF4-FFF2-40B4-BE49-F238E27FC236}">
                <a16:creationId xmlns:a16="http://schemas.microsoft.com/office/drawing/2014/main" id="{C13512B5-2431-1E49-B3F2-865C5FE84FD3}"/>
              </a:ext>
            </a:extLst>
          </p:cNvPr>
          <p:cNvSpPr>
            <a:spLocks noGrp="1"/>
          </p:cNvSpPr>
          <p:nvPr>
            <p:ph type="sldNum" sz="quarter" idx="11"/>
          </p:nvPr>
        </p:nvSpPr>
        <p:spPr>
          <a:noFill/>
        </p:spPr>
        <p:txBody>
          <a:bodyPr/>
          <a:lstStyle>
            <a:lvl1pPr>
              <a:defRPr>
                <a:solidFill>
                  <a:schemeClr val="bg1">
                    <a:alpha val="60000"/>
                  </a:schemeClr>
                </a:solidFill>
              </a:defRPr>
            </a:lvl1pPr>
          </a:lstStyle>
          <a:p>
            <a:r>
              <a:rPr lang="en-US"/>
              <a:t>- </a:t>
            </a:r>
            <a:fld id="{C21C29FA-D81F-9D40-A402-D660C1847F79}" type="slidenum">
              <a:rPr lang="en-US" smtClean="0"/>
              <a:pPr/>
              <a:t>‹#›</a:t>
            </a:fld>
            <a:r>
              <a:rPr lang="en-US"/>
              <a:t> -</a:t>
            </a:r>
          </a:p>
        </p:txBody>
      </p:sp>
      <p:sp>
        <p:nvSpPr>
          <p:cNvPr id="13" name="Title 1">
            <a:extLst>
              <a:ext uri="{FF2B5EF4-FFF2-40B4-BE49-F238E27FC236}">
                <a16:creationId xmlns:a16="http://schemas.microsoft.com/office/drawing/2014/main" id="{861A5598-2A00-A54D-B147-EA1B918E8870}"/>
              </a:ext>
            </a:extLst>
          </p:cNvPr>
          <p:cNvSpPr>
            <a:spLocks noGrp="1"/>
          </p:cNvSpPr>
          <p:nvPr>
            <p:ph type="ctrTitle" hasCustomPrompt="1"/>
          </p:nvPr>
        </p:nvSpPr>
        <p:spPr>
          <a:xfrm>
            <a:off x="784570" y="1502867"/>
            <a:ext cx="6048491" cy="1714640"/>
          </a:xfrm>
          <a:prstGeom prst="rect">
            <a:avLst/>
          </a:prstGeom>
        </p:spPr>
        <p:txBody>
          <a:bodyPr anchor="b">
            <a:noAutofit/>
          </a:bodyPr>
          <a:lstStyle>
            <a:lvl1pPr algn="l">
              <a:lnSpc>
                <a:spcPct val="100000"/>
              </a:lnSpc>
              <a:defRPr sz="2400" b="0" spc="0" baseline="0">
                <a:solidFill>
                  <a:schemeClr val="tx1"/>
                </a:solidFill>
                <a:latin typeface="Georgia" panose="02040502050405020303" pitchFamily="18" charset="0"/>
                <a:ea typeface="Verdana" panose="020B0604030504040204" pitchFamily="34" charset="0"/>
                <a:cs typeface="Verdana" panose="020B0604030504040204" pitchFamily="34" charset="0"/>
              </a:defRPr>
            </a:lvl1pPr>
          </a:lstStyle>
          <a:p>
            <a:r>
              <a:rPr lang="en-US"/>
              <a:t>Click to edit master title style</a:t>
            </a:r>
          </a:p>
        </p:txBody>
      </p:sp>
      <p:sp>
        <p:nvSpPr>
          <p:cNvPr id="14" name="Subtitle 2">
            <a:extLst>
              <a:ext uri="{FF2B5EF4-FFF2-40B4-BE49-F238E27FC236}">
                <a16:creationId xmlns:a16="http://schemas.microsoft.com/office/drawing/2014/main" id="{3275008E-4C6D-8648-8ED2-52AB4A69CD43}"/>
              </a:ext>
            </a:extLst>
          </p:cNvPr>
          <p:cNvSpPr>
            <a:spLocks noGrp="1"/>
          </p:cNvSpPr>
          <p:nvPr>
            <p:ph type="subTitle" idx="1" hasCustomPrompt="1"/>
          </p:nvPr>
        </p:nvSpPr>
        <p:spPr>
          <a:xfrm>
            <a:off x="784820" y="3286779"/>
            <a:ext cx="6049029" cy="685800"/>
          </a:xfrm>
          <a:prstGeom prst="rect">
            <a:avLst/>
          </a:prstGeom>
        </p:spPr>
        <p:txBody>
          <a:bodyPr>
            <a:noAutofit/>
          </a:bodyPr>
          <a:lstStyle>
            <a:lvl1pPr marL="0" indent="0" algn="l">
              <a:buNone/>
              <a:defRPr sz="1200" b="0" cap="none" spc="0" baseline="0">
                <a:solidFill>
                  <a:schemeClr val="tx1"/>
                </a:solidFill>
                <a:latin typeface="+mn-lt"/>
                <a:ea typeface="Verdana" panose="020B0604030504040204" pitchFamily="34" charset="0"/>
                <a:cs typeface="Verdana" panose="020B060403050404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pic>
        <p:nvPicPr>
          <p:cNvPr id="9" name="Graphic 8">
            <a:extLst>
              <a:ext uri="{FF2B5EF4-FFF2-40B4-BE49-F238E27FC236}">
                <a16:creationId xmlns:a16="http://schemas.microsoft.com/office/drawing/2014/main" id="{98C7E177-FD06-9645-8459-AE62C4B1001A}"/>
              </a:ext>
            </a:extLst>
          </p:cNvPr>
          <p:cNvPicPr>
            <a:picLocks/>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48" r="41136"/>
          <a:stretch/>
        </p:blipFill>
        <p:spPr>
          <a:xfrm>
            <a:off x="7628965" y="-1"/>
            <a:ext cx="1515036" cy="2575251"/>
          </a:xfrm>
          <a:prstGeom prst="rect">
            <a:avLst/>
          </a:prstGeom>
        </p:spPr>
      </p:pic>
    </p:spTree>
    <p:extLst>
      <p:ext uri="{BB962C8B-B14F-4D97-AF65-F5344CB8AC3E}">
        <p14:creationId xmlns:p14="http://schemas.microsoft.com/office/powerpoint/2010/main" val="1941834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lank - White">
    <p:bg>
      <p:bgPr>
        <a:solidFill>
          <a:schemeClr val="bg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0DA5A31-260B-FA46-85D0-EA4C1BC1FDB7}"/>
              </a:ext>
            </a:extLst>
          </p:cNvPr>
          <p:cNvSpPr>
            <a:spLocks noGrp="1"/>
          </p:cNvSpPr>
          <p:nvPr>
            <p:ph type="ftr" sz="quarter" idx="10"/>
          </p:nvPr>
        </p:nvSpPr>
        <p:spPr/>
        <p:txBody>
          <a:bodyPr/>
          <a:lstStyle>
            <a:lvl1pPr>
              <a:defRPr>
                <a:solidFill>
                  <a:schemeClr val="tx2">
                    <a:lumMod val="60000"/>
                    <a:lumOff val="40000"/>
                  </a:schemeClr>
                </a:solidFill>
              </a:defRPr>
            </a:lvl1pPr>
          </a:lstStyle>
          <a:p>
            <a:r>
              <a:rPr lang="en-US"/>
              <a:t>© Scaled Agile, Inc.</a:t>
            </a:r>
          </a:p>
        </p:txBody>
      </p:sp>
      <p:sp>
        <p:nvSpPr>
          <p:cNvPr id="5" name="Slide Number Placeholder 4">
            <a:extLst>
              <a:ext uri="{FF2B5EF4-FFF2-40B4-BE49-F238E27FC236}">
                <a16:creationId xmlns:a16="http://schemas.microsoft.com/office/drawing/2014/main" id="{056723EC-54C9-404A-8370-CBCE96EFB8EA}"/>
              </a:ext>
            </a:extLst>
          </p:cNvPr>
          <p:cNvSpPr>
            <a:spLocks noGrp="1"/>
          </p:cNvSpPr>
          <p:nvPr>
            <p:ph type="sldNum" sz="quarter" idx="11"/>
          </p:nvPr>
        </p:nvSpPr>
        <p:spPr/>
        <p:txBody>
          <a:bodyPr/>
          <a:lstStyle>
            <a:lvl1pPr>
              <a:defRPr>
                <a:solidFill>
                  <a:schemeClr val="tx2">
                    <a:lumMod val="60000"/>
                    <a:lumOff val="40000"/>
                  </a:schemeClr>
                </a:solidFill>
              </a:defRPr>
            </a:lvl1pPr>
          </a:lstStyle>
          <a:p>
            <a:r>
              <a:rPr lang="en-US"/>
              <a:t>- </a:t>
            </a:r>
            <a:fld id="{C21C29FA-D81F-9D40-A402-D660C1847F79}" type="slidenum">
              <a:rPr lang="en-US" smtClean="0"/>
              <a:pPr/>
              <a:t>‹#›</a:t>
            </a:fld>
            <a:r>
              <a:rPr lang="en-US"/>
              <a:t> -</a:t>
            </a:r>
          </a:p>
        </p:txBody>
      </p:sp>
    </p:spTree>
    <p:extLst>
      <p:ext uri="{BB962C8B-B14F-4D97-AF65-F5344CB8AC3E}">
        <p14:creationId xmlns:p14="http://schemas.microsoft.com/office/powerpoint/2010/main" val="2252635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Blank - Gray">
    <p:bg>
      <p:bgPr>
        <a:solidFill>
          <a:schemeClr val="tx2"/>
        </a:solidFill>
        <a:effectLst/>
      </p:bgPr>
    </p:bg>
    <p:spTree>
      <p:nvGrpSpPr>
        <p:cNvPr id="1" name=""/>
        <p:cNvGrpSpPr/>
        <p:nvPr/>
      </p:nvGrpSpPr>
      <p:grpSpPr>
        <a:xfrm>
          <a:off x="0" y="0"/>
          <a:ext cx="0" cy="0"/>
          <a:chOff x="0" y="0"/>
          <a:chExt cx="0" cy="0"/>
        </a:xfrm>
      </p:grpSpPr>
      <p:pic>
        <p:nvPicPr>
          <p:cNvPr id="4" name="Graphic 1">
            <a:extLst>
              <a:ext uri="{FF2B5EF4-FFF2-40B4-BE49-F238E27FC236}">
                <a16:creationId xmlns:a16="http://schemas.microsoft.com/office/drawing/2014/main" id="{3958C55D-40E0-C514-3C56-BE61C9B722FE}"/>
              </a:ext>
            </a:extLst>
          </p:cNvPr>
          <p:cNvPicPr/>
          <p:nvPr userDrawn="1"/>
        </p:nvPicPr>
        <p:blipFill>
          <a:blip r:embed="rId2">
            <a:extLst>
              <a:ext uri="{28A0092B-C50C-407E-A947-70E740481C1C}">
                <a14:useLocalDpi xmlns:a14="http://schemas.microsoft.com/office/drawing/2010/main" val="0"/>
              </a:ext>
            </a:extLst>
          </a:blip>
          <a:srcRect/>
          <a:stretch/>
        </p:blipFill>
        <p:spPr>
          <a:xfrm>
            <a:off x="1111" y="0"/>
            <a:ext cx="9141778" cy="5143499"/>
          </a:xfrm>
          <a:prstGeom prst="rect">
            <a:avLst/>
          </a:prstGeom>
        </p:spPr>
      </p:pic>
    </p:spTree>
    <p:extLst>
      <p:ext uri="{BB962C8B-B14F-4D97-AF65-F5344CB8AC3E}">
        <p14:creationId xmlns:p14="http://schemas.microsoft.com/office/powerpoint/2010/main" val="3920794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37337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965B25E-69DC-C15F-92E8-ACF727F40A13}"/>
              </a:ext>
            </a:extLst>
          </p:cNvPr>
          <p:cNvSpPr>
            <a:spLocks noGrp="1"/>
          </p:cNvSpPr>
          <p:nvPr>
            <p:ph type="dt" sz="half" idx="10"/>
          </p:nvPr>
        </p:nvSpPr>
        <p:spPr/>
        <p:txBody>
          <a:bodyPr/>
          <a:lstStyle>
            <a:lvl1pPr>
              <a:defRPr/>
            </a:lvl1pPr>
          </a:lstStyle>
          <a:p>
            <a:pPr>
              <a:defRPr/>
            </a:pPr>
            <a:fld id="{1FD91425-2AD5-B749-B0AB-E93FA9EAAD0B}" type="datetimeFigureOut">
              <a:rPr lang="en-US"/>
              <a:pPr>
                <a:defRPr/>
              </a:pPr>
              <a:t>9/16/2026</a:t>
            </a:fld>
            <a:endParaRPr lang="en-US"/>
          </a:p>
        </p:txBody>
      </p:sp>
      <p:sp>
        <p:nvSpPr>
          <p:cNvPr id="5" name="Footer Placeholder 4">
            <a:extLst>
              <a:ext uri="{FF2B5EF4-FFF2-40B4-BE49-F238E27FC236}">
                <a16:creationId xmlns:a16="http://schemas.microsoft.com/office/drawing/2014/main" id="{C022BB71-3641-6CCB-EEC7-76B94A22E0C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E67F924-B09E-239A-A3DA-6DD836DE3DFC}"/>
              </a:ext>
            </a:extLst>
          </p:cNvPr>
          <p:cNvSpPr>
            <a:spLocks noGrp="1"/>
          </p:cNvSpPr>
          <p:nvPr>
            <p:ph type="sldNum" sz="quarter" idx="12"/>
          </p:nvPr>
        </p:nvSpPr>
        <p:spPr/>
        <p:txBody>
          <a:bodyPr/>
          <a:lstStyle>
            <a:lvl1pPr>
              <a:defRPr/>
            </a:lvl1pPr>
          </a:lstStyle>
          <a:p>
            <a:pPr>
              <a:defRPr/>
            </a:pPr>
            <a:fld id="{B4028534-803B-7946-A029-D946C1E92809}" type="slidenum">
              <a:rPr lang="en-US"/>
              <a:pPr>
                <a:defRPr/>
              </a:pPr>
              <a:t>‹#›</a:t>
            </a:fld>
            <a:endParaRPr lang="en-US"/>
          </a:p>
        </p:txBody>
      </p:sp>
    </p:spTree>
    <p:extLst>
      <p:ext uri="{BB962C8B-B14F-4D97-AF65-F5344CB8AC3E}">
        <p14:creationId xmlns:p14="http://schemas.microsoft.com/office/powerpoint/2010/main" val="343007877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59570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MASTER">
    <p:bg>
      <p:bgPr>
        <a:solidFill>
          <a:srgbClr val="F3F1E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64603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Number Placeholder 15">
            <a:extLst>
              <a:ext uri="{FF2B5EF4-FFF2-40B4-BE49-F238E27FC236}">
                <a16:creationId xmlns:a16="http://schemas.microsoft.com/office/drawing/2014/main" id="{561E7270-DB6F-284A-9B71-9133113C353B}"/>
              </a:ext>
            </a:extLst>
          </p:cNvPr>
          <p:cNvSpPr>
            <a:spLocks noGrp="1"/>
          </p:cNvSpPr>
          <p:nvPr>
            <p:ph type="sldNum" sz="quarter" idx="4"/>
          </p:nvPr>
        </p:nvSpPr>
        <p:spPr>
          <a:xfrm>
            <a:off x="8369007" y="4768925"/>
            <a:ext cx="432093" cy="264757"/>
          </a:xfrm>
          <a:prstGeom prst="rect">
            <a:avLst/>
          </a:prstGeom>
        </p:spPr>
        <p:txBody>
          <a:bodyPr vert="horz" lIns="91440" tIns="45720" rIns="91440" bIns="45720" rtlCol="0" anchor="ctr"/>
          <a:lstStyle>
            <a:lvl1pPr algn="r">
              <a:defRPr sz="700">
                <a:solidFill>
                  <a:schemeClr val="tx2">
                    <a:lumMod val="60000"/>
                    <a:lumOff val="40000"/>
                  </a:schemeClr>
                </a:solidFill>
              </a:defRPr>
            </a:lvl1pPr>
          </a:lstStyle>
          <a:p>
            <a:r>
              <a:rPr lang="en-US"/>
              <a:t>- </a:t>
            </a:r>
            <a:fld id="{C21C29FA-D81F-9D40-A402-D660C1847F79}" type="slidenum">
              <a:rPr lang="en-US" smtClean="0"/>
              <a:pPr/>
              <a:t>‹#›</a:t>
            </a:fld>
            <a:r>
              <a:rPr lang="en-US"/>
              <a:t> -</a:t>
            </a:r>
          </a:p>
        </p:txBody>
      </p:sp>
      <p:sp>
        <p:nvSpPr>
          <p:cNvPr id="7" name="Title Placeholder 6">
            <a:extLst>
              <a:ext uri="{FF2B5EF4-FFF2-40B4-BE49-F238E27FC236}">
                <a16:creationId xmlns:a16="http://schemas.microsoft.com/office/drawing/2014/main" id="{8091B287-66E3-5C44-9EA6-0396564FCC89}"/>
              </a:ext>
            </a:extLst>
          </p:cNvPr>
          <p:cNvSpPr>
            <a:spLocks noGrp="1"/>
          </p:cNvSpPr>
          <p:nvPr>
            <p:ph type="title"/>
          </p:nvPr>
        </p:nvSpPr>
        <p:spPr>
          <a:xfrm>
            <a:off x="342899" y="124182"/>
            <a:ext cx="8461985" cy="714664"/>
          </a:xfrm>
          <a:prstGeom prst="rect">
            <a:avLst/>
          </a:prstGeom>
        </p:spPr>
        <p:txBody>
          <a:bodyPr vert="horz" lIns="91440" tIns="45720" rIns="91440" bIns="45720" rtlCol="0" anchor="ctr">
            <a:noAutofit/>
          </a:bodyPr>
          <a:lstStyle/>
          <a:p>
            <a:r>
              <a:rPr lang="en-US"/>
              <a:t>Click to edit Master title style</a:t>
            </a:r>
          </a:p>
        </p:txBody>
      </p:sp>
      <p:sp>
        <p:nvSpPr>
          <p:cNvPr id="8" name="Footer Placeholder 7">
            <a:extLst>
              <a:ext uri="{FF2B5EF4-FFF2-40B4-BE49-F238E27FC236}">
                <a16:creationId xmlns:a16="http://schemas.microsoft.com/office/drawing/2014/main" id="{8B3EEA7E-FA93-2A48-ACEF-3533F3FB7041}"/>
              </a:ext>
            </a:extLst>
          </p:cNvPr>
          <p:cNvSpPr>
            <a:spLocks noGrp="1"/>
          </p:cNvSpPr>
          <p:nvPr>
            <p:ph type="ftr" sz="quarter" idx="3"/>
          </p:nvPr>
        </p:nvSpPr>
        <p:spPr>
          <a:xfrm>
            <a:off x="342900" y="4767263"/>
            <a:ext cx="5772150" cy="274637"/>
          </a:xfrm>
          <a:prstGeom prst="rect">
            <a:avLst/>
          </a:prstGeom>
        </p:spPr>
        <p:txBody>
          <a:bodyPr vert="horz" lIns="91440" tIns="45720" rIns="91440" bIns="45720" rtlCol="0" anchor="ctr"/>
          <a:lstStyle>
            <a:lvl1pPr algn="l">
              <a:defRPr sz="700">
                <a:solidFill>
                  <a:schemeClr val="tx2">
                    <a:lumMod val="60000"/>
                    <a:lumOff val="40000"/>
                  </a:schemeClr>
                </a:solidFill>
              </a:defRPr>
            </a:lvl1pPr>
          </a:lstStyle>
          <a:p>
            <a:r>
              <a:rPr lang="en-US"/>
              <a:t>© Scaled Agile, Inc.</a:t>
            </a:r>
          </a:p>
        </p:txBody>
      </p:sp>
      <p:sp>
        <p:nvSpPr>
          <p:cNvPr id="5" name="Text Placeholder 4">
            <a:extLst>
              <a:ext uri="{FF2B5EF4-FFF2-40B4-BE49-F238E27FC236}">
                <a16:creationId xmlns:a16="http://schemas.microsoft.com/office/drawing/2014/main" id="{42CC1B18-24F7-5840-86E0-B32235C62E0C}"/>
              </a:ext>
            </a:extLst>
          </p:cNvPr>
          <p:cNvSpPr>
            <a:spLocks noGrp="1"/>
          </p:cNvSpPr>
          <p:nvPr>
            <p:ph type="body" idx="1"/>
          </p:nvPr>
        </p:nvSpPr>
        <p:spPr>
          <a:xfrm>
            <a:off x="342898" y="940955"/>
            <a:ext cx="8458201" cy="1484124"/>
          </a:xfrm>
          <a:prstGeom prst="rect">
            <a:avLst/>
          </a:prstGeom>
        </p:spPr>
        <p:txBody>
          <a:bodyPr vert="horz" lIns="9144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959" r:id="rId1"/>
    <p:sldLayoutId id="2147483951" r:id="rId2"/>
    <p:sldLayoutId id="2147483950" r:id="rId3"/>
    <p:sldLayoutId id="2147483986" r:id="rId4"/>
    <p:sldLayoutId id="2147483996" r:id="rId5"/>
    <p:sldLayoutId id="2147483998" r:id="rId6"/>
    <p:sldLayoutId id="2147483999" r:id="rId7"/>
    <p:sldLayoutId id="2147483956" r:id="rId8"/>
    <p:sldLayoutId id="2147483980" r:id="rId9"/>
    <p:sldLayoutId id="2147483946" r:id="rId10"/>
    <p:sldLayoutId id="2147483914" r:id="rId11"/>
    <p:sldLayoutId id="2147483918" r:id="rId12"/>
    <p:sldLayoutId id="2147483944" r:id="rId13"/>
    <p:sldLayoutId id="2147483981" r:id="rId14"/>
    <p:sldLayoutId id="2147483916" r:id="rId15"/>
    <p:sldLayoutId id="2147483962" r:id="rId16"/>
    <p:sldLayoutId id="2147483930" r:id="rId17"/>
    <p:sldLayoutId id="2147483963" r:id="rId18"/>
    <p:sldLayoutId id="2147483982" r:id="rId19"/>
    <p:sldLayoutId id="2147483943" r:id="rId20"/>
    <p:sldLayoutId id="2147483942" r:id="rId21"/>
    <p:sldLayoutId id="2147484002" r:id="rId22"/>
    <p:sldLayoutId id="2147484003" r:id="rId23"/>
    <p:sldLayoutId id="2147484005" r:id="rId24"/>
    <p:sldLayoutId id="2147484006" r:id="rId25"/>
    <p:sldLayoutId id="2147484007" r:id="rId26"/>
    <p:sldLayoutId id="2147484008" r:id="rId27"/>
    <p:sldLayoutId id="2147484009" r:id="rId28"/>
    <p:sldLayoutId id="2147483989" r:id="rId29"/>
    <p:sldLayoutId id="2147483990" r:id="rId30"/>
    <p:sldLayoutId id="2147483991" r:id="rId31"/>
    <p:sldLayoutId id="2147483992" r:id="rId32"/>
    <p:sldLayoutId id="2147483993" r:id="rId33"/>
    <p:sldLayoutId id="2147483975" r:id="rId34"/>
    <p:sldLayoutId id="2147483973" r:id="rId35"/>
    <p:sldLayoutId id="2147483974" r:id="rId36"/>
    <p:sldLayoutId id="2147483920" r:id="rId37"/>
    <p:sldLayoutId id="2147483931" r:id="rId38"/>
    <p:sldLayoutId id="2147483948" r:id="rId39"/>
    <p:sldLayoutId id="2147483961" r:id="rId40"/>
    <p:sldLayoutId id="2147483985" r:id="rId41"/>
    <p:sldLayoutId id="2147483988" r:id="rId42"/>
    <p:sldLayoutId id="2147483987" r:id="rId43"/>
    <p:sldLayoutId id="2147484000" r:id="rId44"/>
    <p:sldLayoutId id="2147484001" r:id="rId45"/>
    <p:sldLayoutId id="2147484004" r:id="rId46"/>
    <p:sldLayoutId id="2147484010" r:id="rId4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spcBef>
          <a:spcPct val="0"/>
        </a:spcBef>
        <a:buNone/>
        <a:defRPr sz="2400" b="1" kern="1200" cap="none" spc="0" baseline="0">
          <a:solidFill>
            <a:schemeClr val="tx1"/>
          </a:solidFill>
          <a:latin typeface="+mj-lt"/>
          <a:ea typeface="Verdana" panose="020B0604030504040204" pitchFamily="34" charset="0"/>
          <a:cs typeface="Verdana" panose="020B0604030504040204" pitchFamily="34" charset="0"/>
        </a:defRPr>
      </a:lvl1pPr>
    </p:titleStyle>
    <p:bodyStyle>
      <a:lvl1pPr marL="292608" indent="-292608" algn="l" defTabSz="685800" rtl="0" eaLnBrk="1" latinLnBrk="0" hangingPunct="1">
        <a:lnSpc>
          <a:spcPct val="110000"/>
        </a:lnSpc>
        <a:spcBef>
          <a:spcPts val="0"/>
        </a:spcBef>
        <a:spcAft>
          <a:spcPts val="450"/>
        </a:spcAft>
        <a:buClr>
          <a:schemeClr val="tx1"/>
        </a:buClr>
        <a:buFont typeface="Wingdings" pitchFamily="2" charset="2"/>
        <a:buChar char="§"/>
        <a:tabLst/>
        <a:defRPr sz="1800" b="0" kern="1200">
          <a:solidFill>
            <a:schemeClr val="tx2"/>
          </a:solidFill>
          <a:latin typeface="+mn-lt"/>
          <a:ea typeface="Verdana" panose="020B0604030504040204" pitchFamily="34" charset="0"/>
          <a:cs typeface="Verdana" panose="020B0604030504040204" pitchFamily="34" charset="0"/>
        </a:defRPr>
      </a:lvl1pPr>
      <a:lvl2pPr marL="428625" indent="-200025" algn="l" defTabSz="685800" rtl="0" eaLnBrk="1" latinLnBrk="0" hangingPunct="1">
        <a:lnSpc>
          <a:spcPct val="110000"/>
        </a:lnSpc>
        <a:spcBef>
          <a:spcPts val="0"/>
        </a:spcBef>
        <a:spcAft>
          <a:spcPts val="450"/>
        </a:spcAft>
        <a:buClr>
          <a:schemeClr val="tx1"/>
        </a:buClr>
        <a:buFont typeface="Lucida Grande"/>
        <a:buChar char="-"/>
        <a:tabLst/>
        <a:defRPr sz="1400" kern="1200">
          <a:solidFill>
            <a:schemeClr val="tx2"/>
          </a:solidFill>
          <a:latin typeface="+mn-lt"/>
          <a:ea typeface="Verdana" panose="020B0604030504040204" pitchFamily="34" charset="0"/>
          <a:cs typeface="Verdana" panose="020B0604030504040204" pitchFamily="34" charset="0"/>
        </a:defRPr>
      </a:lvl2pPr>
      <a:lvl3pPr marL="857250" indent="-169863" algn="l" defTabSz="685800" rtl="0" eaLnBrk="1" latinLnBrk="0" hangingPunct="1">
        <a:lnSpc>
          <a:spcPct val="110000"/>
        </a:lnSpc>
        <a:spcBef>
          <a:spcPts val="0"/>
        </a:spcBef>
        <a:spcAft>
          <a:spcPts val="450"/>
        </a:spcAft>
        <a:buClr>
          <a:schemeClr val="tx1"/>
        </a:buClr>
        <a:buFont typeface="Arial"/>
        <a:buChar char="•"/>
        <a:tabLst/>
        <a:defRPr sz="1200" kern="1200">
          <a:solidFill>
            <a:schemeClr val="tx2"/>
          </a:solidFill>
          <a:latin typeface="+mn-lt"/>
          <a:ea typeface="Verdana" panose="020B0604030504040204" pitchFamily="34" charset="0"/>
          <a:cs typeface="Verdana" panose="020B0604030504040204" pitchFamily="34" charset="0"/>
        </a:defRPr>
      </a:lvl3pPr>
      <a:lvl4pPr marL="1200150" indent="-168275" algn="l" defTabSz="685800" rtl="0" eaLnBrk="1" latinLnBrk="0" hangingPunct="1">
        <a:lnSpc>
          <a:spcPct val="110000"/>
        </a:lnSpc>
        <a:spcBef>
          <a:spcPts val="0"/>
        </a:spcBef>
        <a:spcAft>
          <a:spcPts val="450"/>
        </a:spcAft>
        <a:buClr>
          <a:schemeClr val="tx1"/>
        </a:buClr>
        <a:buFont typeface="Courier New"/>
        <a:buChar char="o"/>
        <a:tabLst/>
        <a:defRPr sz="1200" kern="1200">
          <a:solidFill>
            <a:schemeClr val="tx2"/>
          </a:solidFill>
          <a:latin typeface="+mn-lt"/>
          <a:ea typeface="Verdana" panose="020B0604030504040204" pitchFamily="34" charset="0"/>
          <a:cs typeface="Verdana" panose="020B0604030504040204" pitchFamily="34" charset="0"/>
        </a:defRPr>
      </a:lvl4pPr>
      <a:lvl5pPr marL="1543050" indent="-168275" algn="l" defTabSz="685800" rtl="0" eaLnBrk="1" latinLnBrk="0" hangingPunct="1">
        <a:lnSpc>
          <a:spcPct val="110000"/>
        </a:lnSpc>
        <a:spcBef>
          <a:spcPts val="0"/>
        </a:spcBef>
        <a:spcAft>
          <a:spcPts val="450"/>
        </a:spcAft>
        <a:buClr>
          <a:schemeClr val="tx1"/>
        </a:buClr>
        <a:buFont typeface="System Font Regular"/>
        <a:buChar char="⁃"/>
        <a:tabLst/>
        <a:defRPr sz="1200" kern="1200" baseline="0">
          <a:solidFill>
            <a:schemeClr val="tx2"/>
          </a:solidFill>
          <a:latin typeface="+mn-lt"/>
          <a:ea typeface="Verdana" panose="020B0604030504040204" pitchFamily="34" charset="0"/>
          <a:cs typeface="Verdana" panose="020B0604030504040204" pitchFamily="34" charset="0"/>
        </a:defRPr>
      </a:lvl5pPr>
      <a:lvl6pPr marL="1885950" indent="-171450" algn="l" defTabSz="685800" rtl="0" eaLnBrk="1" latinLnBrk="0" hangingPunct="1">
        <a:spcBef>
          <a:spcPct val="20000"/>
        </a:spcBef>
        <a:buClr>
          <a:schemeClr val="tx2"/>
        </a:buClr>
        <a:buFont typeface="Arial" pitchFamily="34" charset="0"/>
        <a:buChar char="•"/>
        <a:defRPr sz="1200" kern="1200">
          <a:solidFill>
            <a:schemeClr val="tx1"/>
          </a:solidFill>
          <a:latin typeface="+mn-lt"/>
          <a:ea typeface="+mn-ea"/>
          <a:cs typeface="+mn-cs"/>
        </a:defRPr>
      </a:lvl6pPr>
      <a:lvl7pPr marL="2228850" indent="-171450" algn="l" defTabSz="685800" rtl="0" eaLnBrk="1" latinLnBrk="0" hangingPunct="1">
        <a:spcBef>
          <a:spcPct val="20000"/>
        </a:spcBef>
        <a:buClr>
          <a:schemeClr val="tx2"/>
        </a:buClr>
        <a:buFont typeface="Arial" pitchFamily="34" charset="0"/>
        <a:buChar char="•"/>
        <a:defRPr sz="1200" kern="1200">
          <a:solidFill>
            <a:schemeClr val="tx1"/>
          </a:solidFill>
          <a:latin typeface="+mn-lt"/>
          <a:ea typeface="+mn-ea"/>
          <a:cs typeface="+mn-cs"/>
        </a:defRPr>
      </a:lvl7pPr>
      <a:lvl8pPr marL="2571750" indent="-171450" algn="l" defTabSz="685800" rtl="0" eaLnBrk="1" latinLnBrk="0" hangingPunct="1">
        <a:spcBef>
          <a:spcPct val="20000"/>
        </a:spcBef>
        <a:buClr>
          <a:schemeClr val="tx2"/>
        </a:buClr>
        <a:buFont typeface="Arial" pitchFamily="34" charset="0"/>
        <a:buChar char="•"/>
        <a:defRPr sz="1200" kern="1200">
          <a:solidFill>
            <a:schemeClr val="tx1"/>
          </a:solidFill>
          <a:latin typeface="+mn-lt"/>
          <a:ea typeface="+mn-ea"/>
          <a:cs typeface="+mn-cs"/>
        </a:defRPr>
      </a:lvl8pPr>
      <a:lvl9pPr marL="2914650" indent="-171450" algn="l" defTabSz="685800" rtl="0" eaLnBrk="1" latinLnBrk="0" hangingPunct="1">
        <a:spcBef>
          <a:spcPct val="20000"/>
        </a:spcBef>
        <a:buClr>
          <a:schemeClr val="tx2"/>
        </a:buClr>
        <a:buFont typeface="Arial" pitchFamily="34" charset="0"/>
        <a:buChar char="•"/>
        <a:defRPr sz="12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76" userDrawn="1">
          <p15:clr>
            <a:srgbClr val="F26B43"/>
          </p15:clr>
        </p15:guide>
        <p15:guide id="3" pos="216" userDrawn="1">
          <p15:clr>
            <a:srgbClr val="F26B43"/>
          </p15:clr>
        </p15:guide>
        <p15:guide id="4" pos="554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46.xml"/><Relationship Id="rId4" Type="http://schemas.openxmlformats.org/officeDocument/2006/relationships/image" Target="../media/image21.sv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xml"/><Relationship Id="rId1" Type="http://schemas.openxmlformats.org/officeDocument/2006/relationships/slideLayout" Target="../slideLayouts/slideLayout48.xml"/><Relationship Id="rId4" Type="http://schemas.openxmlformats.org/officeDocument/2006/relationships/image" Target="../media/image23.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8.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47.xml"/><Relationship Id="rId4" Type="http://schemas.openxmlformats.org/officeDocument/2006/relationships/image" Target="../media/image25.sv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B8_2C7610D5.xml"/><Relationship Id="rId2" Type="http://schemas.openxmlformats.org/officeDocument/2006/relationships/notesSlide" Target="../notesSlides/notesSlide11.xml"/><Relationship Id="rId1" Type="http://schemas.openxmlformats.org/officeDocument/2006/relationships/slideLayout" Target="../slideLayouts/slideLayout46.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BA_79B8CA23.xml"/><Relationship Id="rId2" Type="http://schemas.openxmlformats.org/officeDocument/2006/relationships/notesSlide" Target="../notesSlides/notesSlide13.xml"/><Relationship Id="rId1" Type="http://schemas.openxmlformats.org/officeDocument/2006/relationships/slideLayout" Target="../slideLayouts/slideLayout46.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microsoft.com/office/2018/10/relationships/comments" Target="../comments/modernComment_1BB_263D784F.xml"/><Relationship Id="rId2" Type="http://schemas.openxmlformats.org/officeDocument/2006/relationships/notesSlide" Target="../notesSlides/notesSlide14.xml"/><Relationship Id="rId1" Type="http://schemas.openxmlformats.org/officeDocument/2006/relationships/slideLayout" Target="../slideLayouts/slideLayout46.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46.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93E04-01E1-250F-A9BE-A20D4F2CE182}"/>
              </a:ext>
            </a:extLst>
          </p:cNvPr>
          <p:cNvSpPr>
            <a:spLocks noGrp="1"/>
          </p:cNvSpPr>
          <p:nvPr>
            <p:ph type="ctrTitle"/>
          </p:nvPr>
        </p:nvSpPr>
        <p:spPr/>
        <p:txBody>
          <a:bodyPr/>
          <a:lstStyle/>
          <a:p>
            <a:r>
              <a:rPr lang="en-US"/>
              <a:t>From Flow Metrics to Executive Value</a:t>
            </a:r>
            <a:endParaRPr lang="en-US" sz="3700"/>
          </a:p>
        </p:txBody>
      </p:sp>
      <p:sp>
        <p:nvSpPr>
          <p:cNvPr id="26" name="Content Placeholder 25">
            <a:extLst>
              <a:ext uri="{FF2B5EF4-FFF2-40B4-BE49-F238E27FC236}">
                <a16:creationId xmlns:a16="http://schemas.microsoft.com/office/drawing/2014/main" id="{C270A4FE-1289-A549-ADDA-AAB1DEDB3EF6}"/>
              </a:ext>
            </a:extLst>
          </p:cNvPr>
          <p:cNvSpPr>
            <a:spLocks noGrp="1"/>
          </p:cNvSpPr>
          <p:nvPr>
            <p:ph type="subTitle" idx="1"/>
          </p:nvPr>
        </p:nvSpPr>
        <p:spPr>
          <a:xfrm>
            <a:off x="1724115" y="2536107"/>
            <a:ext cx="5409456" cy="555014"/>
          </a:xfrm>
        </p:spPr>
        <p:txBody>
          <a:bodyPr/>
          <a:lstStyle/>
          <a:p>
            <a:r>
              <a:rPr lang="en-US"/>
              <a:t>Translating SAFe Delivery Data into Business Outcomes</a:t>
            </a:r>
            <a:endParaRPr lang="en-US">
              <a:solidFill>
                <a:srgbClr val="5E5296"/>
              </a:solidFill>
            </a:endParaRPr>
          </a:p>
        </p:txBody>
      </p:sp>
      <p:sp>
        <p:nvSpPr>
          <p:cNvPr id="4" name="Footer Placeholder 3">
            <a:extLst>
              <a:ext uri="{FF2B5EF4-FFF2-40B4-BE49-F238E27FC236}">
                <a16:creationId xmlns:a16="http://schemas.microsoft.com/office/drawing/2014/main" id="{05319FCA-D5B0-2944-A4C0-71B654C4A8B8}"/>
              </a:ext>
            </a:extLst>
          </p:cNvPr>
          <p:cNvSpPr>
            <a:spLocks noGrp="1"/>
          </p:cNvSpPr>
          <p:nvPr>
            <p:ph type="ftr" sz="quarter" idx="4294967295"/>
          </p:nvPr>
        </p:nvSpPr>
        <p:spPr>
          <a:xfrm>
            <a:off x="598083" y="4824795"/>
            <a:ext cx="5772150" cy="274637"/>
          </a:xfrm>
        </p:spPr>
        <p:txBody>
          <a:bodyPr/>
          <a:lstStyle/>
          <a:p>
            <a:r>
              <a:rPr lang="en-US">
                <a:solidFill>
                  <a:srgbClr val="052126"/>
                </a:solidFill>
              </a:rPr>
              <a:t>© Scaled Agile, Inc.</a:t>
            </a:r>
          </a:p>
        </p:txBody>
      </p:sp>
    </p:spTree>
    <p:extLst>
      <p:ext uri="{BB962C8B-B14F-4D97-AF65-F5344CB8AC3E}">
        <p14:creationId xmlns:p14="http://schemas.microsoft.com/office/powerpoint/2010/main" val="3462526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Content Placeholder 25">
            <a:extLst>
              <a:ext uri="{FF2B5EF4-FFF2-40B4-BE49-F238E27FC236}">
                <a16:creationId xmlns:a16="http://schemas.microsoft.com/office/drawing/2014/main" id="{C270A4FE-1289-A549-ADDA-AAB1DEDB3EF6}"/>
              </a:ext>
            </a:extLst>
          </p:cNvPr>
          <p:cNvSpPr>
            <a:spLocks noGrp="1"/>
          </p:cNvSpPr>
          <p:nvPr>
            <p:ph sz="quarter" idx="15"/>
          </p:nvPr>
        </p:nvSpPr>
        <p:spPr/>
        <p:txBody>
          <a:bodyPr/>
          <a:lstStyle/>
          <a:p>
            <a:r>
              <a:rPr lang="en-US"/>
              <a:t>John Pavlov</a:t>
            </a:r>
          </a:p>
          <a:p>
            <a:endParaRPr lang="en-US"/>
          </a:p>
        </p:txBody>
      </p:sp>
      <p:sp>
        <p:nvSpPr>
          <p:cNvPr id="24" name="Content Placeholder 23">
            <a:extLst>
              <a:ext uri="{FF2B5EF4-FFF2-40B4-BE49-F238E27FC236}">
                <a16:creationId xmlns:a16="http://schemas.microsoft.com/office/drawing/2014/main" id="{646B230A-B421-7E43-889E-DBED605CDE15}"/>
              </a:ext>
            </a:extLst>
          </p:cNvPr>
          <p:cNvSpPr>
            <a:spLocks noGrp="1"/>
          </p:cNvSpPr>
          <p:nvPr>
            <p:ph sz="quarter" idx="17"/>
          </p:nvPr>
        </p:nvSpPr>
        <p:spPr/>
        <p:txBody>
          <a:bodyPr/>
          <a:lstStyle/>
          <a:p>
            <a:r>
              <a:rPr lang="en-US"/>
              <a:t>Vice President, Consulting Expert</a:t>
            </a:r>
          </a:p>
          <a:p>
            <a:r>
              <a:rPr lang="en-US"/>
              <a:t>CGI Inc.</a:t>
            </a:r>
          </a:p>
        </p:txBody>
      </p:sp>
      <p:sp>
        <p:nvSpPr>
          <p:cNvPr id="3" name="Footer Placeholder 1">
            <a:extLst>
              <a:ext uri="{FF2B5EF4-FFF2-40B4-BE49-F238E27FC236}">
                <a16:creationId xmlns:a16="http://schemas.microsoft.com/office/drawing/2014/main" id="{7D19A2AA-9116-1F25-6B66-176131F84A0A}"/>
              </a:ext>
            </a:extLst>
          </p:cNvPr>
          <p:cNvSpPr>
            <a:spLocks noGrp="1"/>
          </p:cNvSpPr>
          <p:nvPr>
            <p:ph type="ftr" sz="quarter" idx="10"/>
          </p:nvPr>
        </p:nvSpPr>
        <p:spPr>
          <a:xfrm>
            <a:off x="342900" y="4767263"/>
            <a:ext cx="5772150" cy="274637"/>
          </a:xfrm>
        </p:spPr>
        <p:txBody>
          <a:bodyPr/>
          <a:lstStyle/>
          <a:p>
            <a:r>
              <a:rPr lang="en-US"/>
              <a:t>© Scaled Agile, Inc.</a:t>
            </a:r>
          </a:p>
        </p:txBody>
      </p:sp>
      <p:pic>
        <p:nvPicPr>
          <p:cNvPr id="10" name="Picture Placeholder 9">
            <a:extLst>
              <a:ext uri="{FF2B5EF4-FFF2-40B4-BE49-F238E27FC236}">
                <a16:creationId xmlns:a16="http://schemas.microsoft.com/office/drawing/2014/main" id="{DDC75C93-B783-D5AC-16C0-9D970F732F94}"/>
              </a:ext>
            </a:extLst>
          </p:cNvPr>
          <p:cNvPicPr>
            <a:picLocks noGrp="1" noChangeAspect="1"/>
          </p:cNvPicPr>
          <p:nvPr>
            <p:ph type="pic" sz="quarter" idx="12"/>
          </p:nvPr>
        </p:nvPicPr>
        <p:blipFill>
          <a:blip r:embed="rId3"/>
          <a:srcRect l="15988" r="15988"/>
          <a:stretch>
            <a:fillRect/>
          </a:stretch>
        </p:blipFill>
        <p:spPr>
          <a:prstGeom prst="rect">
            <a:avLst/>
          </a:prstGeom>
          <a:solidFill>
            <a:srgbClr val="FFFFFF">
              <a:lumMod val="85000"/>
            </a:srgbClr>
          </a:solidFill>
          <a:ln w="9525">
            <a:noFill/>
          </a:ln>
        </p:spPr>
      </p:pic>
      <p:sp>
        <p:nvSpPr>
          <p:cNvPr id="6" name="Rectangle 5">
            <a:extLst>
              <a:ext uri="{FF2B5EF4-FFF2-40B4-BE49-F238E27FC236}">
                <a16:creationId xmlns:a16="http://schemas.microsoft.com/office/drawing/2014/main" id="{FA13CA55-CBC6-484B-8A2B-97EF6ACAEE47}"/>
              </a:ext>
            </a:extLst>
          </p:cNvPr>
          <p:cNvSpPr/>
          <p:nvPr/>
        </p:nvSpPr>
        <p:spPr>
          <a:xfrm>
            <a:off x="8382000" y="4762500"/>
            <a:ext cx="304800" cy="3810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t"/>
          <a:lstStyle/>
          <a:p>
            <a:pPr algn="ctr"/>
            <a:endParaRPr lang="en-US"/>
          </a:p>
        </p:txBody>
      </p:sp>
      <p:sp>
        <p:nvSpPr>
          <p:cNvPr id="7" name="BP_PageNumber">
            <a:extLst>
              <a:ext uri="{FF2B5EF4-FFF2-40B4-BE49-F238E27FC236}">
                <a16:creationId xmlns:a16="http://schemas.microsoft.com/office/drawing/2014/main" id="{FC0FFF0B-85E0-426E-AE32-85FCDA541D55}"/>
              </a:ext>
            </a:extLst>
          </p:cNvPr>
          <p:cNvSpPr/>
          <p:nvPr/>
        </p:nvSpPr>
        <p:spPr>
          <a:xfrm>
            <a:off x="8686800" y="4838700"/>
            <a:ext cx="457200" cy="3048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wrap="none" rtlCol="0" anchor="ctr" anchorCtr="0">
            <a:noAutofit/>
          </a:bodyPr>
          <a:lstStyle/>
          <a:p>
            <a:pPr algn="ctr"/>
            <a:r>
              <a:rPr lang="en-US" sz="800" b="1">
                <a:solidFill>
                  <a:srgbClr val="FFFFFF"/>
                </a:solidFill>
              </a:rPr>
              <a:t>1</a:t>
            </a:r>
          </a:p>
        </p:txBody>
      </p:sp>
    </p:spTree>
    <p:extLst>
      <p:ext uri="{BB962C8B-B14F-4D97-AF65-F5344CB8AC3E}">
        <p14:creationId xmlns:p14="http://schemas.microsoft.com/office/powerpoint/2010/main" val="3470714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2026-SAFeSummit-SanDiego-BreakoutSession-Speakers-MasterTemplate/slide-2.png"/>
          <p:cNvPicPr>
            <a:picLocks noChangeAspect="1"/>
          </p:cNvPicPr>
          <p:nvPr/>
        </p:nvPicPr>
        <p:blipFill>
          <a:blip r:embed="rId3"/>
          <a:stretch>
            <a:fillRect/>
          </a:stretch>
        </p:blipFill>
        <p:spPr>
          <a:xfrm>
            <a:off x="1" y="0"/>
            <a:ext cx="9143771" cy="5143500"/>
          </a:xfrm>
          <a:prstGeom prst="rect">
            <a:avLst/>
          </a:prstGeom>
        </p:spPr>
      </p:pic>
      <p:sp>
        <p:nvSpPr>
          <p:cNvPr id="3" name="Shape 0"/>
          <p:cNvSpPr/>
          <p:nvPr/>
        </p:nvSpPr>
        <p:spPr>
          <a:xfrm>
            <a:off x="356616" y="953649"/>
            <a:ext cx="6549390" cy="3806190"/>
          </a:xfrm>
          <a:prstGeom prst="rect">
            <a:avLst/>
          </a:prstGeom>
          <a:solidFill>
            <a:srgbClr val="F4F1EA"/>
          </a:solidFill>
          <a:ln w="12700">
            <a:solidFill>
              <a:srgbClr val="F4F1EA"/>
            </a:solidFill>
            <a:prstDash val="solid"/>
          </a:ln>
        </p:spPr>
        <p:txBody>
          <a:bodyPr/>
          <a:lstStyle/>
          <a:p>
            <a:endParaRPr lang="en-US" sz="1350"/>
          </a:p>
        </p:txBody>
      </p:sp>
      <p:sp>
        <p:nvSpPr>
          <p:cNvPr id="4" name="Text 1"/>
          <p:cNvSpPr/>
          <p:nvPr/>
        </p:nvSpPr>
        <p:spPr>
          <a:xfrm>
            <a:off x="411366" y="351787"/>
            <a:ext cx="6247604" cy="356616"/>
          </a:xfrm>
          <a:prstGeom prst="rect">
            <a:avLst/>
          </a:prstGeom>
          <a:noFill/>
          <a:ln/>
        </p:spPr>
        <p:txBody>
          <a:bodyPr wrap="square" lIns="0" tIns="0" rIns="0" bIns="0" rtlCol="0" anchor="ctr"/>
          <a:lstStyle/>
          <a:p>
            <a:r>
              <a:rPr lang="en-US" sz="1875" b="1">
                <a:solidFill>
                  <a:srgbClr val="102A30"/>
                </a:solidFill>
                <a:latin typeface="Arial" pitchFamily="34" charset="0"/>
                <a:ea typeface="Arial" pitchFamily="34" charset="-122"/>
                <a:cs typeface="Arial" pitchFamily="34" charset="-120"/>
              </a:rPr>
              <a:t>Leave with a practical way to translate Flow Metrics into Executive Value</a:t>
            </a:r>
            <a:endParaRPr lang="en-US" sz="1875"/>
          </a:p>
        </p:txBody>
      </p:sp>
      <p:sp>
        <p:nvSpPr>
          <p:cNvPr id="5" name="Shape 2"/>
          <p:cNvSpPr/>
          <p:nvPr/>
        </p:nvSpPr>
        <p:spPr>
          <a:xfrm>
            <a:off x="466344" y="1077093"/>
            <a:ext cx="720090" cy="0"/>
          </a:xfrm>
          <a:prstGeom prst="line">
            <a:avLst/>
          </a:prstGeom>
          <a:noFill/>
          <a:ln w="38100">
            <a:solidFill>
              <a:srgbClr val="6D5BC0"/>
            </a:solidFill>
            <a:prstDash val="solid"/>
          </a:ln>
        </p:spPr>
        <p:txBody>
          <a:bodyPr/>
          <a:lstStyle/>
          <a:p>
            <a:endParaRPr lang="en-US" sz="1350"/>
          </a:p>
        </p:txBody>
      </p:sp>
      <p:sp>
        <p:nvSpPr>
          <p:cNvPr id="6" name="Text 3"/>
          <p:cNvSpPr/>
          <p:nvPr/>
        </p:nvSpPr>
        <p:spPr>
          <a:xfrm>
            <a:off x="466344" y="1502916"/>
            <a:ext cx="5863590" cy="925830"/>
          </a:xfrm>
          <a:prstGeom prst="rect">
            <a:avLst/>
          </a:prstGeom>
          <a:noFill/>
          <a:ln/>
        </p:spPr>
        <p:txBody>
          <a:bodyPr wrap="square" lIns="0" tIns="0" rIns="0" bIns="0" rtlCol="0" anchor="ctr"/>
          <a:lstStyle/>
          <a:p>
            <a:r>
              <a:rPr lang="en-US" sz="2000" b="1" i="1">
                <a:solidFill>
                  <a:srgbClr val="0A3A43"/>
                </a:solidFill>
              </a:rPr>
              <a:t>By the end of this session, you will be able to turn delivery evidence into credible economic and investment conversations.</a:t>
            </a:r>
            <a:endParaRPr lang="en-US" sz="2000" i="1"/>
          </a:p>
        </p:txBody>
      </p:sp>
      <p:sp>
        <p:nvSpPr>
          <p:cNvPr id="7" name="Text 4"/>
          <p:cNvSpPr/>
          <p:nvPr/>
        </p:nvSpPr>
        <p:spPr>
          <a:xfrm>
            <a:off x="726800" y="1223581"/>
            <a:ext cx="5932170" cy="228231"/>
          </a:xfrm>
          <a:prstGeom prst="rect">
            <a:avLst/>
          </a:prstGeom>
          <a:noFill/>
          <a:ln/>
        </p:spPr>
        <p:txBody>
          <a:bodyPr wrap="square" lIns="0" tIns="0" rIns="0" bIns="0" rtlCol="0" anchor="ctr"/>
          <a:lstStyle/>
          <a:p>
            <a:r>
              <a:rPr lang="en-US" sz="1400" b="1" kern="0" spc="90">
                <a:solidFill>
                  <a:srgbClr val="6D5BC0"/>
                </a:solidFill>
              </a:rPr>
              <a:t>SESSION OUTCOMES</a:t>
            </a:r>
            <a:endParaRPr lang="en-US" sz="1400"/>
          </a:p>
        </p:txBody>
      </p:sp>
      <p:sp>
        <p:nvSpPr>
          <p:cNvPr id="8" name="Shape 5"/>
          <p:cNvSpPr/>
          <p:nvPr/>
        </p:nvSpPr>
        <p:spPr>
          <a:xfrm>
            <a:off x="493776" y="2588635"/>
            <a:ext cx="1837944" cy="1200150"/>
          </a:xfrm>
          <a:prstGeom prst="roundRect">
            <a:avLst>
              <a:gd name="adj" fmla="val 3429"/>
            </a:avLst>
          </a:prstGeom>
          <a:solidFill>
            <a:srgbClr val="FFFFFF"/>
          </a:solidFill>
          <a:ln w="12700">
            <a:solidFill>
              <a:srgbClr val="DAD7D0"/>
            </a:solidFill>
            <a:prstDash val="solid"/>
          </a:ln>
          <a:effectLst>
            <a:outerShdw blurRad="15240" dist="12700" dir="2700000" algn="bl" rotWithShape="0">
              <a:srgbClr val="000000">
                <a:alpha val="12000"/>
              </a:srgbClr>
            </a:outerShdw>
          </a:effectLst>
        </p:spPr>
        <p:txBody>
          <a:bodyPr/>
          <a:lstStyle/>
          <a:p>
            <a:endParaRPr lang="en-US" sz="1350"/>
          </a:p>
        </p:txBody>
      </p:sp>
      <p:sp>
        <p:nvSpPr>
          <p:cNvPr id="9" name="Text 6"/>
          <p:cNvSpPr/>
          <p:nvPr/>
        </p:nvSpPr>
        <p:spPr>
          <a:xfrm>
            <a:off x="617220" y="2719417"/>
            <a:ext cx="1591056" cy="192024"/>
          </a:xfrm>
          <a:prstGeom prst="rect">
            <a:avLst/>
          </a:prstGeom>
          <a:noFill/>
          <a:ln/>
        </p:spPr>
        <p:txBody>
          <a:bodyPr wrap="square" lIns="0" tIns="0" rIns="0" bIns="0" rtlCol="0" anchor="ctr"/>
          <a:lstStyle/>
          <a:p>
            <a:pPr algn="l"/>
            <a:r>
              <a:rPr lang="en-US" sz="1400" b="1">
                <a:solidFill>
                  <a:srgbClr val="0B2F3A"/>
                </a:solidFill>
              </a:rPr>
              <a:t>Translate metrics</a:t>
            </a:r>
          </a:p>
        </p:txBody>
      </p:sp>
      <p:sp>
        <p:nvSpPr>
          <p:cNvPr id="10" name="Text 7"/>
          <p:cNvSpPr/>
          <p:nvPr/>
        </p:nvSpPr>
        <p:spPr>
          <a:xfrm>
            <a:off x="617220" y="2919331"/>
            <a:ext cx="1591056" cy="761238"/>
          </a:xfrm>
          <a:prstGeom prst="rect">
            <a:avLst/>
          </a:prstGeom>
          <a:noFill/>
          <a:ln/>
        </p:spPr>
        <p:txBody>
          <a:bodyPr wrap="square" lIns="0" tIns="0" rIns="0" bIns="0" rtlCol="0" anchor="ctr">
            <a:normAutofit/>
          </a:bodyPr>
          <a:lstStyle/>
          <a:p>
            <a:pPr algn="l"/>
            <a:r>
              <a:rPr lang="en-US" sz="1050">
                <a:solidFill>
                  <a:srgbClr val="6B7280"/>
                </a:solidFill>
              </a:rPr>
              <a:t>Connect Velocity, Time, Efficiency, Load, and Predictability to business outcomes.</a:t>
            </a:r>
          </a:p>
        </p:txBody>
      </p:sp>
      <p:sp>
        <p:nvSpPr>
          <p:cNvPr id="11" name="Shape 8"/>
          <p:cNvSpPr/>
          <p:nvPr/>
        </p:nvSpPr>
        <p:spPr>
          <a:xfrm>
            <a:off x="2503170" y="2588635"/>
            <a:ext cx="1837944" cy="1200150"/>
          </a:xfrm>
          <a:prstGeom prst="roundRect">
            <a:avLst>
              <a:gd name="adj" fmla="val 3429"/>
            </a:avLst>
          </a:prstGeom>
          <a:solidFill>
            <a:srgbClr val="FFFFFF"/>
          </a:solidFill>
          <a:ln w="12700">
            <a:solidFill>
              <a:srgbClr val="DAD7D0"/>
            </a:solidFill>
            <a:prstDash val="solid"/>
          </a:ln>
          <a:effectLst>
            <a:outerShdw blurRad="15240" dist="12700" dir="2700000" algn="bl" rotWithShape="0">
              <a:srgbClr val="000000">
                <a:alpha val="12000"/>
              </a:srgbClr>
            </a:outerShdw>
          </a:effectLst>
        </p:spPr>
        <p:txBody>
          <a:bodyPr/>
          <a:lstStyle/>
          <a:p>
            <a:endParaRPr lang="en-US" sz="1350"/>
          </a:p>
        </p:txBody>
      </p:sp>
      <p:sp>
        <p:nvSpPr>
          <p:cNvPr id="12" name="Text 9"/>
          <p:cNvSpPr/>
          <p:nvPr/>
        </p:nvSpPr>
        <p:spPr>
          <a:xfrm>
            <a:off x="2626614" y="2719417"/>
            <a:ext cx="1591056" cy="192024"/>
          </a:xfrm>
          <a:prstGeom prst="rect">
            <a:avLst/>
          </a:prstGeom>
          <a:noFill/>
          <a:ln/>
        </p:spPr>
        <p:txBody>
          <a:bodyPr wrap="square" lIns="0" tIns="0" rIns="0" bIns="0" rtlCol="0" anchor="ctr"/>
          <a:lstStyle/>
          <a:p>
            <a:pPr algn="l"/>
            <a:r>
              <a:rPr lang="en-US" sz="1400" b="1">
                <a:solidFill>
                  <a:srgbClr val="0B2F3A"/>
                </a:solidFill>
              </a:rPr>
              <a:t>Build estimates</a:t>
            </a:r>
          </a:p>
        </p:txBody>
      </p:sp>
      <p:sp>
        <p:nvSpPr>
          <p:cNvPr id="13" name="Text 10"/>
          <p:cNvSpPr/>
          <p:nvPr/>
        </p:nvSpPr>
        <p:spPr>
          <a:xfrm>
            <a:off x="2626614" y="2919331"/>
            <a:ext cx="1591056" cy="761238"/>
          </a:xfrm>
          <a:prstGeom prst="rect">
            <a:avLst/>
          </a:prstGeom>
          <a:noFill/>
          <a:ln/>
        </p:spPr>
        <p:txBody>
          <a:bodyPr wrap="square" lIns="0" tIns="0" rIns="0" bIns="0" rtlCol="0" anchor="ctr">
            <a:normAutofit/>
          </a:bodyPr>
          <a:lstStyle/>
          <a:p>
            <a:pPr algn="l"/>
            <a:r>
              <a:rPr lang="en-US" sz="1050">
                <a:solidFill>
                  <a:srgbClr val="6B7280"/>
                </a:solidFill>
              </a:rPr>
              <a:t>Use transparent formulas and assumptions to estimate capacity, timing, and cost avoidance.</a:t>
            </a:r>
          </a:p>
        </p:txBody>
      </p:sp>
      <p:sp>
        <p:nvSpPr>
          <p:cNvPr id="14" name="Shape 11"/>
          <p:cNvSpPr/>
          <p:nvPr/>
        </p:nvSpPr>
        <p:spPr>
          <a:xfrm>
            <a:off x="4512564" y="2599401"/>
            <a:ext cx="1837944" cy="1189384"/>
          </a:xfrm>
          <a:prstGeom prst="roundRect">
            <a:avLst>
              <a:gd name="adj" fmla="val 3429"/>
            </a:avLst>
          </a:prstGeom>
          <a:solidFill>
            <a:srgbClr val="F5EAFB"/>
          </a:solidFill>
          <a:ln w="12700">
            <a:solidFill>
              <a:srgbClr val="D6B9E6"/>
            </a:solidFill>
            <a:prstDash val="solid"/>
          </a:ln>
          <a:effectLst>
            <a:outerShdw blurRad="15240" dist="12700" dir="2700000" algn="bl" rotWithShape="0">
              <a:srgbClr val="000000">
                <a:alpha val="12000"/>
              </a:srgbClr>
            </a:outerShdw>
          </a:effectLst>
        </p:spPr>
        <p:txBody>
          <a:bodyPr/>
          <a:lstStyle/>
          <a:p>
            <a:endParaRPr lang="en-US" sz="1350"/>
          </a:p>
        </p:txBody>
      </p:sp>
      <p:sp>
        <p:nvSpPr>
          <p:cNvPr id="15" name="Text 12"/>
          <p:cNvSpPr/>
          <p:nvPr/>
        </p:nvSpPr>
        <p:spPr>
          <a:xfrm>
            <a:off x="4636008" y="2719417"/>
            <a:ext cx="1591056" cy="192024"/>
          </a:xfrm>
          <a:prstGeom prst="rect">
            <a:avLst/>
          </a:prstGeom>
          <a:noFill/>
          <a:ln/>
        </p:spPr>
        <p:txBody>
          <a:bodyPr wrap="square" lIns="0" tIns="0" rIns="0" bIns="0" rtlCol="0" anchor="ctr"/>
          <a:lstStyle/>
          <a:p>
            <a:pPr algn="l"/>
            <a:r>
              <a:rPr lang="en-US" sz="1400" b="1">
                <a:solidFill>
                  <a:srgbClr val="0B2F3A"/>
                </a:solidFill>
              </a:rPr>
              <a:t>Drive decisions</a:t>
            </a:r>
          </a:p>
        </p:txBody>
      </p:sp>
      <p:sp>
        <p:nvSpPr>
          <p:cNvPr id="16" name="Text 13"/>
          <p:cNvSpPr/>
          <p:nvPr/>
        </p:nvSpPr>
        <p:spPr>
          <a:xfrm>
            <a:off x="4636008" y="2919331"/>
            <a:ext cx="1591056" cy="761238"/>
          </a:xfrm>
          <a:prstGeom prst="rect">
            <a:avLst/>
          </a:prstGeom>
          <a:noFill/>
          <a:ln/>
        </p:spPr>
        <p:txBody>
          <a:bodyPr wrap="square" lIns="0" tIns="0" rIns="0" bIns="0" rtlCol="0" anchor="ctr">
            <a:normAutofit/>
          </a:bodyPr>
          <a:lstStyle/>
          <a:p>
            <a:pPr algn="l"/>
            <a:r>
              <a:rPr lang="en-US" sz="1050">
                <a:solidFill>
                  <a:srgbClr val="6B7280"/>
                </a:solidFill>
              </a:rPr>
              <a:t>Turn the results into an executive dashboard for investment, prioritization, and action.</a:t>
            </a:r>
          </a:p>
        </p:txBody>
      </p:sp>
      <p:sp>
        <p:nvSpPr>
          <p:cNvPr id="17" name="Text 14"/>
          <p:cNvSpPr/>
          <p:nvPr/>
        </p:nvSpPr>
        <p:spPr>
          <a:xfrm>
            <a:off x="466344" y="4040855"/>
            <a:ext cx="5932170" cy="425196"/>
          </a:xfrm>
          <a:prstGeom prst="rect">
            <a:avLst/>
          </a:prstGeom>
          <a:noFill/>
          <a:ln/>
        </p:spPr>
        <p:txBody>
          <a:bodyPr wrap="square" lIns="0" tIns="0" rIns="0" bIns="0" rtlCol="0" anchor="ctr"/>
          <a:lstStyle/>
          <a:p>
            <a:r>
              <a:rPr lang="en-US" sz="1400" b="1">
                <a:solidFill>
                  <a:srgbClr val="102A30"/>
                </a:solidFill>
              </a:rPr>
              <a:t>Take away a practical model, worked examples, and 3 key takeaways.</a:t>
            </a:r>
            <a:endParaRPr lang="en-US" sz="1400"/>
          </a:p>
        </p:txBody>
      </p:sp>
      <p:pic>
        <p:nvPicPr>
          <p:cNvPr id="21" name="Graphic 20" descr="Lightbulb with solid fill">
            <a:extLst>
              <a:ext uri="{FF2B5EF4-FFF2-40B4-BE49-F238E27FC236}">
                <a16:creationId xmlns:a16="http://schemas.microsoft.com/office/drawing/2014/main" id="{E0006070-A78B-8C5E-DD5C-3F52EBA5B8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5876" y="1184596"/>
            <a:ext cx="302558" cy="302558"/>
          </a:xfrm>
          <a:prstGeom prst="rect">
            <a:avLst/>
          </a:prstGeom>
        </p:spPr>
      </p:pic>
      <p:sp>
        <p:nvSpPr>
          <p:cNvPr id="24" name="Rectangle 23">
            <a:extLst>
              <a:ext uri="{FF2B5EF4-FFF2-40B4-BE49-F238E27FC236}">
                <a16:creationId xmlns:a16="http://schemas.microsoft.com/office/drawing/2014/main" id="{0065662F-73C1-4A36-A0C2-9784690E4363}"/>
              </a:ext>
            </a:extLst>
          </p:cNvPr>
          <p:cNvSpPr/>
          <p:nvPr/>
        </p:nvSpPr>
        <p:spPr>
          <a:xfrm>
            <a:off x="8382000" y="4762500"/>
            <a:ext cx="304800" cy="3810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t"/>
          <a:lstStyle/>
          <a:p>
            <a:pPr algn="ctr"/>
            <a:endParaRPr lang="en-US"/>
          </a:p>
        </p:txBody>
      </p:sp>
      <p:sp>
        <p:nvSpPr>
          <p:cNvPr id="25" name="BP_PageNumber">
            <a:extLst>
              <a:ext uri="{FF2B5EF4-FFF2-40B4-BE49-F238E27FC236}">
                <a16:creationId xmlns:a16="http://schemas.microsoft.com/office/drawing/2014/main" id="{AFAD0906-B74A-4A8C-AC82-26E1FFE62144}"/>
              </a:ext>
            </a:extLst>
          </p:cNvPr>
          <p:cNvSpPr/>
          <p:nvPr/>
        </p:nvSpPr>
        <p:spPr>
          <a:xfrm>
            <a:off x="8686800" y="4838700"/>
            <a:ext cx="457200" cy="3048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wrap="none" rtlCol="0" anchor="ctr" anchorCtr="0">
            <a:noAutofit/>
          </a:bodyPr>
          <a:lstStyle/>
          <a:p>
            <a:pPr algn="ctr"/>
            <a:r>
              <a:rPr lang="en-US" sz="800" b="1">
                <a:solidFill>
                  <a:srgbClr val="FFFFFF"/>
                </a:solidFill>
              </a:rPr>
              <a:t>2</a:t>
            </a:r>
          </a:p>
        </p:txBody>
      </p:sp>
    </p:spTree>
    <p:extLst>
      <p:ext uri="{BB962C8B-B14F-4D97-AF65-F5344CB8AC3E}">
        <p14:creationId xmlns:p14="http://schemas.microsoft.com/office/powerpoint/2010/main" val="1133898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2026-SAFeSummit-SanDiego-BreakoutSession-Speakers-MasterTemplate/slide-2.png"/>
          <p:cNvPicPr>
            <a:picLocks noChangeAspect="1"/>
          </p:cNvPicPr>
          <p:nvPr/>
        </p:nvPicPr>
        <p:blipFill>
          <a:blip r:embed="rId3"/>
          <a:stretch>
            <a:fillRect/>
          </a:stretch>
        </p:blipFill>
        <p:spPr>
          <a:xfrm>
            <a:off x="1" y="0"/>
            <a:ext cx="9143771" cy="5143500"/>
          </a:xfrm>
          <a:prstGeom prst="rect">
            <a:avLst/>
          </a:prstGeom>
        </p:spPr>
      </p:pic>
      <p:sp>
        <p:nvSpPr>
          <p:cNvPr id="3" name="Shape 0"/>
          <p:cNvSpPr/>
          <p:nvPr/>
        </p:nvSpPr>
        <p:spPr>
          <a:xfrm>
            <a:off x="356616" y="685800"/>
            <a:ext cx="6549390" cy="3806190"/>
          </a:xfrm>
          <a:prstGeom prst="rect">
            <a:avLst/>
          </a:prstGeom>
          <a:solidFill>
            <a:srgbClr val="F4F1EA"/>
          </a:solidFill>
          <a:ln w="12700">
            <a:solidFill>
              <a:srgbClr val="F4F1EA"/>
            </a:solidFill>
            <a:prstDash val="solid"/>
          </a:ln>
        </p:spPr>
        <p:txBody>
          <a:bodyPr/>
          <a:lstStyle/>
          <a:p>
            <a:endParaRPr lang="en-US" sz="1350"/>
          </a:p>
        </p:txBody>
      </p:sp>
      <p:sp>
        <p:nvSpPr>
          <p:cNvPr id="4" name="Text 1"/>
          <p:cNvSpPr/>
          <p:nvPr/>
        </p:nvSpPr>
        <p:spPr>
          <a:xfrm>
            <a:off x="466344" y="384048"/>
            <a:ext cx="6412230" cy="356616"/>
          </a:xfrm>
          <a:prstGeom prst="rect">
            <a:avLst/>
          </a:prstGeom>
          <a:noFill/>
          <a:ln/>
        </p:spPr>
        <p:txBody>
          <a:bodyPr wrap="square" lIns="0" tIns="0" rIns="0" bIns="0" rtlCol="0" anchor="ctr"/>
          <a:lstStyle/>
          <a:p>
            <a:r>
              <a:rPr lang="en-US" sz="1875" b="1">
                <a:solidFill>
                  <a:srgbClr val="102A30"/>
                </a:solidFill>
                <a:latin typeface="Arial" pitchFamily="34" charset="0"/>
                <a:ea typeface="Arial" pitchFamily="34" charset="-122"/>
                <a:cs typeface="Arial" pitchFamily="34" charset="-120"/>
              </a:rPr>
              <a:t>Transformation fatigue is often a value problem</a:t>
            </a:r>
            <a:endParaRPr lang="en-US" sz="1875"/>
          </a:p>
        </p:txBody>
      </p:sp>
      <p:sp>
        <p:nvSpPr>
          <p:cNvPr id="5" name="Shape 2"/>
          <p:cNvSpPr/>
          <p:nvPr/>
        </p:nvSpPr>
        <p:spPr>
          <a:xfrm>
            <a:off x="466344" y="809244"/>
            <a:ext cx="720090" cy="0"/>
          </a:xfrm>
          <a:prstGeom prst="line">
            <a:avLst/>
          </a:prstGeom>
          <a:noFill/>
          <a:ln w="38100">
            <a:solidFill>
              <a:srgbClr val="6D5BC0"/>
            </a:solidFill>
            <a:prstDash val="solid"/>
          </a:ln>
        </p:spPr>
        <p:txBody>
          <a:bodyPr/>
          <a:lstStyle/>
          <a:p>
            <a:endParaRPr lang="en-US" sz="1350"/>
          </a:p>
        </p:txBody>
      </p:sp>
      <p:sp>
        <p:nvSpPr>
          <p:cNvPr id="6" name="Text 3"/>
          <p:cNvSpPr/>
          <p:nvPr/>
        </p:nvSpPr>
        <p:spPr>
          <a:xfrm>
            <a:off x="493776" y="1152144"/>
            <a:ext cx="5863590" cy="925830"/>
          </a:xfrm>
          <a:prstGeom prst="rect">
            <a:avLst/>
          </a:prstGeom>
          <a:noFill/>
          <a:ln/>
        </p:spPr>
        <p:txBody>
          <a:bodyPr wrap="square" lIns="0" tIns="0" rIns="0" bIns="0" rtlCol="0" anchor="ctr"/>
          <a:lstStyle/>
          <a:p>
            <a:r>
              <a:rPr lang="en-US" sz="2100" b="1" i="1">
                <a:solidFill>
                  <a:srgbClr val="0A3A43"/>
                </a:solidFill>
              </a:rPr>
              <a:t>“We changed how we work.</a:t>
            </a:r>
            <a:endParaRPr lang="en-US" sz="2100" i="1"/>
          </a:p>
          <a:p>
            <a:r>
              <a:rPr lang="en-US" sz="2100" b="1" i="1">
                <a:solidFill>
                  <a:srgbClr val="0A3A43"/>
                </a:solidFill>
              </a:rPr>
              <a:t>So… what did we get for it?”</a:t>
            </a:r>
            <a:endParaRPr lang="en-US" sz="2100" i="1"/>
          </a:p>
        </p:txBody>
      </p:sp>
      <p:sp>
        <p:nvSpPr>
          <p:cNvPr id="7" name="Text 4"/>
          <p:cNvSpPr/>
          <p:nvPr/>
        </p:nvSpPr>
        <p:spPr>
          <a:xfrm>
            <a:off x="466344" y="955732"/>
            <a:ext cx="6155682" cy="228231"/>
          </a:xfrm>
          <a:prstGeom prst="rect">
            <a:avLst/>
          </a:prstGeom>
          <a:noFill/>
          <a:ln/>
        </p:spPr>
        <p:txBody>
          <a:bodyPr wrap="square" lIns="0" tIns="0" rIns="0" bIns="0" rtlCol="0" anchor="ctr"/>
          <a:lstStyle/>
          <a:p>
            <a:r>
              <a:rPr lang="en-US" sz="1400" b="1" kern="0" spc="90">
                <a:solidFill>
                  <a:srgbClr val="6D5BC0"/>
                </a:solidFill>
              </a:rPr>
              <a:t>THE CYCLE</a:t>
            </a:r>
            <a:endParaRPr lang="en-US" sz="1400"/>
          </a:p>
        </p:txBody>
      </p:sp>
      <p:sp>
        <p:nvSpPr>
          <p:cNvPr id="8" name="Shape 5"/>
          <p:cNvSpPr/>
          <p:nvPr/>
        </p:nvSpPr>
        <p:spPr>
          <a:xfrm>
            <a:off x="493776" y="2219190"/>
            <a:ext cx="1837944" cy="1200150"/>
          </a:xfrm>
          <a:prstGeom prst="roundRect">
            <a:avLst>
              <a:gd name="adj" fmla="val 3429"/>
            </a:avLst>
          </a:prstGeom>
          <a:solidFill>
            <a:srgbClr val="FFFFFF"/>
          </a:solidFill>
          <a:ln w="12700">
            <a:solidFill>
              <a:srgbClr val="DAD7D0"/>
            </a:solidFill>
            <a:prstDash val="solid"/>
          </a:ln>
          <a:effectLst>
            <a:outerShdw blurRad="15240" dist="12700" dir="2700000" algn="bl" rotWithShape="0">
              <a:srgbClr val="000000">
                <a:alpha val="12000"/>
              </a:srgbClr>
            </a:outerShdw>
          </a:effectLst>
        </p:spPr>
        <p:txBody>
          <a:bodyPr/>
          <a:lstStyle/>
          <a:p>
            <a:endParaRPr lang="en-US" sz="1350"/>
          </a:p>
        </p:txBody>
      </p:sp>
      <p:sp>
        <p:nvSpPr>
          <p:cNvPr id="9" name="Text 6"/>
          <p:cNvSpPr/>
          <p:nvPr/>
        </p:nvSpPr>
        <p:spPr>
          <a:xfrm>
            <a:off x="617220" y="2405388"/>
            <a:ext cx="1591056" cy="192024"/>
          </a:xfrm>
          <a:prstGeom prst="rect">
            <a:avLst/>
          </a:prstGeom>
          <a:noFill/>
          <a:ln/>
        </p:spPr>
        <p:txBody>
          <a:bodyPr wrap="square" lIns="0" tIns="0" rIns="0" bIns="0" rtlCol="0" anchor="ctr"/>
          <a:lstStyle/>
          <a:p>
            <a:r>
              <a:rPr lang="en-US" sz="1400" b="1">
                <a:solidFill>
                  <a:srgbClr val="102A30"/>
                </a:solidFill>
              </a:rPr>
              <a:t>Transformation effort</a:t>
            </a:r>
            <a:endParaRPr lang="en-US" sz="1400"/>
          </a:p>
        </p:txBody>
      </p:sp>
      <p:sp>
        <p:nvSpPr>
          <p:cNvPr id="10" name="Text 7"/>
          <p:cNvSpPr/>
          <p:nvPr/>
        </p:nvSpPr>
        <p:spPr>
          <a:xfrm>
            <a:off x="617220" y="2605302"/>
            <a:ext cx="1591056" cy="761238"/>
          </a:xfrm>
          <a:prstGeom prst="rect">
            <a:avLst/>
          </a:prstGeom>
          <a:noFill/>
          <a:ln/>
        </p:spPr>
        <p:txBody>
          <a:bodyPr wrap="square" lIns="0" tIns="0" rIns="0" bIns="0" rtlCol="0" anchor="ctr">
            <a:normAutofit/>
          </a:bodyPr>
          <a:lstStyle/>
          <a:p>
            <a:r>
              <a:rPr lang="en-US" sz="1200">
                <a:solidFill>
                  <a:srgbClr val="6E777B"/>
                </a:solidFill>
              </a:rPr>
              <a:t>New roles, ceremonies, tooling, governance</a:t>
            </a:r>
            <a:endParaRPr lang="en-US" sz="1200"/>
          </a:p>
        </p:txBody>
      </p:sp>
      <p:sp>
        <p:nvSpPr>
          <p:cNvPr id="11" name="Shape 8"/>
          <p:cNvSpPr/>
          <p:nvPr/>
        </p:nvSpPr>
        <p:spPr>
          <a:xfrm>
            <a:off x="2503170" y="2219190"/>
            <a:ext cx="1837944" cy="1200150"/>
          </a:xfrm>
          <a:prstGeom prst="roundRect">
            <a:avLst>
              <a:gd name="adj" fmla="val 3429"/>
            </a:avLst>
          </a:prstGeom>
          <a:solidFill>
            <a:srgbClr val="FFFFFF"/>
          </a:solidFill>
          <a:ln w="12700">
            <a:solidFill>
              <a:srgbClr val="DAD7D0"/>
            </a:solidFill>
            <a:prstDash val="solid"/>
          </a:ln>
          <a:effectLst>
            <a:outerShdw blurRad="15240" dist="12700" dir="2700000" algn="bl" rotWithShape="0">
              <a:srgbClr val="000000">
                <a:alpha val="12000"/>
              </a:srgbClr>
            </a:outerShdw>
          </a:effectLst>
        </p:spPr>
        <p:txBody>
          <a:bodyPr/>
          <a:lstStyle/>
          <a:p>
            <a:endParaRPr lang="en-US" sz="1350"/>
          </a:p>
        </p:txBody>
      </p:sp>
      <p:sp>
        <p:nvSpPr>
          <p:cNvPr id="12" name="Text 9"/>
          <p:cNvSpPr/>
          <p:nvPr/>
        </p:nvSpPr>
        <p:spPr>
          <a:xfrm>
            <a:off x="2626614" y="2405388"/>
            <a:ext cx="1591056" cy="192024"/>
          </a:xfrm>
          <a:prstGeom prst="rect">
            <a:avLst/>
          </a:prstGeom>
          <a:noFill/>
          <a:ln/>
        </p:spPr>
        <p:txBody>
          <a:bodyPr wrap="square" lIns="0" tIns="0" rIns="0" bIns="0" rtlCol="0" anchor="ctr"/>
          <a:lstStyle/>
          <a:p>
            <a:r>
              <a:rPr lang="en-US" sz="1400" b="1">
                <a:solidFill>
                  <a:srgbClr val="102A30"/>
                </a:solidFill>
              </a:rPr>
              <a:t>Operational metrics</a:t>
            </a:r>
            <a:endParaRPr lang="en-US" sz="1400"/>
          </a:p>
        </p:txBody>
      </p:sp>
      <p:sp>
        <p:nvSpPr>
          <p:cNvPr id="13" name="Text 10"/>
          <p:cNvSpPr/>
          <p:nvPr/>
        </p:nvSpPr>
        <p:spPr>
          <a:xfrm>
            <a:off x="2626614" y="2605302"/>
            <a:ext cx="1591056" cy="761238"/>
          </a:xfrm>
          <a:prstGeom prst="rect">
            <a:avLst/>
          </a:prstGeom>
          <a:noFill/>
          <a:ln/>
        </p:spPr>
        <p:txBody>
          <a:bodyPr wrap="square" lIns="0" tIns="0" rIns="0" bIns="0" rtlCol="0" anchor="ctr">
            <a:normAutofit/>
          </a:bodyPr>
          <a:lstStyle/>
          <a:p>
            <a:r>
              <a:rPr lang="en-US" sz="1200">
                <a:solidFill>
                  <a:srgbClr val="6E777B"/>
                </a:solidFill>
              </a:rPr>
              <a:t>Velocity, time, efficiency, quality</a:t>
            </a:r>
            <a:endParaRPr lang="en-US" sz="1200"/>
          </a:p>
        </p:txBody>
      </p:sp>
      <p:sp>
        <p:nvSpPr>
          <p:cNvPr id="14" name="Shape 11"/>
          <p:cNvSpPr/>
          <p:nvPr/>
        </p:nvSpPr>
        <p:spPr>
          <a:xfrm>
            <a:off x="4512564" y="2219190"/>
            <a:ext cx="1837944" cy="1200150"/>
          </a:xfrm>
          <a:prstGeom prst="roundRect">
            <a:avLst>
              <a:gd name="adj" fmla="val 3429"/>
            </a:avLst>
          </a:prstGeom>
          <a:solidFill>
            <a:srgbClr val="F5EAFB"/>
          </a:solidFill>
          <a:ln w="12700">
            <a:solidFill>
              <a:srgbClr val="D6B9E6"/>
            </a:solidFill>
            <a:prstDash val="solid"/>
          </a:ln>
          <a:effectLst>
            <a:outerShdw blurRad="15240" dist="12700" dir="2700000" algn="bl" rotWithShape="0">
              <a:srgbClr val="000000">
                <a:alpha val="12000"/>
              </a:srgbClr>
            </a:outerShdw>
          </a:effectLst>
        </p:spPr>
        <p:txBody>
          <a:bodyPr/>
          <a:lstStyle/>
          <a:p>
            <a:endParaRPr lang="en-US" sz="1350"/>
          </a:p>
        </p:txBody>
      </p:sp>
      <p:sp>
        <p:nvSpPr>
          <p:cNvPr id="15" name="Text 12"/>
          <p:cNvSpPr/>
          <p:nvPr/>
        </p:nvSpPr>
        <p:spPr>
          <a:xfrm>
            <a:off x="4636008" y="2405388"/>
            <a:ext cx="1591056" cy="192024"/>
          </a:xfrm>
          <a:prstGeom prst="rect">
            <a:avLst/>
          </a:prstGeom>
          <a:noFill/>
          <a:ln/>
        </p:spPr>
        <p:txBody>
          <a:bodyPr wrap="square" lIns="0" tIns="0" rIns="0" bIns="0" rtlCol="0" anchor="ctr"/>
          <a:lstStyle/>
          <a:p>
            <a:r>
              <a:rPr lang="en-US" sz="1400" b="1">
                <a:solidFill>
                  <a:srgbClr val="102A30"/>
                </a:solidFill>
              </a:rPr>
              <a:t>Executive question</a:t>
            </a:r>
            <a:endParaRPr lang="en-US" sz="1400"/>
          </a:p>
        </p:txBody>
      </p:sp>
      <p:sp>
        <p:nvSpPr>
          <p:cNvPr id="16" name="Text 13"/>
          <p:cNvSpPr/>
          <p:nvPr/>
        </p:nvSpPr>
        <p:spPr>
          <a:xfrm>
            <a:off x="4636008" y="2605302"/>
            <a:ext cx="1591056" cy="761238"/>
          </a:xfrm>
          <a:prstGeom prst="rect">
            <a:avLst/>
          </a:prstGeom>
          <a:noFill/>
          <a:ln/>
        </p:spPr>
        <p:txBody>
          <a:bodyPr wrap="square" lIns="0" tIns="0" rIns="0" bIns="0" rtlCol="0" anchor="ctr">
            <a:normAutofit/>
          </a:bodyPr>
          <a:lstStyle/>
          <a:p>
            <a:r>
              <a:rPr lang="en-US" sz="1200">
                <a:solidFill>
                  <a:srgbClr val="6E777B"/>
                </a:solidFill>
              </a:rPr>
              <a:t>Where is the business value?</a:t>
            </a:r>
            <a:endParaRPr lang="en-US" sz="1200"/>
          </a:p>
        </p:txBody>
      </p:sp>
      <p:sp>
        <p:nvSpPr>
          <p:cNvPr id="17" name="Text 14"/>
          <p:cNvSpPr/>
          <p:nvPr/>
        </p:nvSpPr>
        <p:spPr>
          <a:xfrm>
            <a:off x="507492" y="3645654"/>
            <a:ext cx="5932170" cy="425196"/>
          </a:xfrm>
          <a:prstGeom prst="rect">
            <a:avLst/>
          </a:prstGeom>
          <a:noFill/>
          <a:ln/>
        </p:spPr>
        <p:txBody>
          <a:bodyPr wrap="square" lIns="0" tIns="0" rIns="0" bIns="0" rtlCol="0" anchor="ctr"/>
          <a:lstStyle/>
          <a:p>
            <a:r>
              <a:rPr lang="en-US" sz="1400" b="1">
                <a:solidFill>
                  <a:srgbClr val="102A30"/>
                </a:solidFill>
              </a:rPr>
              <a:t>When the answer stays in “delivery language,” the organization starts looking backward for something tangible.</a:t>
            </a:r>
            <a:endParaRPr lang="en-US" sz="1400"/>
          </a:p>
        </p:txBody>
      </p:sp>
      <p:sp>
        <p:nvSpPr>
          <p:cNvPr id="21" name="Rectangle 20">
            <a:extLst>
              <a:ext uri="{FF2B5EF4-FFF2-40B4-BE49-F238E27FC236}">
                <a16:creationId xmlns:a16="http://schemas.microsoft.com/office/drawing/2014/main" id="{621C78CB-8D91-40A9-8C91-5FA12F7E31E5}"/>
              </a:ext>
            </a:extLst>
          </p:cNvPr>
          <p:cNvSpPr/>
          <p:nvPr/>
        </p:nvSpPr>
        <p:spPr>
          <a:xfrm>
            <a:off x="8382000" y="4762500"/>
            <a:ext cx="304800" cy="3810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t"/>
          <a:lstStyle/>
          <a:p>
            <a:pPr algn="ctr"/>
            <a:endParaRPr lang="en-US"/>
          </a:p>
        </p:txBody>
      </p:sp>
      <p:sp>
        <p:nvSpPr>
          <p:cNvPr id="22" name="BP_PageNumber">
            <a:extLst>
              <a:ext uri="{FF2B5EF4-FFF2-40B4-BE49-F238E27FC236}">
                <a16:creationId xmlns:a16="http://schemas.microsoft.com/office/drawing/2014/main" id="{9D0FD47C-E20E-46F7-BA6E-26832BB3CB8F}"/>
              </a:ext>
            </a:extLst>
          </p:cNvPr>
          <p:cNvSpPr/>
          <p:nvPr/>
        </p:nvSpPr>
        <p:spPr>
          <a:xfrm>
            <a:off x="8686800" y="4838700"/>
            <a:ext cx="457200" cy="3048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wrap="none" rtlCol="0" anchor="ctr" anchorCtr="0">
            <a:noAutofit/>
          </a:bodyPr>
          <a:lstStyle/>
          <a:p>
            <a:pPr algn="ctr"/>
            <a:r>
              <a:rPr lang="en-US" sz="800" b="1">
                <a:solidFill>
                  <a:srgbClr val="FFFFFF"/>
                </a:solidFill>
              </a:rPr>
              <a:t>3</a:t>
            </a:r>
          </a:p>
        </p:txBody>
      </p:sp>
    </p:spTree>
    <p:extLst>
      <p:ext uri="{BB962C8B-B14F-4D97-AF65-F5344CB8AC3E}">
        <p14:creationId xmlns:p14="http://schemas.microsoft.com/office/powerpoint/2010/main" val="2059307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 y="0"/>
            <a:ext cx="9143771" cy="5143500"/>
          </a:xfrm>
          <a:prstGeom prst="rect">
            <a:avLst/>
          </a:prstGeom>
          <a:solidFill>
            <a:srgbClr val="F4F1EC"/>
          </a:solidFill>
          <a:ln w="12700">
            <a:solidFill>
              <a:srgbClr val="FFFFFF">
                <a:alpha val="0"/>
              </a:srgbClr>
            </a:solidFill>
            <a:prstDash val="solid"/>
          </a:ln>
        </p:spPr>
        <p:txBody>
          <a:bodyPr/>
          <a:lstStyle/>
          <a:p>
            <a:endParaRPr lang="en-US"/>
          </a:p>
        </p:txBody>
      </p:sp>
      <p:sp>
        <p:nvSpPr>
          <p:cNvPr id="3" name="Shape 1"/>
          <p:cNvSpPr/>
          <p:nvPr/>
        </p:nvSpPr>
        <p:spPr>
          <a:xfrm>
            <a:off x="7215007" y="0"/>
            <a:ext cx="1928765" cy="485775"/>
          </a:xfrm>
          <a:prstGeom prst="rect">
            <a:avLst/>
          </a:prstGeom>
          <a:solidFill>
            <a:srgbClr val="82CBD0"/>
          </a:solidFill>
          <a:ln w="12700">
            <a:solidFill>
              <a:srgbClr val="FFFFFF">
                <a:alpha val="0"/>
              </a:srgbClr>
            </a:solidFill>
            <a:prstDash val="solid"/>
          </a:ln>
        </p:spPr>
        <p:txBody>
          <a:bodyPr/>
          <a:lstStyle/>
          <a:p>
            <a:endParaRPr lang="en-US"/>
          </a:p>
        </p:txBody>
      </p:sp>
      <p:sp>
        <p:nvSpPr>
          <p:cNvPr id="4" name="Shape 2"/>
          <p:cNvSpPr/>
          <p:nvPr/>
        </p:nvSpPr>
        <p:spPr>
          <a:xfrm>
            <a:off x="6286342" y="0"/>
            <a:ext cx="1071536" cy="271463"/>
          </a:xfrm>
          <a:prstGeom prst="rect">
            <a:avLst/>
          </a:prstGeom>
          <a:solidFill>
            <a:srgbClr val="F9AC38"/>
          </a:solidFill>
          <a:ln w="12700">
            <a:solidFill>
              <a:srgbClr val="FFFFFF">
                <a:alpha val="0"/>
              </a:srgbClr>
            </a:solidFill>
            <a:prstDash val="solid"/>
          </a:ln>
        </p:spPr>
        <p:txBody>
          <a:bodyPr/>
          <a:lstStyle/>
          <a:p>
            <a:endParaRPr lang="en-US"/>
          </a:p>
        </p:txBody>
      </p:sp>
      <p:sp>
        <p:nvSpPr>
          <p:cNvPr id="5" name="Shape 3"/>
          <p:cNvSpPr/>
          <p:nvPr/>
        </p:nvSpPr>
        <p:spPr>
          <a:xfrm>
            <a:off x="7100710" y="271462"/>
            <a:ext cx="657209" cy="100013"/>
          </a:xfrm>
          <a:prstGeom prst="rect">
            <a:avLst/>
          </a:prstGeom>
          <a:solidFill>
            <a:srgbClr val="B124ED"/>
          </a:solidFill>
          <a:ln w="12700">
            <a:solidFill>
              <a:srgbClr val="FFFFFF">
                <a:alpha val="0"/>
              </a:srgbClr>
            </a:solidFill>
            <a:prstDash val="solid"/>
          </a:ln>
        </p:spPr>
        <p:txBody>
          <a:bodyPr/>
          <a:lstStyle/>
          <a:p>
            <a:endParaRPr lang="en-US"/>
          </a:p>
        </p:txBody>
      </p:sp>
      <p:sp>
        <p:nvSpPr>
          <p:cNvPr id="6" name="Text 4"/>
          <p:cNvSpPr/>
          <p:nvPr/>
        </p:nvSpPr>
        <p:spPr>
          <a:xfrm>
            <a:off x="471475" y="414337"/>
            <a:ext cx="4857629" cy="185738"/>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800" b="1">
                <a:solidFill>
                  <a:srgbClr val="7258C9"/>
                </a:solidFill>
                <a:latin typeface="Arial" pitchFamily="34" charset="0"/>
                <a:ea typeface="Arial" pitchFamily="34" charset="-122"/>
                <a:cs typeface="Arial" pitchFamily="34" charset="-120"/>
              </a:rPr>
              <a:t>AUDIENCE CHECK-IN</a:t>
            </a:r>
            <a:endParaRPr lang="en-US" sz="1800"/>
          </a:p>
        </p:txBody>
      </p:sp>
      <p:sp>
        <p:nvSpPr>
          <p:cNvPr id="7" name="Shape 5"/>
          <p:cNvSpPr/>
          <p:nvPr/>
        </p:nvSpPr>
        <p:spPr>
          <a:xfrm>
            <a:off x="471475" y="714375"/>
            <a:ext cx="728645" cy="35719"/>
          </a:xfrm>
          <a:prstGeom prst="rect">
            <a:avLst/>
          </a:prstGeom>
          <a:solidFill>
            <a:srgbClr val="7258C9"/>
          </a:solidFill>
          <a:ln w="12700">
            <a:solidFill>
              <a:srgbClr val="FFFFFF">
                <a:alpha val="0"/>
              </a:srgbClr>
            </a:solidFill>
            <a:prstDash val="solid"/>
          </a:ln>
        </p:spPr>
        <p:txBody>
          <a:bodyPr/>
          <a:lstStyle/>
          <a:p>
            <a:endParaRPr lang="en-US"/>
          </a:p>
        </p:txBody>
      </p:sp>
      <p:sp>
        <p:nvSpPr>
          <p:cNvPr id="8" name="Text 6"/>
          <p:cNvSpPr/>
          <p:nvPr/>
        </p:nvSpPr>
        <p:spPr>
          <a:xfrm>
            <a:off x="471475" y="1082601"/>
            <a:ext cx="4857629" cy="370247"/>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2700" b="1">
                <a:solidFill>
                  <a:srgbClr val="062F3A"/>
                </a:solidFill>
                <a:latin typeface="Arial" pitchFamily="34" charset="0"/>
                <a:ea typeface="Arial" pitchFamily="34" charset="-122"/>
                <a:cs typeface="Arial" pitchFamily="34" charset="-120"/>
              </a:rPr>
              <a:t>Quick show of hands</a:t>
            </a:r>
            <a:endParaRPr lang="en-US" sz="2700"/>
          </a:p>
        </p:txBody>
      </p:sp>
      <p:sp>
        <p:nvSpPr>
          <p:cNvPr id="9" name="Text 7"/>
          <p:cNvSpPr/>
          <p:nvPr/>
        </p:nvSpPr>
        <p:spPr>
          <a:xfrm>
            <a:off x="471476" y="1620617"/>
            <a:ext cx="4643321" cy="822759"/>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800" b="1">
                <a:solidFill>
                  <a:srgbClr val="062F3A"/>
                </a:solidFill>
                <a:latin typeface="Arial" pitchFamily="34" charset="0"/>
                <a:ea typeface="Arial" pitchFamily="34" charset="-122"/>
                <a:cs typeface="Arial" pitchFamily="34" charset="-120"/>
              </a:rPr>
              <a:t>Could you explain your transformation’s business value in one sentence without using Agile terminology?</a:t>
            </a:r>
            <a:endParaRPr lang="en-US" sz="1800"/>
          </a:p>
        </p:txBody>
      </p:sp>
      <p:sp>
        <p:nvSpPr>
          <p:cNvPr id="10" name="Text 8"/>
          <p:cNvSpPr/>
          <p:nvPr/>
        </p:nvSpPr>
        <p:spPr>
          <a:xfrm>
            <a:off x="1194527" y="2646358"/>
            <a:ext cx="3897745" cy="556207"/>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800" b="1" i="1">
                <a:solidFill>
                  <a:srgbClr val="69777D"/>
                </a:solidFill>
                <a:latin typeface="Arial" pitchFamily="34" charset="0"/>
                <a:ea typeface="Arial" pitchFamily="34" charset="-122"/>
                <a:cs typeface="Arial" pitchFamily="34" charset="-120"/>
              </a:rPr>
              <a:t>Raise your hand if you could answer confidently today.</a:t>
            </a:r>
            <a:endParaRPr lang="en-US" sz="1800" b="1" i="1"/>
          </a:p>
        </p:txBody>
      </p:sp>
      <p:sp>
        <p:nvSpPr>
          <p:cNvPr id="11" name="Shape 9"/>
          <p:cNvSpPr/>
          <p:nvPr/>
        </p:nvSpPr>
        <p:spPr>
          <a:xfrm>
            <a:off x="471475" y="3702342"/>
            <a:ext cx="4929065" cy="914399"/>
          </a:xfrm>
          <a:prstGeom prst="rect">
            <a:avLst/>
          </a:prstGeom>
          <a:solidFill>
            <a:srgbClr val="FFFFFF"/>
          </a:solidFill>
          <a:ln w="9525">
            <a:solidFill>
              <a:srgbClr val="D4CECA"/>
            </a:solidFill>
            <a:prstDash val="solid"/>
          </a:ln>
        </p:spPr>
        <p:txBody>
          <a:bodyPr/>
          <a:lstStyle/>
          <a:p>
            <a:endParaRPr lang="en-US"/>
          </a:p>
        </p:txBody>
      </p:sp>
      <p:sp>
        <p:nvSpPr>
          <p:cNvPr id="12" name="Text 10"/>
          <p:cNvSpPr/>
          <p:nvPr/>
        </p:nvSpPr>
        <p:spPr>
          <a:xfrm>
            <a:off x="678639" y="3866649"/>
            <a:ext cx="4514738" cy="650081"/>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400" b="1">
                <a:solidFill>
                  <a:srgbClr val="062F3A"/>
                </a:solidFill>
                <a:latin typeface="Arial" pitchFamily="34" charset="0"/>
                <a:ea typeface="Arial" pitchFamily="34" charset="-122"/>
                <a:cs typeface="Arial" pitchFamily="34" charset="-120"/>
              </a:rPr>
              <a:t>Keep your hand raised if your answer includes dollars, capacity, timing, risk, or an investment decision.</a:t>
            </a:r>
            <a:endParaRPr lang="en-US" sz="1400"/>
          </a:p>
        </p:txBody>
      </p:sp>
      <p:sp>
        <p:nvSpPr>
          <p:cNvPr id="13" name="Shape 11"/>
          <p:cNvSpPr/>
          <p:nvPr/>
        </p:nvSpPr>
        <p:spPr>
          <a:xfrm>
            <a:off x="6000601" y="657225"/>
            <a:ext cx="3143171" cy="3893344"/>
          </a:xfrm>
          <a:prstGeom prst="rect">
            <a:avLst/>
          </a:prstGeom>
          <a:solidFill>
            <a:srgbClr val="073C45"/>
          </a:solidFill>
          <a:ln w="12700">
            <a:solidFill>
              <a:srgbClr val="FFFFFF">
                <a:alpha val="0"/>
              </a:srgbClr>
            </a:solidFill>
            <a:prstDash val="solid"/>
          </a:ln>
        </p:spPr>
        <p:txBody>
          <a:bodyPr/>
          <a:lstStyle/>
          <a:p>
            <a:endParaRPr lang="en-US"/>
          </a:p>
        </p:txBody>
      </p:sp>
      <p:pic>
        <p:nvPicPr>
          <p:cNvPr id="14" name="BasisPointsImage" descr="preencoded.png"/>
          <p:cNvPicPr>
            <a:picLocks noChangeAspect="1"/>
          </p:cNvPicPr>
          <p:nvPr/>
        </p:nvPicPr>
        <p:blipFill>
          <a:blip r:embed="rId3"/>
          <a:srcRect l="12393" r="12393"/>
          <a:stretch/>
        </p:blipFill>
        <p:spPr>
          <a:xfrm>
            <a:off x="6000601" y="657225"/>
            <a:ext cx="3143171" cy="2786063"/>
          </a:xfrm>
          <a:prstGeom prst="rect">
            <a:avLst/>
          </a:prstGeom>
        </p:spPr>
      </p:pic>
      <p:sp>
        <p:nvSpPr>
          <p:cNvPr id="15" name="Shape 12"/>
          <p:cNvSpPr/>
          <p:nvPr/>
        </p:nvSpPr>
        <p:spPr>
          <a:xfrm>
            <a:off x="6000601" y="3336131"/>
            <a:ext cx="3143171" cy="1214438"/>
          </a:xfrm>
          <a:prstGeom prst="rect">
            <a:avLst/>
          </a:prstGeom>
          <a:solidFill>
            <a:srgbClr val="073C45"/>
          </a:solidFill>
          <a:ln w="12700">
            <a:solidFill>
              <a:srgbClr val="FFFFFF">
                <a:alpha val="0"/>
              </a:srgbClr>
            </a:solidFill>
            <a:prstDash val="solid"/>
          </a:ln>
        </p:spPr>
        <p:txBody>
          <a:bodyPr/>
          <a:lstStyle/>
          <a:p>
            <a:endParaRPr lang="en-US"/>
          </a:p>
        </p:txBody>
      </p:sp>
      <p:sp>
        <p:nvSpPr>
          <p:cNvPr id="16" name="Text 13"/>
          <p:cNvSpPr/>
          <p:nvPr/>
        </p:nvSpPr>
        <p:spPr>
          <a:xfrm>
            <a:off x="6243482" y="3550444"/>
            <a:ext cx="2657408" cy="642938"/>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350" b="1">
                <a:solidFill>
                  <a:srgbClr val="FFFFFF"/>
                </a:solidFill>
                <a:latin typeface="Arial" pitchFamily="34" charset="0"/>
                <a:ea typeface="Arial" pitchFamily="34" charset="-122"/>
                <a:cs typeface="Arial" pitchFamily="34" charset="-120"/>
              </a:rPr>
              <a:t>Notice where the confidence drops. That is the gap this session will close.</a:t>
            </a:r>
            <a:endParaRPr lang="en-US" sz="1350"/>
          </a:p>
        </p:txBody>
      </p:sp>
      <p:sp>
        <p:nvSpPr>
          <p:cNvPr id="18" name="Text 15"/>
          <p:cNvSpPr/>
          <p:nvPr/>
        </p:nvSpPr>
        <p:spPr>
          <a:xfrm>
            <a:off x="471476" y="4886325"/>
            <a:ext cx="997106" cy="100013"/>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675">
                <a:solidFill>
                  <a:srgbClr val="6B777C"/>
                </a:solidFill>
                <a:latin typeface="Arial" pitchFamily="34" charset="0"/>
                <a:ea typeface="Arial" pitchFamily="34" charset="-122"/>
                <a:cs typeface="Arial" pitchFamily="34" charset="-120"/>
              </a:rPr>
              <a:t>© Scaled Agile, Inc.</a:t>
            </a:r>
            <a:endParaRPr lang="en-US" sz="675"/>
          </a:p>
        </p:txBody>
      </p:sp>
      <p:pic>
        <p:nvPicPr>
          <p:cNvPr id="20" name="Graphic 19" descr="Raised hand with solid fill">
            <a:extLst>
              <a:ext uri="{FF2B5EF4-FFF2-40B4-BE49-F238E27FC236}">
                <a16:creationId xmlns:a16="http://schemas.microsoft.com/office/drawing/2014/main" id="{40B8890C-2B79-4728-DCBE-67060994D2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720" y="2487687"/>
            <a:ext cx="914400" cy="914400"/>
          </a:xfrm>
          <a:prstGeom prst="rect">
            <a:avLst/>
          </a:prstGeom>
        </p:spPr>
      </p:pic>
      <p:sp>
        <p:nvSpPr>
          <p:cNvPr id="23" name="BP_PageNumber">
            <a:extLst>
              <a:ext uri="{FF2B5EF4-FFF2-40B4-BE49-F238E27FC236}">
                <a16:creationId xmlns:a16="http://schemas.microsoft.com/office/drawing/2014/main" id="{47D12DB3-A0A9-49A3-A3E2-AF5CC0A3B0DC}"/>
              </a:ext>
            </a:extLst>
          </p:cNvPr>
          <p:cNvSpPr/>
          <p:nvPr/>
        </p:nvSpPr>
        <p:spPr>
          <a:xfrm>
            <a:off x="8599055" y="4838700"/>
            <a:ext cx="544945" cy="304800"/>
          </a:xfrm>
          <a:prstGeom prst="rect">
            <a:avLst/>
          </a:prstGeom>
          <a:solidFill>
            <a:srgbClr val="032E3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800" b="1">
                <a:solidFill>
                  <a:srgbClr val="FFFFFF"/>
                </a:solidFill>
              </a:rPr>
              <a:t>4</a:t>
            </a:r>
          </a:p>
        </p:txBody>
      </p:sp>
      <p:sp>
        <p:nvSpPr>
          <p:cNvPr id="25" name="Rectangle 24">
            <a:extLst>
              <a:ext uri="{FF2B5EF4-FFF2-40B4-BE49-F238E27FC236}">
                <a16:creationId xmlns:a16="http://schemas.microsoft.com/office/drawing/2014/main" id="{E5894A01-D6E1-F381-0FAE-7BB408DB77DA}"/>
              </a:ext>
            </a:extLst>
          </p:cNvPr>
          <p:cNvSpPr/>
          <p:nvPr/>
        </p:nvSpPr>
        <p:spPr>
          <a:xfrm>
            <a:off x="8382000" y="4838700"/>
            <a:ext cx="304800" cy="304800"/>
          </a:xfrm>
          <a:prstGeom prst="rect">
            <a:avLst/>
          </a:prstGeom>
          <a:solidFill>
            <a:srgbClr val="032E3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598315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 y="0"/>
            <a:ext cx="9143771" cy="5143500"/>
          </a:xfrm>
          <a:prstGeom prst="rect">
            <a:avLst/>
          </a:prstGeom>
          <a:solidFill>
            <a:srgbClr val="F4F1EC"/>
          </a:solidFill>
          <a:ln w="12700">
            <a:solidFill>
              <a:srgbClr val="FFFFFF">
                <a:alpha val="0"/>
              </a:srgbClr>
            </a:solidFill>
            <a:prstDash val="solid"/>
          </a:ln>
        </p:spPr>
        <p:txBody>
          <a:bodyPr/>
          <a:lstStyle/>
          <a:p>
            <a:endParaRPr lang="en-US"/>
          </a:p>
        </p:txBody>
      </p:sp>
      <p:sp>
        <p:nvSpPr>
          <p:cNvPr id="3" name="Shape 1"/>
          <p:cNvSpPr/>
          <p:nvPr/>
        </p:nvSpPr>
        <p:spPr>
          <a:xfrm>
            <a:off x="7215007" y="0"/>
            <a:ext cx="1928765" cy="485775"/>
          </a:xfrm>
          <a:prstGeom prst="rect">
            <a:avLst/>
          </a:prstGeom>
          <a:solidFill>
            <a:srgbClr val="82CBD0"/>
          </a:solidFill>
          <a:ln w="12700">
            <a:solidFill>
              <a:srgbClr val="FFFFFF">
                <a:alpha val="0"/>
              </a:srgbClr>
            </a:solidFill>
            <a:prstDash val="solid"/>
          </a:ln>
        </p:spPr>
        <p:txBody>
          <a:bodyPr/>
          <a:lstStyle/>
          <a:p>
            <a:endParaRPr lang="en-US"/>
          </a:p>
        </p:txBody>
      </p:sp>
      <p:sp>
        <p:nvSpPr>
          <p:cNvPr id="4" name="Shape 2"/>
          <p:cNvSpPr/>
          <p:nvPr/>
        </p:nvSpPr>
        <p:spPr>
          <a:xfrm>
            <a:off x="6286342" y="0"/>
            <a:ext cx="1071536" cy="271463"/>
          </a:xfrm>
          <a:prstGeom prst="rect">
            <a:avLst/>
          </a:prstGeom>
          <a:solidFill>
            <a:srgbClr val="F9AC38"/>
          </a:solidFill>
          <a:ln w="12700">
            <a:solidFill>
              <a:srgbClr val="FFFFFF">
                <a:alpha val="0"/>
              </a:srgbClr>
            </a:solidFill>
            <a:prstDash val="solid"/>
          </a:ln>
        </p:spPr>
        <p:txBody>
          <a:bodyPr/>
          <a:lstStyle/>
          <a:p>
            <a:endParaRPr lang="en-US"/>
          </a:p>
        </p:txBody>
      </p:sp>
      <p:sp>
        <p:nvSpPr>
          <p:cNvPr id="5" name="Shape 3"/>
          <p:cNvSpPr/>
          <p:nvPr/>
        </p:nvSpPr>
        <p:spPr>
          <a:xfrm>
            <a:off x="7100710" y="271462"/>
            <a:ext cx="657209" cy="100013"/>
          </a:xfrm>
          <a:prstGeom prst="rect">
            <a:avLst/>
          </a:prstGeom>
          <a:solidFill>
            <a:srgbClr val="B124ED"/>
          </a:solidFill>
          <a:ln w="12700">
            <a:solidFill>
              <a:srgbClr val="FFFFFF">
                <a:alpha val="0"/>
              </a:srgbClr>
            </a:solidFill>
            <a:prstDash val="solid"/>
          </a:ln>
        </p:spPr>
        <p:txBody>
          <a:bodyPr/>
          <a:lstStyle/>
          <a:p>
            <a:endParaRPr lang="en-US"/>
          </a:p>
        </p:txBody>
      </p:sp>
      <p:sp>
        <p:nvSpPr>
          <p:cNvPr id="6" name="Text 4"/>
          <p:cNvSpPr/>
          <p:nvPr/>
        </p:nvSpPr>
        <p:spPr>
          <a:xfrm>
            <a:off x="471475" y="442913"/>
            <a:ext cx="6357779" cy="307181"/>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2138" b="1">
                <a:solidFill>
                  <a:srgbClr val="062F3A"/>
                </a:solidFill>
                <a:latin typeface="Arial" pitchFamily="34" charset="0"/>
                <a:ea typeface="Arial" pitchFamily="34" charset="-122"/>
                <a:cs typeface="Arial" pitchFamily="34" charset="-120"/>
              </a:rPr>
              <a:t>The question that resets the conversation</a:t>
            </a:r>
            <a:endParaRPr lang="en-US" sz="2138"/>
          </a:p>
        </p:txBody>
      </p:sp>
      <p:sp>
        <p:nvSpPr>
          <p:cNvPr id="7" name="Shape 5"/>
          <p:cNvSpPr/>
          <p:nvPr/>
        </p:nvSpPr>
        <p:spPr>
          <a:xfrm>
            <a:off x="471475" y="878682"/>
            <a:ext cx="728645" cy="35719"/>
          </a:xfrm>
          <a:prstGeom prst="rect">
            <a:avLst/>
          </a:prstGeom>
          <a:solidFill>
            <a:srgbClr val="7258C9"/>
          </a:solidFill>
          <a:ln w="12700">
            <a:solidFill>
              <a:srgbClr val="FFFFFF">
                <a:alpha val="0"/>
              </a:srgbClr>
            </a:solidFill>
            <a:prstDash val="solid"/>
          </a:ln>
        </p:spPr>
        <p:txBody>
          <a:bodyPr/>
          <a:lstStyle/>
          <a:p>
            <a:endParaRPr lang="en-US"/>
          </a:p>
        </p:txBody>
      </p:sp>
      <p:sp>
        <p:nvSpPr>
          <p:cNvPr id="8" name="Text 6"/>
          <p:cNvSpPr/>
          <p:nvPr/>
        </p:nvSpPr>
        <p:spPr>
          <a:xfrm>
            <a:off x="471475" y="988288"/>
            <a:ext cx="6357779" cy="178594"/>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200" b="1">
                <a:solidFill>
                  <a:srgbClr val="7258C9"/>
                </a:solidFill>
                <a:latin typeface="Arial" pitchFamily="34" charset="0"/>
                <a:ea typeface="Arial" pitchFamily="34" charset="-122"/>
                <a:cs typeface="Arial" pitchFamily="34" charset="-120"/>
              </a:rPr>
              <a:t>FROM DELIVERY PERFORMANCE TO BUSINESS VALUE</a:t>
            </a:r>
            <a:endParaRPr lang="en-US" sz="1200"/>
          </a:p>
        </p:txBody>
      </p:sp>
      <p:sp>
        <p:nvSpPr>
          <p:cNvPr id="9" name="Shape 7"/>
          <p:cNvSpPr/>
          <p:nvPr/>
        </p:nvSpPr>
        <p:spPr>
          <a:xfrm>
            <a:off x="471476" y="1357313"/>
            <a:ext cx="6072036" cy="1857375"/>
          </a:xfrm>
          <a:prstGeom prst="rect">
            <a:avLst/>
          </a:prstGeom>
          <a:solidFill>
            <a:srgbClr val="FFFFFF"/>
          </a:solidFill>
          <a:ln w="9525">
            <a:solidFill>
              <a:srgbClr val="D3CECA"/>
            </a:solidFill>
            <a:prstDash val="solid"/>
          </a:ln>
        </p:spPr>
        <p:txBody>
          <a:bodyPr/>
          <a:lstStyle/>
          <a:p>
            <a:endParaRPr lang="en-US"/>
          </a:p>
        </p:txBody>
      </p:sp>
      <p:sp>
        <p:nvSpPr>
          <p:cNvPr id="10" name="Text 8"/>
          <p:cNvSpPr/>
          <p:nvPr/>
        </p:nvSpPr>
        <p:spPr>
          <a:xfrm>
            <a:off x="850086" y="1685926"/>
            <a:ext cx="5314817" cy="1213544"/>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2700" b="1" i="1">
                <a:solidFill>
                  <a:srgbClr val="062F3A"/>
                </a:solidFill>
                <a:latin typeface="Arial" pitchFamily="34" charset="0"/>
                <a:ea typeface="Arial" pitchFamily="34" charset="-122"/>
                <a:cs typeface="Arial" pitchFamily="34" charset="-120"/>
              </a:rPr>
              <a:t>“What business outcome changed—and how did improved flow contribute?”</a:t>
            </a:r>
            <a:endParaRPr lang="en-US" sz="2700"/>
          </a:p>
        </p:txBody>
      </p:sp>
      <p:sp>
        <p:nvSpPr>
          <p:cNvPr id="11" name="Shape 9"/>
          <p:cNvSpPr/>
          <p:nvPr/>
        </p:nvSpPr>
        <p:spPr>
          <a:xfrm>
            <a:off x="471476" y="3500437"/>
            <a:ext cx="6072036" cy="614363"/>
          </a:xfrm>
          <a:prstGeom prst="rect">
            <a:avLst/>
          </a:prstGeom>
          <a:solidFill>
            <a:srgbClr val="DCEFF1"/>
          </a:solidFill>
          <a:ln w="12700">
            <a:solidFill>
              <a:srgbClr val="FFFFFF">
                <a:alpha val="0"/>
              </a:srgbClr>
            </a:solidFill>
            <a:prstDash val="solid"/>
          </a:ln>
        </p:spPr>
        <p:txBody>
          <a:bodyPr/>
          <a:lstStyle/>
          <a:p>
            <a:endParaRPr lang="en-US"/>
          </a:p>
        </p:txBody>
      </p:sp>
      <p:sp>
        <p:nvSpPr>
          <p:cNvPr id="12" name="Text 10"/>
          <p:cNvSpPr/>
          <p:nvPr/>
        </p:nvSpPr>
        <p:spPr>
          <a:xfrm>
            <a:off x="685783" y="3671888"/>
            <a:ext cx="5643422" cy="449833"/>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313" b="1">
                <a:solidFill>
                  <a:srgbClr val="062F3A"/>
                </a:solidFill>
                <a:latin typeface="Arial" pitchFamily="34" charset="0"/>
                <a:ea typeface="Arial" pitchFamily="34" charset="-122"/>
                <a:cs typeface="Arial" pitchFamily="34" charset="-120"/>
              </a:rPr>
              <a:t>This shifts the discussion from whether the transformation is busy to whether it is creating credible value.</a:t>
            </a:r>
            <a:endParaRPr lang="en-US" sz="1313"/>
          </a:p>
        </p:txBody>
      </p:sp>
      <p:sp>
        <p:nvSpPr>
          <p:cNvPr id="13" name="Shape 11"/>
          <p:cNvSpPr/>
          <p:nvPr/>
        </p:nvSpPr>
        <p:spPr>
          <a:xfrm>
            <a:off x="7072136" y="800100"/>
            <a:ext cx="2071636" cy="3464719"/>
          </a:xfrm>
          <a:prstGeom prst="rect">
            <a:avLst/>
          </a:prstGeom>
          <a:solidFill>
            <a:srgbClr val="073C45"/>
          </a:solidFill>
          <a:ln w="12700">
            <a:solidFill>
              <a:srgbClr val="FFFFFF">
                <a:alpha val="0"/>
              </a:srgbClr>
            </a:solidFill>
            <a:prstDash val="solid"/>
          </a:ln>
        </p:spPr>
        <p:txBody>
          <a:bodyPr/>
          <a:lstStyle/>
          <a:p>
            <a:endParaRPr lang="en-US"/>
          </a:p>
        </p:txBody>
      </p:sp>
      <p:sp>
        <p:nvSpPr>
          <p:cNvPr id="14" name="Text 12"/>
          <p:cNvSpPr/>
          <p:nvPr/>
        </p:nvSpPr>
        <p:spPr>
          <a:xfrm>
            <a:off x="7343592" y="1171575"/>
            <a:ext cx="1528724" cy="150019"/>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1200" b="1">
                <a:solidFill>
                  <a:srgbClr val="83D0D2"/>
                </a:solidFill>
                <a:latin typeface="Arial" pitchFamily="34" charset="0"/>
                <a:ea typeface="Arial" pitchFamily="34" charset="-122"/>
                <a:cs typeface="Arial" pitchFamily="34" charset="-120"/>
              </a:rPr>
              <a:t>RESET THE FRAME</a:t>
            </a:r>
            <a:endParaRPr lang="en-US" sz="1200"/>
          </a:p>
        </p:txBody>
      </p:sp>
      <p:sp>
        <p:nvSpPr>
          <p:cNvPr id="15" name="Text 13"/>
          <p:cNvSpPr/>
          <p:nvPr/>
        </p:nvSpPr>
        <p:spPr>
          <a:xfrm>
            <a:off x="7343592" y="1564481"/>
            <a:ext cx="1528724" cy="2040099"/>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913" b="1">
                <a:solidFill>
                  <a:srgbClr val="FFFFFF"/>
                </a:solidFill>
                <a:latin typeface="Arial" pitchFamily="34" charset="0"/>
                <a:ea typeface="Arial" pitchFamily="34" charset="-122"/>
                <a:cs typeface="Arial" pitchFamily="34" charset="-120"/>
              </a:rPr>
              <a:t>Metrics are evidence</a:t>
            </a:r>
            <a:endParaRPr lang="en-US" sz="1913"/>
          </a:p>
          <a:p>
            <a:pPr marL="0" indent="0" algn="ctr">
              <a:buNone/>
            </a:pPr>
            <a:endParaRPr lang="en-US" sz="1913"/>
          </a:p>
          <a:p>
            <a:pPr marL="0" indent="0" algn="ctr">
              <a:buNone/>
            </a:pPr>
            <a:r>
              <a:rPr lang="en-US" sz="1913" b="1">
                <a:solidFill>
                  <a:srgbClr val="FFFFFF"/>
                </a:solidFill>
                <a:latin typeface="Arial" pitchFamily="34" charset="0"/>
                <a:ea typeface="Arial" pitchFamily="34" charset="-122"/>
                <a:cs typeface="Arial" pitchFamily="34" charset="-120"/>
              </a:rPr>
              <a:t>Outcomes drive decisions</a:t>
            </a:r>
            <a:endParaRPr lang="en-US" sz="1913"/>
          </a:p>
        </p:txBody>
      </p:sp>
      <p:sp>
        <p:nvSpPr>
          <p:cNvPr id="16" name="Text 14"/>
          <p:cNvSpPr/>
          <p:nvPr/>
        </p:nvSpPr>
        <p:spPr>
          <a:xfrm>
            <a:off x="471476" y="4886325"/>
            <a:ext cx="744606" cy="100013"/>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l">
              <a:buNone/>
            </a:pPr>
            <a:r>
              <a:rPr lang="en-US" sz="675">
                <a:solidFill>
                  <a:srgbClr val="6B777C"/>
                </a:solidFill>
                <a:latin typeface="Arial" pitchFamily="34" charset="0"/>
                <a:ea typeface="Arial" pitchFamily="34" charset="-122"/>
                <a:cs typeface="Arial" pitchFamily="34" charset="-120"/>
              </a:rPr>
              <a:t>© Scaled Agile, Inc.</a:t>
            </a:r>
            <a:endParaRPr lang="en-US" sz="675"/>
          </a:p>
        </p:txBody>
      </p:sp>
      <p:sp>
        <p:nvSpPr>
          <p:cNvPr id="19" name="Rectangle 18">
            <a:extLst>
              <a:ext uri="{FF2B5EF4-FFF2-40B4-BE49-F238E27FC236}">
                <a16:creationId xmlns:a16="http://schemas.microsoft.com/office/drawing/2014/main" id="{31D20BAF-2FE8-4899-97EE-3A690A7B9351}"/>
              </a:ext>
            </a:extLst>
          </p:cNvPr>
          <p:cNvSpPr/>
          <p:nvPr/>
        </p:nvSpPr>
        <p:spPr>
          <a:xfrm>
            <a:off x="8382000" y="4838700"/>
            <a:ext cx="304800" cy="304800"/>
          </a:xfrm>
          <a:prstGeom prst="rect">
            <a:avLst/>
          </a:prstGeom>
          <a:solidFill>
            <a:srgbClr val="032E3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BP_PageNumber">
            <a:extLst>
              <a:ext uri="{FF2B5EF4-FFF2-40B4-BE49-F238E27FC236}">
                <a16:creationId xmlns:a16="http://schemas.microsoft.com/office/drawing/2014/main" id="{2CBCB194-99A4-46BB-A1EE-3C10EF326D4E}"/>
              </a:ext>
            </a:extLst>
          </p:cNvPr>
          <p:cNvSpPr/>
          <p:nvPr/>
        </p:nvSpPr>
        <p:spPr>
          <a:xfrm>
            <a:off x="8686800" y="4838700"/>
            <a:ext cx="457200" cy="304800"/>
          </a:xfrm>
          <a:prstGeom prst="rect">
            <a:avLst/>
          </a:prstGeom>
          <a:solidFill>
            <a:srgbClr val="032E3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800" b="1">
                <a:solidFill>
                  <a:srgbClr val="FFFFFF"/>
                </a:solidFill>
              </a:rPr>
              <a:t>5</a:t>
            </a:r>
          </a:p>
        </p:txBody>
      </p:sp>
    </p:spTree>
    <p:extLst>
      <p:ext uri="{BB962C8B-B14F-4D97-AF65-F5344CB8AC3E}">
        <p14:creationId xmlns:p14="http://schemas.microsoft.com/office/powerpoint/2010/main" val="1666219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22D99-EC62-ED12-F0E9-FEE9FAC84573}"/>
            </a:ext>
          </a:extLst>
        </p:cNvPr>
        <p:cNvGrpSpPr/>
        <p:nvPr/>
      </p:nvGrpSpPr>
      <p:grpSpPr>
        <a:xfrm>
          <a:off x="0" y="0"/>
          <a:ext cx="0" cy="0"/>
          <a:chOff x="0" y="0"/>
          <a:chExt cx="0" cy="0"/>
        </a:xfrm>
      </p:grpSpPr>
      <p:pic>
        <p:nvPicPr>
          <p:cNvPr id="2" name="Image 0" descr="/mnt/data/2026-SAFeSummit-SanDiego-BreakoutSession-Speakers-MasterTemplate/slide-2.png">
            <a:extLst>
              <a:ext uri="{FF2B5EF4-FFF2-40B4-BE49-F238E27FC236}">
                <a16:creationId xmlns:a16="http://schemas.microsoft.com/office/drawing/2014/main" id="{FCF2B6AA-6432-370A-8F55-BEADB326C391}"/>
              </a:ext>
            </a:extLst>
          </p:cNvPr>
          <p:cNvPicPr>
            <a:picLocks noChangeAspect="1"/>
          </p:cNvPicPr>
          <p:nvPr/>
        </p:nvPicPr>
        <p:blipFill>
          <a:blip r:embed="rId3"/>
          <a:stretch>
            <a:fillRect/>
          </a:stretch>
        </p:blipFill>
        <p:spPr>
          <a:xfrm>
            <a:off x="1" y="0"/>
            <a:ext cx="9143771" cy="5143500"/>
          </a:xfrm>
          <a:prstGeom prst="rect">
            <a:avLst/>
          </a:prstGeom>
        </p:spPr>
      </p:pic>
      <p:sp>
        <p:nvSpPr>
          <p:cNvPr id="3" name="Shape 0">
            <a:extLst>
              <a:ext uri="{FF2B5EF4-FFF2-40B4-BE49-F238E27FC236}">
                <a16:creationId xmlns:a16="http://schemas.microsoft.com/office/drawing/2014/main" id="{EBFBDB63-BFC3-8447-CECF-81A47722A0B1}"/>
              </a:ext>
            </a:extLst>
          </p:cNvPr>
          <p:cNvSpPr/>
          <p:nvPr/>
        </p:nvSpPr>
        <p:spPr>
          <a:xfrm>
            <a:off x="356616" y="685800"/>
            <a:ext cx="6549390" cy="3806190"/>
          </a:xfrm>
          <a:prstGeom prst="rect">
            <a:avLst/>
          </a:prstGeom>
          <a:solidFill>
            <a:srgbClr val="F4F1EA"/>
          </a:solidFill>
          <a:ln w="12700">
            <a:solidFill>
              <a:srgbClr val="F4F1EA"/>
            </a:solidFill>
            <a:prstDash val="solid"/>
          </a:ln>
        </p:spPr>
        <p:txBody>
          <a:bodyPr/>
          <a:lstStyle/>
          <a:p>
            <a:endParaRPr lang="en-US" sz="1350"/>
          </a:p>
        </p:txBody>
      </p:sp>
      <p:sp>
        <p:nvSpPr>
          <p:cNvPr id="4" name="Text 1">
            <a:extLst>
              <a:ext uri="{FF2B5EF4-FFF2-40B4-BE49-F238E27FC236}">
                <a16:creationId xmlns:a16="http://schemas.microsoft.com/office/drawing/2014/main" id="{C563A1A2-1350-FB69-DC83-4FDBEBDD851B}"/>
              </a:ext>
            </a:extLst>
          </p:cNvPr>
          <p:cNvSpPr/>
          <p:nvPr/>
        </p:nvSpPr>
        <p:spPr>
          <a:xfrm>
            <a:off x="466344" y="384048"/>
            <a:ext cx="6412230" cy="356616"/>
          </a:xfrm>
          <a:prstGeom prst="rect">
            <a:avLst/>
          </a:prstGeom>
          <a:noFill/>
          <a:ln/>
        </p:spPr>
        <p:txBody>
          <a:bodyPr wrap="square" lIns="0" tIns="0" rIns="0" bIns="0" rtlCol="0" anchor="ctr"/>
          <a:lstStyle/>
          <a:p>
            <a:r>
              <a:rPr lang="en-US" sz="1875" b="1">
                <a:solidFill>
                  <a:srgbClr val="102A30"/>
                </a:solidFill>
                <a:latin typeface="Arial" pitchFamily="34" charset="0"/>
                <a:cs typeface="Arial" pitchFamily="34" charset="-120"/>
              </a:rPr>
              <a:t>Missing layer: Value Realization</a:t>
            </a:r>
          </a:p>
        </p:txBody>
      </p:sp>
      <p:sp>
        <p:nvSpPr>
          <p:cNvPr id="5" name="Shape 2">
            <a:extLst>
              <a:ext uri="{FF2B5EF4-FFF2-40B4-BE49-F238E27FC236}">
                <a16:creationId xmlns:a16="http://schemas.microsoft.com/office/drawing/2014/main" id="{4E88D4C6-A8A1-4006-079D-61AF1698BAF3}"/>
              </a:ext>
            </a:extLst>
          </p:cNvPr>
          <p:cNvSpPr/>
          <p:nvPr/>
        </p:nvSpPr>
        <p:spPr>
          <a:xfrm>
            <a:off x="466344" y="809244"/>
            <a:ext cx="720090" cy="0"/>
          </a:xfrm>
          <a:prstGeom prst="line">
            <a:avLst/>
          </a:prstGeom>
          <a:noFill/>
          <a:ln w="38100">
            <a:solidFill>
              <a:srgbClr val="6D5BC0"/>
            </a:solidFill>
            <a:prstDash val="solid"/>
          </a:ln>
        </p:spPr>
        <p:txBody>
          <a:bodyPr/>
          <a:lstStyle/>
          <a:p>
            <a:endParaRPr lang="en-US" sz="1350"/>
          </a:p>
        </p:txBody>
      </p:sp>
      <p:sp>
        <p:nvSpPr>
          <p:cNvPr id="7" name="Shape 4">
            <a:extLst>
              <a:ext uri="{FF2B5EF4-FFF2-40B4-BE49-F238E27FC236}">
                <a16:creationId xmlns:a16="http://schemas.microsoft.com/office/drawing/2014/main" id="{613C80F3-5EFF-B01A-8F28-2C52FB34775B}"/>
              </a:ext>
            </a:extLst>
          </p:cNvPr>
          <p:cNvSpPr/>
          <p:nvPr/>
        </p:nvSpPr>
        <p:spPr>
          <a:xfrm>
            <a:off x="514350" y="1385316"/>
            <a:ext cx="1748790" cy="1302798"/>
          </a:xfrm>
          <a:prstGeom prst="roundRect">
            <a:avLst>
              <a:gd name="adj" fmla="val 3390"/>
            </a:avLst>
          </a:prstGeom>
          <a:solidFill>
            <a:srgbClr val="FFFFFF"/>
          </a:solidFill>
          <a:ln w="12700">
            <a:solidFill>
              <a:srgbClr val="DAD7D0"/>
            </a:solidFill>
            <a:prstDash val="solid"/>
          </a:ln>
        </p:spPr>
        <p:txBody>
          <a:bodyPr/>
          <a:lstStyle/>
          <a:p>
            <a:endParaRPr lang="en-US" sz="1350"/>
          </a:p>
        </p:txBody>
      </p:sp>
      <p:sp>
        <p:nvSpPr>
          <p:cNvPr id="8" name="Shape 5">
            <a:extLst>
              <a:ext uri="{FF2B5EF4-FFF2-40B4-BE49-F238E27FC236}">
                <a16:creationId xmlns:a16="http://schemas.microsoft.com/office/drawing/2014/main" id="{5CF0A7A6-FED4-A325-CF6E-385177786F5F}"/>
              </a:ext>
            </a:extLst>
          </p:cNvPr>
          <p:cNvSpPr/>
          <p:nvPr/>
        </p:nvSpPr>
        <p:spPr>
          <a:xfrm>
            <a:off x="637794" y="1653590"/>
            <a:ext cx="288036" cy="288036"/>
          </a:xfrm>
          <a:prstGeom prst="ellipse">
            <a:avLst/>
          </a:prstGeom>
          <a:solidFill>
            <a:srgbClr val="6D5BC0"/>
          </a:solidFill>
          <a:ln w="12700">
            <a:solidFill>
              <a:srgbClr val="6D5BC0"/>
            </a:solidFill>
            <a:prstDash val="solid"/>
          </a:ln>
        </p:spPr>
        <p:txBody>
          <a:bodyPr/>
          <a:lstStyle/>
          <a:p>
            <a:endParaRPr lang="en-US" sz="1350"/>
          </a:p>
        </p:txBody>
      </p:sp>
      <p:sp>
        <p:nvSpPr>
          <p:cNvPr id="9" name="Text 6">
            <a:extLst>
              <a:ext uri="{FF2B5EF4-FFF2-40B4-BE49-F238E27FC236}">
                <a16:creationId xmlns:a16="http://schemas.microsoft.com/office/drawing/2014/main" id="{E31ECC87-C208-B8BA-5C3D-94CC6F690A27}"/>
              </a:ext>
            </a:extLst>
          </p:cNvPr>
          <p:cNvSpPr/>
          <p:nvPr/>
        </p:nvSpPr>
        <p:spPr>
          <a:xfrm>
            <a:off x="1008126" y="1628218"/>
            <a:ext cx="1131570" cy="383312"/>
          </a:xfrm>
          <a:prstGeom prst="rect">
            <a:avLst/>
          </a:prstGeom>
          <a:noFill/>
          <a:ln/>
        </p:spPr>
        <p:txBody>
          <a:bodyPr wrap="square" lIns="0" tIns="0" rIns="0" bIns="0" rtlCol="0" anchor="ctr"/>
          <a:lstStyle/>
          <a:p>
            <a:r>
              <a:rPr lang="en-US" sz="1600" b="1">
                <a:solidFill>
                  <a:srgbClr val="102A30"/>
                </a:solidFill>
              </a:rPr>
              <a:t>Flow Velocity</a:t>
            </a:r>
            <a:endParaRPr lang="en-US" sz="1600"/>
          </a:p>
        </p:txBody>
      </p:sp>
      <p:sp>
        <p:nvSpPr>
          <p:cNvPr id="10" name="Text 7">
            <a:extLst>
              <a:ext uri="{FF2B5EF4-FFF2-40B4-BE49-F238E27FC236}">
                <a16:creationId xmlns:a16="http://schemas.microsoft.com/office/drawing/2014/main" id="{334E0D13-A6E8-E67E-7A2F-6A1821BBE23A}"/>
              </a:ext>
            </a:extLst>
          </p:cNvPr>
          <p:cNvSpPr/>
          <p:nvPr/>
        </p:nvSpPr>
        <p:spPr>
          <a:xfrm>
            <a:off x="637794" y="2368075"/>
            <a:ext cx="1467612" cy="150876"/>
          </a:xfrm>
          <a:prstGeom prst="rect">
            <a:avLst/>
          </a:prstGeom>
          <a:noFill/>
          <a:ln/>
        </p:spPr>
        <p:txBody>
          <a:bodyPr wrap="square" lIns="0" tIns="0" rIns="0" bIns="0" rtlCol="0" anchor="ctr"/>
          <a:lstStyle/>
          <a:p>
            <a:r>
              <a:rPr lang="en-US" sz="1400">
                <a:solidFill>
                  <a:srgbClr val="6E777B"/>
                </a:solidFill>
              </a:rPr>
              <a:t>Capacity signal</a:t>
            </a:r>
            <a:endParaRPr lang="en-US" sz="1400"/>
          </a:p>
        </p:txBody>
      </p:sp>
      <p:sp>
        <p:nvSpPr>
          <p:cNvPr id="11" name="Shape 8">
            <a:extLst>
              <a:ext uri="{FF2B5EF4-FFF2-40B4-BE49-F238E27FC236}">
                <a16:creationId xmlns:a16="http://schemas.microsoft.com/office/drawing/2014/main" id="{1F36F2E8-84BF-7C77-F2EE-B5686B4D416E}"/>
              </a:ext>
            </a:extLst>
          </p:cNvPr>
          <p:cNvSpPr/>
          <p:nvPr/>
        </p:nvSpPr>
        <p:spPr>
          <a:xfrm>
            <a:off x="2468880" y="1385316"/>
            <a:ext cx="1748790" cy="1302798"/>
          </a:xfrm>
          <a:prstGeom prst="roundRect">
            <a:avLst>
              <a:gd name="adj" fmla="val 3390"/>
            </a:avLst>
          </a:prstGeom>
          <a:solidFill>
            <a:srgbClr val="FFFFFF"/>
          </a:solidFill>
          <a:ln w="12700">
            <a:solidFill>
              <a:srgbClr val="DAD7D0"/>
            </a:solidFill>
            <a:prstDash val="solid"/>
          </a:ln>
        </p:spPr>
        <p:txBody>
          <a:bodyPr/>
          <a:lstStyle/>
          <a:p>
            <a:endParaRPr lang="en-US" sz="1350"/>
          </a:p>
        </p:txBody>
      </p:sp>
      <p:sp>
        <p:nvSpPr>
          <p:cNvPr id="12" name="Shape 9">
            <a:extLst>
              <a:ext uri="{FF2B5EF4-FFF2-40B4-BE49-F238E27FC236}">
                <a16:creationId xmlns:a16="http://schemas.microsoft.com/office/drawing/2014/main" id="{EF0D5B56-01EB-B797-3D51-006995DCBD5C}"/>
              </a:ext>
            </a:extLst>
          </p:cNvPr>
          <p:cNvSpPr/>
          <p:nvPr/>
        </p:nvSpPr>
        <p:spPr>
          <a:xfrm>
            <a:off x="2592324" y="1653590"/>
            <a:ext cx="288036" cy="288036"/>
          </a:xfrm>
          <a:prstGeom prst="ellipse">
            <a:avLst/>
          </a:prstGeom>
          <a:solidFill>
            <a:srgbClr val="F4A53D"/>
          </a:solidFill>
          <a:ln w="12700">
            <a:solidFill>
              <a:srgbClr val="F4A53D"/>
            </a:solidFill>
            <a:prstDash val="solid"/>
          </a:ln>
        </p:spPr>
        <p:txBody>
          <a:bodyPr/>
          <a:lstStyle/>
          <a:p>
            <a:endParaRPr lang="en-US" sz="1350"/>
          </a:p>
        </p:txBody>
      </p:sp>
      <p:sp>
        <p:nvSpPr>
          <p:cNvPr id="13" name="Text 10">
            <a:extLst>
              <a:ext uri="{FF2B5EF4-FFF2-40B4-BE49-F238E27FC236}">
                <a16:creationId xmlns:a16="http://schemas.microsoft.com/office/drawing/2014/main" id="{82B4BC18-FF23-41B0-632B-36CB9045F1AA}"/>
              </a:ext>
            </a:extLst>
          </p:cNvPr>
          <p:cNvSpPr/>
          <p:nvPr/>
        </p:nvSpPr>
        <p:spPr>
          <a:xfrm>
            <a:off x="2973994" y="1733231"/>
            <a:ext cx="1131570" cy="171450"/>
          </a:xfrm>
          <a:prstGeom prst="rect">
            <a:avLst/>
          </a:prstGeom>
          <a:noFill/>
          <a:ln/>
        </p:spPr>
        <p:txBody>
          <a:bodyPr wrap="square" lIns="0" tIns="0" rIns="0" bIns="0" rtlCol="0" anchor="ctr"/>
          <a:lstStyle/>
          <a:p>
            <a:r>
              <a:rPr lang="en-US" sz="1600" b="1">
                <a:solidFill>
                  <a:srgbClr val="102A30"/>
                </a:solidFill>
              </a:rPr>
              <a:t>Flow Time</a:t>
            </a:r>
            <a:endParaRPr lang="en-US" sz="1600"/>
          </a:p>
        </p:txBody>
      </p:sp>
      <p:sp>
        <p:nvSpPr>
          <p:cNvPr id="14" name="Text 11">
            <a:extLst>
              <a:ext uri="{FF2B5EF4-FFF2-40B4-BE49-F238E27FC236}">
                <a16:creationId xmlns:a16="http://schemas.microsoft.com/office/drawing/2014/main" id="{36DF37B9-DDFA-3918-2292-D341B9F474B8}"/>
              </a:ext>
            </a:extLst>
          </p:cNvPr>
          <p:cNvSpPr/>
          <p:nvPr/>
        </p:nvSpPr>
        <p:spPr>
          <a:xfrm>
            <a:off x="2626614" y="2278516"/>
            <a:ext cx="1467612" cy="329995"/>
          </a:xfrm>
          <a:prstGeom prst="rect">
            <a:avLst/>
          </a:prstGeom>
          <a:noFill/>
          <a:ln/>
        </p:spPr>
        <p:txBody>
          <a:bodyPr wrap="square" lIns="0" tIns="0" rIns="0" bIns="0" rtlCol="0" anchor="ctr"/>
          <a:lstStyle/>
          <a:p>
            <a:r>
              <a:rPr lang="en-US" sz="1400">
                <a:solidFill>
                  <a:srgbClr val="6E777B"/>
                </a:solidFill>
              </a:rPr>
              <a:t>Revenue timing signal</a:t>
            </a:r>
            <a:endParaRPr lang="en-US" sz="1400"/>
          </a:p>
        </p:txBody>
      </p:sp>
      <p:sp>
        <p:nvSpPr>
          <p:cNvPr id="15" name="Shape 12">
            <a:extLst>
              <a:ext uri="{FF2B5EF4-FFF2-40B4-BE49-F238E27FC236}">
                <a16:creationId xmlns:a16="http://schemas.microsoft.com/office/drawing/2014/main" id="{5418B592-B905-15C3-8F88-14037EE4669A}"/>
              </a:ext>
            </a:extLst>
          </p:cNvPr>
          <p:cNvSpPr/>
          <p:nvPr/>
        </p:nvSpPr>
        <p:spPr>
          <a:xfrm>
            <a:off x="4423410" y="1385316"/>
            <a:ext cx="1748790" cy="1302798"/>
          </a:xfrm>
          <a:prstGeom prst="roundRect">
            <a:avLst>
              <a:gd name="adj" fmla="val 3390"/>
            </a:avLst>
          </a:prstGeom>
          <a:solidFill>
            <a:srgbClr val="FFFFFF"/>
          </a:solidFill>
          <a:ln w="12700">
            <a:solidFill>
              <a:srgbClr val="DAD7D0"/>
            </a:solidFill>
            <a:prstDash val="solid"/>
          </a:ln>
        </p:spPr>
        <p:txBody>
          <a:bodyPr/>
          <a:lstStyle/>
          <a:p>
            <a:endParaRPr lang="en-US" sz="1350"/>
          </a:p>
        </p:txBody>
      </p:sp>
      <p:sp>
        <p:nvSpPr>
          <p:cNvPr id="16" name="Shape 13">
            <a:extLst>
              <a:ext uri="{FF2B5EF4-FFF2-40B4-BE49-F238E27FC236}">
                <a16:creationId xmlns:a16="http://schemas.microsoft.com/office/drawing/2014/main" id="{82D0EA5B-3D82-8262-A1E7-0C5D957258AB}"/>
              </a:ext>
            </a:extLst>
          </p:cNvPr>
          <p:cNvSpPr/>
          <p:nvPr/>
        </p:nvSpPr>
        <p:spPr>
          <a:xfrm>
            <a:off x="4546854" y="1653590"/>
            <a:ext cx="288036" cy="288036"/>
          </a:xfrm>
          <a:prstGeom prst="ellipse">
            <a:avLst/>
          </a:prstGeom>
          <a:solidFill>
            <a:srgbClr val="81C8CC"/>
          </a:solidFill>
          <a:ln w="12700">
            <a:solidFill>
              <a:srgbClr val="81C8CC"/>
            </a:solidFill>
            <a:prstDash val="solid"/>
          </a:ln>
        </p:spPr>
        <p:txBody>
          <a:bodyPr/>
          <a:lstStyle/>
          <a:p>
            <a:endParaRPr lang="en-US" sz="1350"/>
          </a:p>
        </p:txBody>
      </p:sp>
      <p:sp>
        <p:nvSpPr>
          <p:cNvPr id="17" name="Text 14">
            <a:extLst>
              <a:ext uri="{FF2B5EF4-FFF2-40B4-BE49-F238E27FC236}">
                <a16:creationId xmlns:a16="http://schemas.microsoft.com/office/drawing/2014/main" id="{BE8F45A8-2BD3-4443-7225-0184E9A130E4}"/>
              </a:ext>
            </a:extLst>
          </p:cNvPr>
          <p:cNvSpPr/>
          <p:nvPr/>
        </p:nvSpPr>
        <p:spPr>
          <a:xfrm>
            <a:off x="4917186" y="1609491"/>
            <a:ext cx="1131570" cy="459008"/>
          </a:xfrm>
          <a:prstGeom prst="rect">
            <a:avLst/>
          </a:prstGeom>
          <a:noFill/>
          <a:ln/>
        </p:spPr>
        <p:txBody>
          <a:bodyPr wrap="square" lIns="0" tIns="0" rIns="0" bIns="0" rtlCol="0" anchor="ctr"/>
          <a:lstStyle/>
          <a:p>
            <a:r>
              <a:rPr lang="en-US" sz="1600" b="1">
                <a:solidFill>
                  <a:srgbClr val="102A30"/>
                </a:solidFill>
              </a:rPr>
              <a:t>Flow Efficiency</a:t>
            </a:r>
            <a:endParaRPr lang="en-US" sz="1600"/>
          </a:p>
        </p:txBody>
      </p:sp>
      <p:sp>
        <p:nvSpPr>
          <p:cNvPr id="18" name="Text 15">
            <a:extLst>
              <a:ext uri="{FF2B5EF4-FFF2-40B4-BE49-F238E27FC236}">
                <a16:creationId xmlns:a16="http://schemas.microsoft.com/office/drawing/2014/main" id="{42706CE1-FC29-275C-C284-63BE634BD96C}"/>
              </a:ext>
            </a:extLst>
          </p:cNvPr>
          <p:cNvSpPr/>
          <p:nvPr/>
        </p:nvSpPr>
        <p:spPr>
          <a:xfrm>
            <a:off x="4546854" y="2261001"/>
            <a:ext cx="1467612" cy="365024"/>
          </a:xfrm>
          <a:prstGeom prst="rect">
            <a:avLst/>
          </a:prstGeom>
          <a:noFill/>
          <a:ln/>
        </p:spPr>
        <p:txBody>
          <a:bodyPr wrap="square" lIns="0" tIns="0" rIns="0" bIns="0" rtlCol="0" anchor="ctr"/>
          <a:lstStyle/>
          <a:p>
            <a:r>
              <a:rPr lang="en-US" sz="1400">
                <a:solidFill>
                  <a:srgbClr val="6E777B"/>
                </a:solidFill>
              </a:rPr>
              <a:t>Capacity recovery signal</a:t>
            </a:r>
            <a:endParaRPr lang="en-US" sz="1400"/>
          </a:p>
        </p:txBody>
      </p:sp>
      <p:sp>
        <p:nvSpPr>
          <p:cNvPr id="19" name="Shape 16">
            <a:extLst>
              <a:ext uri="{FF2B5EF4-FFF2-40B4-BE49-F238E27FC236}">
                <a16:creationId xmlns:a16="http://schemas.microsoft.com/office/drawing/2014/main" id="{3F23F677-7954-676D-FD21-2B14B87FD1D7}"/>
              </a:ext>
            </a:extLst>
          </p:cNvPr>
          <p:cNvSpPr/>
          <p:nvPr/>
        </p:nvSpPr>
        <p:spPr>
          <a:xfrm>
            <a:off x="514350" y="2935001"/>
            <a:ext cx="1748790" cy="1302798"/>
          </a:xfrm>
          <a:prstGeom prst="roundRect">
            <a:avLst>
              <a:gd name="adj" fmla="val 3390"/>
            </a:avLst>
          </a:prstGeom>
          <a:solidFill>
            <a:srgbClr val="FFFFFF"/>
          </a:solidFill>
          <a:ln w="12700">
            <a:solidFill>
              <a:srgbClr val="DAD7D0"/>
            </a:solidFill>
            <a:prstDash val="solid"/>
          </a:ln>
        </p:spPr>
        <p:txBody>
          <a:bodyPr/>
          <a:lstStyle/>
          <a:p>
            <a:endParaRPr lang="en-US" sz="1350"/>
          </a:p>
        </p:txBody>
      </p:sp>
      <p:sp>
        <p:nvSpPr>
          <p:cNvPr id="20" name="Shape 17">
            <a:extLst>
              <a:ext uri="{FF2B5EF4-FFF2-40B4-BE49-F238E27FC236}">
                <a16:creationId xmlns:a16="http://schemas.microsoft.com/office/drawing/2014/main" id="{B4D93979-F7AF-F80E-EBBE-07921A62F75D}"/>
              </a:ext>
            </a:extLst>
          </p:cNvPr>
          <p:cNvSpPr/>
          <p:nvPr/>
        </p:nvSpPr>
        <p:spPr>
          <a:xfrm>
            <a:off x="641223" y="3133884"/>
            <a:ext cx="288036" cy="288036"/>
          </a:xfrm>
          <a:prstGeom prst="ellipse">
            <a:avLst/>
          </a:prstGeom>
          <a:solidFill>
            <a:srgbClr val="0A3A43"/>
          </a:solidFill>
          <a:ln w="12700">
            <a:solidFill>
              <a:srgbClr val="0A3A43"/>
            </a:solidFill>
            <a:prstDash val="solid"/>
          </a:ln>
        </p:spPr>
        <p:txBody>
          <a:bodyPr/>
          <a:lstStyle/>
          <a:p>
            <a:endParaRPr lang="en-US" sz="1350"/>
          </a:p>
        </p:txBody>
      </p:sp>
      <p:sp>
        <p:nvSpPr>
          <p:cNvPr id="21" name="Text 18">
            <a:extLst>
              <a:ext uri="{FF2B5EF4-FFF2-40B4-BE49-F238E27FC236}">
                <a16:creationId xmlns:a16="http://schemas.microsoft.com/office/drawing/2014/main" id="{A9A8D1A9-BA48-F564-65AE-29FEDB5D04AA}"/>
              </a:ext>
            </a:extLst>
          </p:cNvPr>
          <p:cNvSpPr/>
          <p:nvPr/>
        </p:nvSpPr>
        <p:spPr>
          <a:xfrm>
            <a:off x="1008126" y="3058446"/>
            <a:ext cx="1131570" cy="443264"/>
          </a:xfrm>
          <a:prstGeom prst="rect">
            <a:avLst/>
          </a:prstGeom>
          <a:noFill/>
          <a:ln/>
        </p:spPr>
        <p:txBody>
          <a:bodyPr wrap="square" lIns="0" tIns="0" rIns="0" bIns="0" rtlCol="0" anchor="ctr"/>
          <a:lstStyle/>
          <a:p>
            <a:r>
              <a:rPr lang="en-US" sz="1400" b="1">
                <a:solidFill>
                  <a:srgbClr val="102A30"/>
                </a:solidFill>
              </a:rPr>
              <a:t>Blocked Time</a:t>
            </a:r>
            <a:endParaRPr lang="en-US" sz="1400"/>
          </a:p>
        </p:txBody>
      </p:sp>
      <p:sp>
        <p:nvSpPr>
          <p:cNvPr id="22" name="Text 19">
            <a:extLst>
              <a:ext uri="{FF2B5EF4-FFF2-40B4-BE49-F238E27FC236}">
                <a16:creationId xmlns:a16="http://schemas.microsoft.com/office/drawing/2014/main" id="{264716AC-4B1C-2BF0-1608-DBE41594A9AA}"/>
              </a:ext>
            </a:extLst>
          </p:cNvPr>
          <p:cNvSpPr/>
          <p:nvPr/>
        </p:nvSpPr>
        <p:spPr>
          <a:xfrm>
            <a:off x="675513" y="3764820"/>
            <a:ext cx="1467612" cy="150876"/>
          </a:xfrm>
          <a:prstGeom prst="rect">
            <a:avLst/>
          </a:prstGeom>
          <a:noFill/>
          <a:ln/>
        </p:spPr>
        <p:txBody>
          <a:bodyPr wrap="square" lIns="0" tIns="0" rIns="0" bIns="0" rtlCol="0" anchor="ctr"/>
          <a:lstStyle/>
          <a:p>
            <a:r>
              <a:rPr lang="en-US" sz="1400">
                <a:solidFill>
                  <a:srgbClr val="6E777B"/>
                </a:solidFill>
              </a:rPr>
              <a:t>Productivity signal</a:t>
            </a:r>
            <a:endParaRPr lang="en-US" sz="1400"/>
          </a:p>
        </p:txBody>
      </p:sp>
      <p:sp>
        <p:nvSpPr>
          <p:cNvPr id="23" name="Shape 20">
            <a:extLst>
              <a:ext uri="{FF2B5EF4-FFF2-40B4-BE49-F238E27FC236}">
                <a16:creationId xmlns:a16="http://schemas.microsoft.com/office/drawing/2014/main" id="{744E9D81-40C9-D61E-2B7E-022C44C77BA1}"/>
              </a:ext>
            </a:extLst>
          </p:cNvPr>
          <p:cNvSpPr/>
          <p:nvPr/>
        </p:nvSpPr>
        <p:spPr>
          <a:xfrm>
            <a:off x="2468880" y="2935001"/>
            <a:ext cx="1748790" cy="1302798"/>
          </a:xfrm>
          <a:prstGeom prst="roundRect">
            <a:avLst>
              <a:gd name="adj" fmla="val 3390"/>
            </a:avLst>
          </a:prstGeom>
          <a:solidFill>
            <a:srgbClr val="FFFFFF"/>
          </a:solidFill>
          <a:ln w="12700">
            <a:solidFill>
              <a:srgbClr val="DAD7D0"/>
            </a:solidFill>
            <a:prstDash val="solid"/>
          </a:ln>
        </p:spPr>
        <p:txBody>
          <a:bodyPr/>
          <a:lstStyle/>
          <a:p>
            <a:endParaRPr lang="en-US" sz="1350"/>
          </a:p>
        </p:txBody>
      </p:sp>
      <p:sp>
        <p:nvSpPr>
          <p:cNvPr id="24" name="Shape 21">
            <a:extLst>
              <a:ext uri="{FF2B5EF4-FFF2-40B4-BE49-F238E27FC236}">
                <a16:creationId xmlns:a16="http://schemas.microsoft.com/office/drawing/2014/main" id="{9CF13366-BF18-ED2D-EB77-4A2358A37860}"/>
              </a:ext>
            </a:extLst>
          </p:cNvPr>
          <p:cNvSpPr/>
          <p:nvPr/>
        </p:nvSpPr>
        <p:spPr>
          <a:xfrm>
            <a:off x="2592324" y="3133884"/>
            <a:ext cx="288036" cy="288036"/>
          </a:xfrm>
          <a:prstGeom prst="ellipse">
            <a:avLst/>
          </a:prstGeom>
          <a:solidFill>
            <a:srgbClr val="B45AC9"/>
          </a:solidFill>
          <a:ln w="12700">
            <a:solidFill>
              <a:srgbClr val="B45AC9"/>
            </a:solidFill>
            <a:prstDash val="solid"/>
          </a:ln>
        </p:spPr>
        <p:txBody>
          <a:bodyPr/>
          <a:lstStyle/>
          <a:p>
            <a:endParaRPr lang="en-US" sz="1350"/>
          </a:p>
        </p:txBody>
      </p:sp>
      <p:sp>
        <p:nvSpPr>
          <p:cNvPr id="25" name="Text 22">
            <a:extLst>
              <a:ext uri="{FF2B5EF4-FFF2-40B4-BE49-F238E27FC236}">
                <a16:creationId xmlns:a16="http://schemas.microsoft.com/office/drawing/2014/main" id="{53E26BD0-88D9-77F2-AD48-D2E3A7F5F8D3}"/>
              </a:ext>
            </a:extLst>
          </p:cNvPr>
          <p:cNvSpPr/>
          <p:nvPr/>
        </p:nvSpPr>
        <p:spPr>
          <a:xfrm>
            <a:off x="2976258" y="3180341"/>
            <a:ext cx="1131570" cy="171450"/>
          </a:xfrm>
          <a:prstGeom prst="rect">
            <a:avLst/>
          </a:prstGeom>
          <a:noFill/>
          <a:ln/>
        </p:spPr>
        <p:txBody>
          <a:bodyPr wrap="square" lIns="0" tIns="0" rIns="0" bIns="0" rtlCol="0" anchor="ctr"/>
          <a:lstStyle/>
          <a:p>
            <a:r>
              <a:rPr lang="en-US" sz="1400" b="1">
                <a:solidFill>
                  <a:srgbClr val="102A30"/>
                </a:solidFill>
              </a:rPr>
              <a:t>Quality</a:t>
            </a:r>
            <a:endParaRPr lang="en-US" sz="1400"/>
          </a:p>
        </p:txBody>
      </p:sp>
      <p:sp>
        <p:nvSpPr>
          <p:cNvPr id="26" name="Text 23">
            <a:extLst>
              <a:ext uri="{FF2B5EF4-FFF2-40B4-BE49-F238E27FC236}">
                <a16:creationId xmlns:a16="http://schemas.microsoft.com/office/drawing/2014/main" id="{2F8E846B-4C3A-C31E-8DD7-C79B98C562E6}"/>
              </a:ext>
            </a:extLst>
          </p:cNvPr>
          <p:cNvSpPr/>
          <p:nvPr/>
        </p:nvSpPr>
        <p:spPr>
          <a:xfrm>
            <a:off x="2619755" y="3666963"/>
            <a:ext cx="1467612" cy="394225"/>
          </a:xfrm>
          <a:prstGeom prst="rect">
            <a:avLst/>
          </a:prstGeom>
          <a:noFill/>
          <a:ln/>
        </p:spPr>
        <p:txBody>
          <a:bodyPr wrap="square" lIns="0" tIns="0" rIns="0" bIns="0" rtlCol="0" anchor="ctr"/>
          <a:lstStyle/>
          <a:p>
            <a:r>
              <a:rPr lang="en-US" sz="1400">
                <a:solidFill>
                  <a:srgbClr val="6E777B"/>
                </a:solidFill>
              </a:rPr>
              <a:t>Cost avoidance signal</a:t>
            </a:r>
            <a:endParaRPr lang="en-US" sz="1400"/>
          </a:p>
        </p:txBody>
      </p:sp>
      <p:sp>
        <p:nvSpPr>
          <p:cNvPr id="27" name="Shape 24">
            <a:extLst>
              <a:ext uri="{FF2B5EF4-FFF2-40B4-BE49-F238E27FC236}">
                <a16:creationId xmlns:a16="http://schemas.microsoft.com/office/drawing/2014/main" id="{25A07C07-9FD0-B7C2-3B16-CE33538F8AF6}"/>
              </a:ext>
            </a:extLst>
          </p:cNvPr>
          <p:cNvSpPr/>
          <p:nvPr/>
        </p:nvSpPr>
        <p:spPr>
          <a:xfrm>
            <a:off x="4423410" y="2935001"/>
            <a:ext cx="1748790" cy="1302798"/>
          </a:xfrm>
          <a:prstGeom prst="roundRect">
            <a:avLst>
              <a:gd name="adj" fmla="val 3390"/>
            </a:avLst>
          </a:prstGeom>
          <a:solidFill>
            <a:srgbClr val="FFFFFF"/>
          </a:solidFill>
          <a:ln w="12700">
            <a:solidFill>
              <a:srgbClr val="DAD7D0"/>
            </a:solidFill>
            <a:prstDash val="solid"/>
          </a:ln>
        </p:spPr>
        <p:txBody>
          <a:bodyPr/>
          <a:lstStyle/>
          <a:p>
            <a:endParaRPr lang="en-US" sz="1350"/>
          </a:p>
        </p:txBody>
      </p:sp>
      <p:sp>
        <p:nvSpPr>
          <p:cNvPr id="28" name="Shape 25">
            <a:extLst>
              <a:ext uri="{FF2B5EF4-FFF2-40B4-BE49-F238E27FC236}">
                <a16:creationId xmlns:a16="http://schemas.microsoft.com/office/drawing/2014/main" id="{0426870F-D2FE-3198-2976-3927D159FD01}"/>
              </a:ext>
            </a:extLst>
          </p:cNvPr>
          <p:cNvSpPr/>
          <p:nvPr/>
        </p:nvSpPr>
        <p:spPr>
          <a:xfrm>
            <a:off x="4560798" y="3133884"/>
            <a:ext cx="288036" cy="288036"/>
          </a:xfrm>
          <a:prstGeom prst="ellipse">
            <a:avLst/>
          </a:prstGeom>
          <a:solidFill>
            <a:srgbClr val="6DB39E"/>
          </a:solidFill>
          <a:ln w="12700">
            <a:solidFill>
              <a:srgbClr val="6DB39E"/>
            </a:solidFill>
            <a:prstDash val="solid"/>
          </a:ln>
        </p:spPr>
        <p:txBody>
          <a:bodyPr/>
          <a:lstStyle/>
          <a:p>
            <a:endParaRPr lang="en-US" sz="1350"/>
          </a:p>
        </p:txBody>
      </p:sp>
      <p:sp>
        <p:nvSpPr>
          <p:cNvPr id="29" name="Text 26">
            <a:extLst>
              <a:ext uri="{FF2B5EF4-FFF2-40B4-BE49-F238E27FC236}">
                <a16:creationId xmlns:a16="http://schemas.microsoft.com/office/drawing/2014/main" id="{D4E7137C-19B2-4CAC-02DE-DFEF43518573}"/>
              </a:ext>
            </a:extLst>
          </p:cNvPr>
          <p:cNvSpPr/>
          <p:nvPr/>
        </p:nvSpPr>
        <p:spPr>
          <a:xfrm>
            <a:off x="4917186" y="3192177"/>
            <a:ext cx="1131570" cy="171450"/>
          </a:xfrm>
          <a:prstGeom prst="rect">
            <a:avLst/>
          </a:prstGeom>
          <a:noFill/>
          <a:ln/>
        </p:spPr>
        <p:txBody>
          <a:bodyPr wrap="square" lIns="0" tIns="0" rIns="0" bIns="0" rtlCol="0" anchor="ctr"/>
          <a:lstStyle/>
          <a:p>
            <a:r>
              <a:rPr lang="en-US" sz="1400" b="1">
                <a:solidFill>
                  <a:srgbClr val="102A30"/>
                </a:solidFill>
              </a:rPr>
              <a:t>Predictability</a:t>
            </a:r>
            <a:endParaRPr lang="en-US" sz="1400"/>
          </a:p>
        </p:txBody>
      </p:sp>
      <p:sp>
        <p:nvSpPr>
          <p:cNvPr id="30" name="Text 27">
            <a:extLst>
              <a:ext uri="{FF2B5EF4-FFF2-40B4-BE49-F238E27FC236}">
                <a16:creationId xmlns:a16="http://schemas.microsoft.com/office/drawing/2014/main" id="{82652062-73A6-6DDD-EBB8-EA31DF87BEED}"/>
              </a:ext>
            </a:extLst>
          </p:cNvPr>
          <p:cNvSpPr/>
          <p:nvPr/>
        </p:nvSpPr>
        <p:spPr>
          <a:xfrm>
            <a:off x="4574285" y="3666963"/>
            <a:ext cx="1467612" cy="394225"/>
          </a:xfrm>
          <a:prstGeom prst="rect">
            <a:avLst/>
          </a:prstGeom>
          <a:noFill/>
          <a:ln/>
        </p:spPr>
        <p:txBody>
          <a:bodyPr wrap="square" lIns="0" tIns="0" rIns="0" bIns="0" rtlCol="0" anchor="ctr"/>
          <a:lstStyle/>
          <a:p>
            <a:r>
              <a:rPr lang="en-US" sz="1400">
                <a:solidFill>
                  <a:srgbClr val="6E777B"/>
                </a:solidFill>
              </a:rPr>
              <a:t>Investment confidence signal</a:t>
            </a:r>
            <a:endParaRPr lang="en-US" sz="1400"/>
          </a:p>
        </p:txBody>
      </p:sp>
      <p:sp>
        <p:nvSpPr>
          <p:cNvPr id="31" name="Shape 28">
            <a:extLst>
              <a:ext uri="{FF2B5EF4-FFF2-40B4-BE49-F238E27FC236}">
                <a16:creationId xmlns:a16="http://schemas.microsoft.com/office/drawing/2014/main" id="{94838914-F7C0-5F53-BC0A-819941C8DD90}"/>
              </a:ext>
            </a:extLst>
          </p:cNvPr>
          <p:cNvSpPr/>
          <p:nvPr/>
        </p:nvSpPr>
        <p:spPr>
          <a:xfrm>
            <a:off x="6960870" y="758511"/>
            <a:ext cx="1826514" cy="2788476"/>
          </a:xfrm>
          <a:prstGeom prst="roundRect">
            <a:avLst>
              <a:gd name="adj" fmla="val 3243"/>
            </a:avLst>
          </a:prstGeom>
          <a:solidFill>
            <a:srgbClr val="0A3A43"/>
          </a:solidFill>
          <a:ln w="12700">
            <a:solidFill>
              <a:srgbClr val="0A3A43"/>
            </a:solidFill>
            <a:prstDash val="solid"/>
          </a:ln>
        </p:spPr>
        <p:txBody>
          <a:bodyPr/>
          <a:lstStyle/>
          <a:p>
            <a:endParaRPr lang="en-US" sz="1350"/>
          </a:p>
        </p:txBody>
      </p:sp>
      <p:sp>
        <p:nvSpPr>
          <p:cNvPr id="32" name="Text 29">
            <a:extLst>
              <a:ext uri="{FF2B5EF4-FFF2-40B4-BE49-F238E27FC236}">
                <a16:creationId xmlns:a16="http://schemas.microsoft.com/office/drawing/2014/main" id="{BDE4A5CC-0B83-B110-A829-912A43346706}"/>
              </a:ext>
            </a:extLst>
          </p:cNvPr>
          <p:cNvSpPr/>
          <p:nvPr/>
        </p:nvSpPr>
        <p:spPr>
          <a:xfrm>
            <a:off x="7082102" y="937261"/>
            <a:ext cx="1565910" cy="617220"/>
          </a:xfrm>
          <a:prstGeom prst="rect">
            <a:avLst/>
          </a:prstGeom>
          <a:noFill/>
          <a:ln/>
        </p:spPr>
        <p:txBody>
          <a:bodyPr wrap="square" lIns="0" tIns="0" rIns="0" bIns="0" rtlCol="0" anchor="ctr"/>
          <a:lstStyle/>
          <a:p>
            <a:pPr algn="ctr"/>
            <a:r>
              <a:rPr lang="en-US" b="1">
                <a:solidFill>
                  <a:srgbClr val="FFFFFF"/>
                </a:solidFill>
              </a:rPr>
              <a:t>From metrics</a:t>
            </a:r>
            <a:endParaRPr lang="en-US"/>
          </a:p>
          <a:p>
            <a:pPr algn="ctr"/>
            <a:r>
              <a:rPr lang="en-US" b="1">
                <a:solidFill>
                  <a:srgbClr val="FFFFFF"/>
                </a:solidFill>
              </a:rPr>
              <a:t>To business value!</a:t>
            </a:r>
            <a:endParaRPr lang="en-US"/>
          </a:p>
        </p:txBody>
      </p:sp>
      <p:sp>
        <p:nvSpPr>
          <p:cNvPr id="33" name="Text 30">
            <a:extLst>
              <a:ext uri="{FF2B5EF4-FFF2-40B4-BE49-F238E27FC236}">
                <a16:creationId xmlns:a16="http://schemas.microsoft.com/office/drawing/2014/main" id="{99B62958-38A3-2518-5A61-5DF889DE14B6}"/>
              </a:ext>
            </a:extLst>
          </p:cNvPr>
          <p:cNvSpPr/>
          <p:nvPr/>
        </p:nvSpPr>
        <p:spPr>
          <a:xfrm>
            <a:off x="7121775" y="1733231"/>
            <a:ext cx="1507875" cy="754380"/>
          </a:xfrm>
          <a:prstGeom prst="rect">
            <a:avLst/>
          </a:prstGeom>
          <a:noFill/>
          <a:ln/>
        </p:spPr>
        <p:txBody>
          <a:bodyPr wrap="square" lIns="0" tIns="0" rIns="0" bIns="0" rtlCol="0" anchor="ctr"/>
          <a:lstStyle/>
          <a:p>
            <a:pPr algn="ctr"/>
            <a:r>
              <a:rPr lang="en-US" sz="1200">
                <a:solidFill>
                  <a:srgbClr val="EAF2F3"/>
                </a:solidFill>
              </a:rPr>
              <a:t>Use operational data as evidence for economic value, not as the value itself.</a:t>
            </a:r>
            <a:endParaRPr lang="en-US" sz="1200"/>
          </a:p>
        </p:txBody>
      </p:sp>
      <p:sp>
        <p:nvSpPr>
          <p:cNvPr id="34" name="Text 31">
            <a:extLst>
              <a:ext uri="{FF2B5EF4-FFF2-40B4-BE49-F238E27FC236}">
                <a16:creationId xmlns:a16="http://schemas.microsoft.com/office/drawing/2014/main" id="{E76048E0-D976-4A48-AC2C-BB5089E9E84B}"/>
              </a:ext>
            </a:extLst>
          </p:cNvPr>
          <p:cNvSpPr/>
          <p:nvPr/>
        </p:nvSpPr>
        <p:spPr>
          <a:xfrm>
            <a:off x="7022591" y="2630745"/>
            <a:ext cx="1659635" cy="816102"/>
          </a:xfrm>
          <a:prstGeom prst="rect">
            <a:avLst/>
          </a:prstGeom>
          <a:noFill/>
          <a:ln/>
        </p:spPr>
        <p:txBody>
          <a:bodyPr wrap="square" lIns="0" tIns="0" rIns="0" bIns="0" rtlCol="0" anchor="ctr"/>
          <a:lstStyle/>
          <a:p>
            <a:pPr algn="ctr"/>
            <a:r>
              <a:rPr lang="en-US" sz="1000">
                <a:solidFill>
                  <a:srgbClr val="81C8CC"/>
                </a:solidFill>
              </a:rPr>
              <a:t>Source systems can include Jira, Jira Align, Service Now, Azure DevOps and similar platforms.</a:t>
            </a:r>
            <a:endParaRPr lang="en-US" sz="1000"/>
          </a:p>
        </p:txBody>
      </p:sp>
      <p:sp>
        <p:nvSpPr>
          <p:cNvPr id="37" name="Rectangle 36">
            <a:extLst>
              <a:ext uri="{FF2B5EF4-FFF2-40B4-BE49-F238E27FC236}">
                <a16:creationId xmlns:a16="http://schemas.microsoft.com/office/drawing/2014/main" id="{30C6B2A0-02A9-4F28-830E-B323670E12D4}"/>
              </a:ext>
            </a:extLst>
          </p:cNvPr>
          <p:cNvSpPr/>
          <p:nvPr/>
        </p:nvSpPr>
        <p:spPr>
          <a:xfrm>
            <a:off x="8382000" y="4762500"/>
            <a:ext cx="304800" cy="3810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t"/>
          <a:lstStyle/>
          <a:p>
            <a:pPr algn="ctr"/>
            <a:endParaRPr lang="en-US"/>
          </a:p>
        </p:txBody>
      </p:sp>
      <p:sp>
        <p:nvSpPr>
          <p:cNvPr id="38" name="BP_PageNumber">
            <a:extLst>
              <a:ext uri="{FF2B5EF4-FFF2-40B4-BE49-F238E27FC236}">
                <a16:creationId xmlns:a16="http://schemas.microsoft.com/office/drawing/2014/main" id="{83E6819E-04D6-4A88-AFE4-EAF7B67ED913}"/>
              </a:ext>
            </a:extLst>
          </p:cNvPr>
          <p:cNvSpPr/>
          <p:nvPr/>
        </p:nvSpPr>
        <p:spPr>
          <a:xfrm>
            <a:off x="8686800" y="4838700"/>
            <a:ext cx="457200" cy="3048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wrap="none" rtlCol="0" anchor="ctr" anchorCtr="0">
            <a:noAutofit/>
          </a:bodyPr>
          <a:lstStyle/>
          <a:p>
            <a:pPr algn="ctr"/>
            <a:r>
              <a:rPr lang="en-US" sz="800" b="1">
                <a:solidFill>
                  <a:srgbClr val="FFFFFF"/>
                </a:solidFill>
              </a:rPr>
              <a:t>6</a:t>
            </a:r>
          </a:p>
        </p:txBody>
      </p:sp>
    </p:spTree>
    <p:extLst>
      <p:ext uri="{BB962C8B-B14F-4D97-AF65-F5344CB8AC3E}">
        <p14:creationId xmlns:p14="http://schemas.microsoft.com/office/powerpoint/2010/main" val="3217737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From Flow Metrics to Executive Value - Translating SAFe Delivery Data into Business Outcomes V1(3)/slide-7.png"/>
          <p:cNvPicPr>
            <a:picLocks noChangeAspect="1"/>
          </p:cNvPicPr>
          <p:nvPr/>
        </p:nvPicPr>
        <p:blipFill>
          <a:blip r:embed="rId3"/>
          <a:stretch>
            <a:fillRect/>
          </a:stretch>
        </p:blipFill>
        <p:spPr>
          <a:xfrm>
            <a:off x="1" y="0"/>
            <a:ext cx="9143771" cy="5143500"/>
          </a:xfrm>
          <a:prstGeom prst="rect">
            <a:avLst/>
          </a:prstGeom>
        </p:spPr>
      </p:pic>
      <p:sp>
        <p:nvSpPr>
          <p:cNvPr id="3" name="Shape 0"/>
          <p:cNvSpPr/>
          <p:nvPr/>
        </p:nvSpPr>
        <p:spPr>
          <a:xfrm>
            <a:off x="342900" y="363474"/>
            <a:ext cx="6137910" cy="384048"/>
          </a:xfrm>
          <a:prstGeom prst="rect">
            <a:avLst/>
          </a:prstGeom>
          <a:solidFill>
            <a:srgbClr val="F3F1ED"/>
          </a:solidFill>
          <a:ln w="12700">
            <a:solidFill>
              <a:srgbClr val="F3F1ED"/>
            </a:solidFill>
            <a:prstDash val="solid"/>
          </a:ln>
        </p:spPr>
        <p:txBody>
          <a:bodyPr/>
          <a:lstStyle/>
          <a:p>
            <a:endParaRPr lang="en-US"/>
          </a:p>
        </p:txBody>
      </p:sp>
      <p:sp>
        <p:nvSpPr>
          <p:cNvPr id="4" name="Shape 1"/>
          <p:cNvSpPr/>
          <p:nvPr/>
        </p:nvSpPr>
        <p:spPr>
          <a:xfrm>
            <a:off x="342900" y="768096"/>
            <a:ext cx="6563106" cy="3723894"/>
          </a:xfrm>
          <a:prstGeom prst="rect">
            <a:avLst/>
          </a:prstGeom>
          <a:solidFill>
            <a:srgbClr val="F7F5F1"/>
          </a:solidFill>
          <a:ln w="12700">
            <a:solidFill>
              <a:srgbClr val="F7F5F1"/>
            </a:solidFill>
            <a:prstDash val="solid"/>
          </a:ln>
        </p:spPr>
        <p:txBody>
          <a:bodyPr/>
          <a:lstStyle/>
          <a:p>
            <a:endParaRPr lang="en-US"/>
          </a:p>
        </p:txBody>
      </p:sp>
      <p:sp>
        <p:nvSpPr>
          <p:cNvPr id="5" name="Shape 2"/>
          <p:cNvSpPr/>
          <p:nvPr/>
        </p:nvSpPr>
        <p:spPr>
          <a:xfrm>
            <a:off x="6974586" y="867537"/>
            <a:ext cx="1831086" cy="2928366"/>
          </a:xfrm>
          <a:prstGeom prst="roundRect">
            <a:avLst>
              <a:gd name="adj" fmla="val 2622"/>
            </a:avLst>
          </a:prstGeom>
          <a:solidFill>
            <a:srgbClr val="073E46"/>
          </a:solidFill>
          <a:ln w="12700">
            <a:solidFill>
              <a:srgbClr val="073E46"/>
            </a:solidFill>
            <a:prstDash val="solid"/>
          </a:ln>
        </p:spPr>
        <p:txBody>
          <a:bodyPr/>
          <a:lstStyle/>
          <a:p>
            <a:endParaRPr lang="en-US"/>
          </a:p>
        </p:txBody>
      </p:sp>
      <p:sp>
        <p:nvSpPr>
          <p:cNvPr id="6" name="Text 3"/>
          <p:cNvSpPr/>
          <p:nvPr/>
        </p:nvSpPr>
        <p:spPr>
          <a:xfrm>
            <a:off x="466344" y="411480"/>
            <a:ext cx="5074920" cy="308610"/>
          </a:xfrm>
          <a:prstGeom prst="rect">
            <a:avLst/>
          </a:prstGeom>
          <a:noFill/>
          <a:ln/>
        </p:spPr>
        <p:txBody>
          <a:bodyPr wrap="square" lIns="0" tIns="0" rIns="0" bIns="0" rtlCol="0" anchor="ctr"/>
          <a:lstStyle/>
          <a:p>
            <a:r>
              <a:rPr lang="en-US" sz="2100" b="1">
                <a:solidFill>
                  <a:srgbClr val="11363D"/>
                </a:solidFill>
                <a:latin typeface="Aptos Display" pitchFamily="34" charset="0"/>
                <a:ea typeface="Aptos Display" pitchFamily="34" charset="-122"/>
                <a:cs typeface="Aptos Display" pitchFamily="34" charset="-120"/>
              </a:rPr>
              <a:t>The Value Translation Chain</a:t>
            </a:r>
            <a:endParaRPr lang="en-US" sz="2100"/>
          </a:p>
        </p:txBody>
      </p:sp>
      <p:sp>
        <p:nvSpPr>
          <p:cNvPr id="7" name="Shape 4"/>
          <p:cNvSpPr/>
          <p:nvPr/>
        </p:nvSpPr>
        <p:spPr>
          <a:xfrm>
            <a:off x="466344" y="788670"/>
            <a:ext cx="788670" cy="0"/>
          </a:xfrm>
          <a:prstGeom prst="line">
            <a:avLst/>
          </a:prstGeom>
          <a:noFill/>
          <a:ln w="44450">
            <a:solidFill>
              <a:srgbClr val="6B57C9"/>
            </a:solidFill>
            <a:prstDash val="solid"/>
          </a:ln>
        </p:spPr>
        <p:txBody>
          <a:bodyPr/>
          <a:lstStyle/>
          <a:p>
            <a:endParaRPr lang="en-US"/>
          </a:p>
        </p:txBody>
      </p:sp>
      <p:sp>
        <p:nvSpPr>
          <p:cNvPr id="8" name="Text 5"/>
          <p:cNvSpPr/>
          <p:nvPr/>
        </p:nvSpPr>
        <p:spPr>
          <a:xfrm>
            <a:off x="493776" y="946404"/>
            <a:ext cx="6000750" cy="288036"/>
          </a:xfrm>
          <a:prstGeom prst="rect">
            <a:avLst/>
          </a:prstGeom>
          <a:noFill/>
          <a:ln/>
        </p:spPr>
        <p:txBody>
          <a:bodyPr wrap="square" lIns="0" tIns="0" rIns="0" bIns="0" rtlCol="0" anchor="ctr"/>
          <a:lstStyle/>
          <a:p>
            <a:r>
              <a:rPr lang="en-US" sz="1200">
                <a:solidFill>
                  <a:srgbClr val="68757A"/>
                </a:solidFill>
                <a:latin typeface="Aptos" pitchFamily="34" charset="0"/>
                <a:ea typeface="Aptos" pitchFamily="34" charset="-122"/>
                <a:cs typeface="Aptos" pitchFamily="34" charset="-120"/>
              </a:rPr>
              <a:t>Move from delivery evidence to a business decision — one translation layer at a time.</a:t>
            </a:r>
            <a:endParaRPr lang="en-US" sz="1200"/>
          </a:p>
        </p:txBody>
      </p:sp>
      <p:sp>
        <p:nvSpPr>
          <p:cNvPr id="33" name="Shape 30"/>
          <p:cNvSpPr/>
          <p:nvPr/>
        </p:nvSpPr>
        <p:spPr>
          <a:xfrm>
            <a:off x="493776" y="3600450"/>
            <a:ext cx="6103620" cy="582930"/>
          </a:xfrm>
          <a:prstGeom prst="roundRect">
            <a:avLst>
              <a:gd name="adj" fmla="val 5882"/>
            </a:avLst>
          </a:prstGeom>
          <a:solidFill>
            <a:srgbClr val="E8E6E1"/>
          </a:solidFill>
          <a:ln w="8890">
            <a:solidFill>
              <a:srgbClr val="E0DED8"/>
            </a:solidFill>
            <a:prstDash val="solid"/>
          </a:ln>
        </p:spPr>
        <p:txBody>
          <a:bodyPr/>
          <a:lstStyle/>
          <a:p>
            <a:endParaRPr lang="en-US"/>
          </a:p>
        </p:txBody>
      </p:sp>
      <p:sp>
        <p:nvSpPr>
          <p:cNvPr id="34" name="Text 31"/>
          <p:cNvSpPr/>
          <p:nvPr/>
        </p:nvSpPr>
        <p:spPr>
          <a:xfrm>
            <a:off x="887162" y="3731603"/>
            <a:ext cx="5589270" cy="342901"/>
          </a:xfrm>
          <a:prstGeom prst="rect">
            <a:avLst/>
          </a:prstGeom>
          <a:noFill/>
          <a:ln/>
        </p:spPr>
        <p:txBody>
          <a:bodyPr wrap="square" lIns="0" tIns="0" rIns="0" bIns="0" rtlCol="0" anchor="ctr"/>
          <a:lstStyle/>
          <a:p>
            <a:pPr algn="ctr"/>
            <a:r>
              <a:rPr lang="en-US" sz="1200" b="1">
                <a:solidFill>
                  <a:srgbClr val="11363D"/>
                </a:solidFill>
                <a:latin typeface="Aptos Display" pitchFamily="34" charset="0"/>
                <a:ea typeface="Aptos Display" pitchFamily="34" charset="-122"/>
                <a:cs typeface="Aptos Display" pitchFamily="34" charset="-120"/>
              </a:rPr>
              <a:t>Metrics are evidence.  Economics creates relevance.  Confidence creates credibility.  Decisions create value.</a:t>
            </a:r>
            <a:endParaRPr lang="en-US" sz="1200"/>
          </a:p>
        </p:txBody>
      </p:sp>
      <p:sp>
        <p:nvSpPr>
          <p:cNvPr id="35" name="Text 32"/>
          <p:cNvSpPr/>
          <p:nvPr/>
        </p:nvSpPr>
        <p:spPr>
          <a:xfrm>
            <a:off x="7152894" y="892512"/>
            <a:ext cx="1474470" cy="192024"/>
          </a:xfrm>
          <a:prstGeom prst="rect">
            <a:avLst/>
          </a:prstGeom>
          <a:noFill/>
          <a:ln/>
        </p:spPr>
        <p:txBody>
          <a:bodyPr wrap="square" lIns="0" tIns="0" rIns="0" bIns="0" rtlCol="0" anchor="ctr"/>
          <a:lstStyle/>
          <a:p>
            <a:pPr algn="ctr"/>
            <a:r>
              <a:rPr lang="en-US" sz="1200" b="1" kern="0" spc="105">
                <a:solidFill>
                  <a:srgbClr val="86C7CD"/>
                </a:solidFill>
                <a:latin typeface="Aptos" pitchFamily="34" charset="0"/>
                <a:ea typeface="Aptos" pitchFamily="34" charset="-122"/>
                <a:cs typeface="Aptos" pitchFamily="34" charset="-120"/>
              </a:rPr>
              <a:t>THE POINT</a:t>
            </a:r>
            <a:endParaRPr lang="en-US" sz="1200"/>
          </a:p>
        </p:txBody>
      </p:sp>
      <p:sp>
        <p:nvSpPr>
          <p:cNvPr id="36" name="Text 33"/>
          <p:cNvSpPr/>
          <p:nvPr/>
        </p:nvSpPr>
        <p:spPr>
          <a:xfrm>
            <a:off x="7118604" y="1187406"/>
            <a:ext cx="1556766" cy="822960"/>
          </a:xfrm>
          <a:prstGeom prst="rect">
            <a:avLst/>
          </a:prstGeom>
          <a:noFill/>
          <a:ln/>
        </p:spPr>
        <p:txBody>
          <a:bodyPr wrap="square" lIns="0" tIns="0" rIns="0" bIns="0" rtlCol="0" anchor="ctr"/>
          <a:lstStyle/>
          <a:p>
            <a:pPr algn="ctr"/>
            <a:r>
              <a:rPr lang="en-US" sz="1725" b="1">
                <a:solidFill>
                  <a:srgbClr val="FFFFFF"/>
                </a:solidFill>
                <a:latin typeface="Aptos Display" pitchFamily="34" charset="0"/>
                <a:ea typeface="Aptos Display" pitchFamily="34" charset="-122"/>
                <a:cs typeface="Aptos Display" pitchFamily="34" charset="-120"/>
              </a:rPr>
              <a:t>Do not</a:t>
            </a:r>
            <a:endParaRPr lang="en-US" sz="1725"/>
          </a:p>
          <a:p>
            <a:pPr algn="ctr"/>
            <a:r>
              <a:rPr lang="en-US" sz="1725" b="1">
                <a:solidFill>
                  <a:srgbClr val="FFFFFF"/>
                </a:solidFill>
                <a:latin typeface="Aptos Display" pitchFamily="34" charset="0"/>
                <a:ea typeface="Aptos Display" pitchFamily="34" charset="-122"/>
                <a:cs typeface="Aptos Display" pitchFamily="34" charset="-120"/>
              </a:rPr>
              <a:t>monetize</a:t>
            </a:r>
            <a:endParaRPr lang="en-US" sz="1725"/>
          </a:p>
          <a:p>
            <a:pPr algn="ctr"/>
            <a:r>
              <a:rPr lang="en-US" sz="1725" b="1">
                <a:solidFill>
                  <a:srgbClr val="FFFFFF"/>
                </a:solidFill>
                <a:latin typeface="Aptos Display" pitchFamily="34" charset="0"/>
                <a:ea typeface="Aptos Display" pitchFamily="34" charset="-122"/>
                <a:cs typeface="Aptos Display" pitchFamily="34" charset="-120"/>
              </a:rPr>
              <a:t>every metric.</a:t>
            </a:r>
            <a:endParaRPr lang="en-US" sz="1725"/>
          </a:p>
        </p:txBody>
      </p:sp>
      <p:sp>
        <p:nvSpPr>
          <p:cNvPr id="37" name="Text 34"/>
          <p:cNvSpPr/>
          <p:nvPr/>
        </p:nvSpPr>
        <p:spPr>
          <a:xfrm>
            <a:off x="7152894" y="2174958"/>
            <a:ext cx="1474470" cy="754380"/>
          </a:xfrm>
          <a:prstGeom prst="rect">
            <a:avLst/>
          </a:prstGeom>
          <a:noFill/>
          <a:ln/>
        </p:spPr>
        <p:txBody>
          <a:bodyPr wrap="square" lIns="191" tIns="191" rIns="191" bIns="191" rtlCol="0" anchor="ctr"/>
          <a:lstStyle/>
          <a:p>
            <a:pPr algn="ctr"/>
            <a:r>
              <a:rPr lang="en-US" sz="1100">
                <a:solidFill>
                  <a:srgbClr val="FFFFFF"/>
                </a:solidFill>
                <a:latin typeface="Aptos" pitchFamily="34" charset="0"/>
                <a:ea typeface="Aptos" pitchFamily="34" charset="-122"/>
                <a:cs typeface="Aptos" pitchFamily="34" charset="-120"/>
              </a:rPr>
              <a:t>Use operational data as evidence for economic value, not as the value itself.</a:t>
            </a:r>
            <a:endParaRPr lang="en-US" sz="1100"/>
          </a:p>
        </p:txBody>
      </p:sp>
      <p:sp>
        <p:nvSpPr>
          <p:cNvPr id="38" name="Text 35"/>
          <p:cNvSpPr/>
          <p:nvPr/>
        </p:nvSpPr>
        <p:spPr>
          <a:xfrm>
            <a:off x="7146036" y="2998925"/>
            <a:ext cx="1488186" cy="677935"/>
          </a:xfrm>
          <a:prstGeom prst="rect">
            <a:avLst/>
          </a:prstGeom>
          <a:noFill/>
          <a:ln/>
        </p:spPr>
        <p:txBody>
          <a:bodyPr wrap="square" lIns="0" tIns="0" rIns="0" bIns="0" rtlCol="0" anchor="ctr"/>
          <a:lstStyle/>
          <a:p>
            <a:pPr algn="ctr"/>
            <a:r>
              <a:rPr lang="en-US" sz="1000">
                <a:solidFill>
                  <a:srgbClr val="8BC8CE"/>
                </a:solidFill>
                <a:latin typeface="Aptos" pitchFamily="34" charset="0"/>
                <a:ea typeface="Aptos" pitchFamily="34" charset="-122"/>
                <a:cs typeface="Aptos" pitchFamily="34" charset="-120"/>
              </a:rPr>
              <a:t>The model creates a defensible estimate from evidence, assumptions and attribution.</a:t>
            </a:r>
            <a:endParaRPr lang="en-US" sz="1000"/>
          </a:p>
        </p:txBody>
      </p:sp>
      <p:grpSp>
        <p:nvGrpSpPr>
          <p:cNvPr id="48" name="Group 47">
            <a:extLst>
              <a:ext uri="{FF2B5EF4-FFF2-40B4-BE49-F238E27FC236}">
                <a16:creationId xmlns:a16="http://schemas.microsoft.com/office/drawing/2014/main" id="{F41A19F3-C2CF-A400-DFFE-19281417A804}"/>
              </a:ext>
            </a:extLst>
          </p:cNvPr>
          <p:cNvGrpSpPr/>
          <p:nvPr/>
        </p:nvGrpSpPr>
        <p:grpSpPr>
          <a:xfrm>
            <a:off x="480060" y="1385316"/>
            <a:ext cx="1124712" cy="2140548"/>
            <a:chOff x="480060" y="1385316"/>
            <a:chExt cx="1124712" cy="2140548"/>
          </a:xfrm>
        </p:grpSpPr>
        <p:sp>
          <p:nvSpPr>
            <p:cNvPr id="9" name="Shape 6"/>
            <p:cNvSpPr/>
            <p:nvPr/>
          </p:nvSpPr>
          <p:spPr>
            <a:xfrm>
              <a:off x="480060" y="1385316"/>
              <a:ext cx="1124712" cy="2140548"/>
            </a:xfrm>
            <a:prstGeom prst="roundRect">
              <a:avLst>
                <a:gd name="adj" fmla="val 3659"/>
              </a:avLst>
            </a:prstGeom>
            <a:solidFill>
              <a:srgbClr val="FFFFFF"/>
            </a:solidFill>
            <a:ln w="13970">
              <a:solidFill>
                <a:srgbClr val="D4D3CE"/>
              </a:solidFill>
              <a:prstDash val="solid"/>
            </a:ln>
            <a:effectLst>
              <a:outerShdw blurRad="12700" dist="6350" dir="2700000" algn="bl" rotWithShape="0">
                <a:srgbClr val="000000">
                  <a:alpha val="12000"/>
                </a:srgbClr>
              </a:outerShdw>
            </a:effectLst>
          </p:spPr>
          <p:txBody>
            <a:bodyPr/>
            <a:lstStyle/>
            <a:p>
              <a:endParaRPr lang="en-US"/>
            </a:p>
          </p:txBody>
        </p:sp>
        <p:grpSp>
          <p:nvGrpSpPr>
            <p:cNvPr id="10" name="Group 9">
              <a:extLst>
                <a:ext uri="{FF2B5EF4-FFF2-40B4-BE49-F238E27FC236}">
                  <a16:creationId xmlns:a16="http://schemas.microsoft.com/office/drawing/2014/main" id="{19832481-E11D-97BB-C431-1CDEA499D44B}"/>
                </a:ext>
              </a:extLst>
            </p:cNvPr>
            <p:cNvGrpSpPr/>
            <p:nvPr/>
          </p:nvGrpSpPr>
          <p:grpSpPr>
            <a:xfrm>
              <a:off x="566000" y="1460754"/>
              <a:ext cx="963334" cy="1508760"/>
              <a:chOff x="566000" y="1460754"/>
              <a:chExt cx="963334" cy="1508760"/>
            </a:xfrm>
          </p:grpSpPr>
          <p:sp>
            <p:nvSpPr>
              <p:cNvPr id="11" name="Text 8"/>
              <p:cNvSpPr/>
              <p:nvPr/>
            </p:nvSpPr>
            <p:spPr>
              <a:xfrm>
                <a:off x="864108" y="1460754"/>
                <a:ext cx="665226" cy="377190"/>
              </a:xfrm>
              <a:prstGeom prst="rect">
                <a:avLst/>
              </a:prstGeom>
              <a:noFill/>
              <a:ln/>
            </p:spPr>
            <p:txBody>
              <a:bodyPr wrap="square" lIns="0" tIns="0" rIns="0" bIns="0" rtlCol="0" anchor="ctr">
                <a:normAutofit/>
              </a:bodyPr>
              <a:lstStyle/>
              <a:p>
                <a:r>
                  <a:rPr lang="en-US" sz="1100" b="1">
                    <a:solidFill>
                      <a:srgbClr val="11363D"/>
                    </a:solidFill>
                    <a:latin typeface="Aptos Display" pitchFamily="34" charset="0"/>
                    <a:ea typeface="Aptos Display" pitchFamily="34" charset="-122"/>
                    <a:cs typeface="Aptos Display" pitchFamily="34" charset="-120"/>
                  </a:rPr>
                  <a:t>Flow Metrics</a:t>
                </a:r>
                <a:endParaRPr lang="en-US" sz="1100"/>
              </a:p>
            </p:txBody>
          </p:sp>
          <p:sp>
            <p:nvSpPr>
              <p:cNvPr id="12" name="Text 9"/>
              <p:cNvSpPr/>
              <p:nvPr/>
            </p:nvSpPr>
            <p:spPr>
              <a:xfrm>
                <a:off x="582930" y="1954530"/>
                <a:ext cx="918972" cy="1014984"/>
              </a:xfrm>
              <a:prstGeom prst="rect">
                <a:avLst/>
              </a:prstGeom>
              <a:noFill/>
              <a:ln/>
            </p:spPr>
            <p:txBody>
              <a:bodyPr wrap="square" lIns="191" tIns="191" rIns="191" bIns="191" rtlCol="0" anchor="ctr">
                <a:noAutofit/>
              </a:bodyPr>
              <a:lstStyle/>
              <a:p>
                <a:r>
                  <a:rPr lang="en-US" sz="1000">
                    <a:solidFill>
                      <a:srgbClr val="5D6A6F"/>
                    </a:solidFill>
                    <a:ea typeface="Aptos" pitchFamily="34" charset="-122"/>
                    <a:cs typeface="Aptos" pitchFamily="34" charset="-120"/>
                  </a:rPr>
                  <a:t>What changed in delivery?</a:t>
                </a:r>
                <a:endParaRPr lang="en-US" sz="1000"/>
              </a:p>
              <a:p>
                <a:r>
                  <a:rPr lang="en-US" sz="1000">
                    <a:solidFill>
                      <a:srgbClr val="5D6A6F"/>
                    </a:solidFill>
                    <a:ea typeface="Aptos" pitchFamily="34" charset="-122"/>
                    <a:cs typeface="Aptos" pitchFamily="34" charset="-120"/>
                  </a:rPr>
                  <a:t>Velocity • Flow Time • Efficiency • Quality • Predictability</a:t>
                </a:r>
                <a:endParaRPr lang="en-US" sz="1000"/>
              </a:p>
            </p:txBody>
          </p:sp>
          <p:sp>
            <p:nvSpPr>
              <p:cNvPr id="39" name="Rectangle 38">
                <a:extLst>
                  <a:ext uri="{FF2B5EF4-FFF2-40B4-BE49-F238E27FC236}">
                    <a16:creationId xmlns:a16="http://schemas.microsoft.com/office/drawing/2014/main" id="{818A0F69-E329-37C9-1AED-945319C35586}"/>
                  </a:ext>
                </a:extLst>
              </p:cNvPr>
              <p:cNvSpPr/>
              <p:nvPr/>
            </p:nvSpPr>
            <p:spPr>
              <a:xfrm>
                <a:off x="566000" y="1487650"/>
                <a:ext cx="232087" cy="342894"/>
              </a:xfrm>
              <a:prstGeom prst="rect">
                <a:avLst/>
              </a:prstGeom>
              <a:solidFill>
                <a:schemeClr val="tx1">
                  <a:lumMod val="90000"/>
                  <a:lumOff val="1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solidFill>
                      <a:schemeClr val="bg1"/>
                    </a:solidFill>
                  </a:rPr>
                  <a:t>1</a:t>
                </a:r>
              </a:p>
            </p:txBody>
          </p:sp>
        </p:grpSp>
      </p:grpSp>
      <p:grpSp>
        <p:nvGrpSpPr>
          <p:cNvPr id="54" name="Group 53">
            <a:extLst>
              <a:ext uri="{FF2B5EF4-FFF2-40B4-BE49-F238E27FC236}">
                <a16:creationId xmlns:a16="http://schemas.microsoft.com/office/drawing/2014/main" id="{E6D2F7BB-7127-7D87-1108-7014DF39279E}"/>
              </a:ext>
            </a:extLst>
          </p:cNvPr>
          <p:cNvGrpSpPr/>
          <p:nvPr/>
        </p:nvGrpSpPr>
        <p:grpSpPr>
          <a:xfrm>
            <a:off x="1632204" y="1385316"/>
            <a:ext cx="1220724" cy="2140548"/>
            <a:chOff x="1632204" y="1385316"/>
            <a:chExt cx="1220724" cy="2140548"/>
          </a:xfrm>
        </p:grpSpPr>
        <p:sp>
          <p:nvSpPr>
            <p:cNvPr id="13" name="Shape 10"/>
            <p:cNvSpPr/>
            <p:nvPr/>
          </p:nvSpPr>
          <p:spPr>
            <a:xfrm>
              <a:off x="1632204" y="2139696"/>
              <a:ext cx="96012" cy="192024"/>
            </a:xfrm>
            <a:prstGeom prst="chevron">
              <a:avLst/>
            </a:prstGeom>
            <a:solidFill>
              <a:srgbClr val="B2B7B8"/>
            </a:solidFill>
            <a:ln w="12700">
              <a:solidFill>
                <a:srgbClr val="B2B7B8"/>
              </a:solidFill>
              <a:prstDash val="solid"/>
            </a:ln>
          </p:spPr>
          <p:txBody>
            <a:bodyPr/>
            <a:lstStyle/>
            <a:p>
              <a:endParaRPr lang="en-US"/>
            </a:p>
          </p:txBody>
        </p:sp>
        <p:grpSp>
          <p:nvGrpSpPr>
            <p:cNvPr id="49" name="Group 48">
              <a:extLst>
                <a:ext uri="{FF2B5EF4-FFF2-40B4-BE49-F238E27FC236}">
                  <a16:creationId xmlns:a16="http://schemas.microsoft.com/office/drawing/2014/main" id="{53BC44B4-02FE-4C27-46F4-8715B26C3673}"/>
                </a:ext>
              </a:extLst>
            </p:cNvPr>
            <p:cNvGrpSpPr/>
            <p:nvPr/>
          </p:nvGrpSpPr>
          <p:grpSpPr>
            <a:xfrm>
              <a:off x="1728216" y="1385316"/>
              <a:ext cx="1124712" cy="2140548"/>
              <a:chOff x="1728216" y="1385316"/>
              <a:chExt cx="1124712" cy="2140548"/>
            </a:xfrm>
          </p:grpSpPr>
          <p:sp>
            <p:nvSpPr>
              <p:cNvPr id="14" name="Shape 11"/>
              <p:cNvSpPr/>
              <p:nvPr/>
            </p:nvSpPr>
            <p:spPr>
              <a:xfrm>
                <a:off x="1728216" y="1385316"/>
                <a:ext cx="1124712" cy="2140548"/>
              </a:xfrm>
              <a:prstGeom prst="roundRect">
                <a:avLst>
                  <a:gd name="adj" fmla="val 3659"/>
                </a:avLst>
              </a:prstGeom>
              <a:solidFill>
                <a:srgbClr val="FFFFFF"/>
              </a:solidFill>
              <a:ln w="13970">
                <a:solidFill>
                  <a:srgbClr val="D4D3CE"/>
                </a:solidFill>
                <a:prstDash val="solid"/>
              </a:ln>
              <a:effectLst>
                <a:outerShdw blurRad="12700" dist="6350" dir="2700000" algn="bl" rotWithShape="0">
                  <a:srgbClr val="000000">
                    <a:alpha val="12000"/>
                  </a:srgbClr>
                </a:outerShdw>
              </a:effectLst>
            </p:spPr>
            <p:txBody>
              <a:bodyPr/>
              <a:lstStyle/>
              <a:p>
                <a:endParaRPr lang="en-US"/>
              </a:p>
            </p:txBody>
          </p:sp>
          <p:grpSp>
            <p:nvGrpSpPr>
              <p:cNvPr id="15" name="Group 14">
                <a:extLst>
                  <a:ext uri="{FF2B5EF4-FFF2-40B4-BE49-F238E27FC236}">
                    <a16:creationId xmlns:a16="http://schemas.microsoft.com/office/drawing/2014/main" id="{FBD0EBAF-9D04-5128-3C64-BD5E2A615817}"/>
                  </a:ext>
                </a:extLst>
              </p:cNvPr>
              <p:cNvGrpSpPr/>
              <p:nvPr/>
            </p:nvGrpSpPr>
            <p:grpSpPr>
              <a:xfrm>
                <a:off x="1803821" y="1460754"/>
                <a:ext cx="1011253" cy="1508760"/>
                <a:chOff x="1803821" y="1460754"/>
                <a:chExt cx="1011253" cy="1508760"/>
              </a:xfrm>
            </p:grpSpPr>
            <p:sp>
              <p:nvSpPr>
                <p:cNvPr id="16" name="Text 13"/>
                <p:cNvSpPr/>
                <p:nvPr/>
              </p:nvSpPr>
              <p:spPr>
                <a:xfrm>
                  <a:off x="2081268" y="1460754"/>
                  <a:ext cx="733806" cy="377190"/>
                </a:xfrm>
                <a:prstGeom prst="rect">
                  <a:avLst/>
                </a:prstGeom>
                <a:noFill/>
                <a:ln/>
              </p:spPr>
              <p:txBody>
                <a:bodyPr wrap="square" lIns="0" tIns="0" rIns="0" bIns="0" rtlCol="0" anchor="ctr">
                  <a:noAutofit/>
                </a:bodyPr>
                <a:lstStyle/>
                <a:p>
                  <a:r>
                    <a:rPr lang="en-US" sz="1100" b="1">
                      <a:solidFill>
                        <a:srgbClr val="11363D"/>
                      </a:solidFill>
                      <a:latin typeface="Aptos Display" pitchFamily="34" charset="0"/>
                      <a:ea typeface="Aptos Display" pitchFamily="34" charset="-122"/>
                      <a:cs typeface="Aptos Display" pitchFamily="34" charset="-120"/>
                    </a:rPr>
                    <a:t>Operational Change</a:t>
                  </a:r>
                  <a:endParaRPr lang="en-US" sz="1100"/>
                </a:p>
              </p:txBody>
            </p:sp>
            <p:sp>
              <p:nvSpPr>
                <p:cNvPr id="17" name="Text 14"/>
                <p:cNvSpPr/>
                <p:nvPr/>
              </p:nvSpPr>
              <p:spPr>
                <a:xfrm>
                  <a:off x="1831086" y="1954530"/>
                  <a:ext cx="918972" cy="1014984"/>
                </a:xfrm>
                <a:prstGeom prst="rect">
                  <a:avLst/>
                </a:prstGeom>
                <a:noFill/>
                <a:ln/>
              </p:spPr>
              <p:txBody>
                <a:bodyPr wrap="square" lIns="191" tIns="191" rIns="191" bIns="191" rtlCol="0" anchor="ctr">
                  <a:noAutofit/>
                </a:bodyPr>
                <a:lstStyle/>
                <a:p>
                  <a:r>
                    <a:rPr lang="en-US" sz="1000">
                      <a:solidFill>
                        <a:srgbClr val="5D6A6F"/>
                      </a:solidFill>
                      <a:ea typeface="Aptos" pitchFamily="34" charset="-122"/>
                      <a:cs typeface="Aptos" pitchFamily="34" charset="-120"/>
                    </a:rPr>
                    <a:t>What did the change enable?</a:t>
                  </a:r>
                  <a:endParaRPr lang="en-US" sz="1000"/>
                </a:p>
                <a:p>
                  <a:r>
                    <a:rPr lang="en-US" sz="1000">
                      <a:solidFill>
                        <a:srgbClr val="5D6A6F"/>
                      </a:solidFill>
                      <a:ea typeface="Aptos" pitchFamily="34" charset="-122"/>
                      <a:cs typeface="Aptos" pitchFamily="34" charset="-120"/>
                    </a:rPr>
                    <a:t>Faster delivery • Less blocking • Less rework • More usable capacity</a:t>
                  </a:r>
                  <a:endParaRPr lang="en-US" sz="1000"/>
                </a:p>
              </p:txBody>
            </p:sp>
            <p:sp>
              <p:nvSpPr>
                <p:cNvPr id="40" name="Rectangle 39">
                  <a:extLst>
                    <a:ext uri="{FF2B5EF4-FFF2-40B4-BE49-F238E27FC236}">
                      <a16:creationId xmlns:a16="http://schemas.microsoft.com/office/drawing/2014/main" id="{92F2A969-E334-C556-4CE9-6E6D78B83E90}"/>
                    </a:ext>
                  </a:extLst>
                </p:cNvPr>
                <p:cNvSpPr/>
                <p:nvPr/>
              </p:nvSpPr>
              <p:spPr>
                <a:xfrm>
                  <a:off x="1803821" y="1487650"/>
                  <a:ext cx="232087" cy="342894"/>
                </a:xfrm>
                <a:prstGeom prst="rect">
                  <a:avLst/>
                </a:prstGeom>
                <a:solidFill>
                  <a:schemeClr val="bg2">
                    <a:lumMod val="5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solidFill>
                        <a:schemeClr val="bg1"/>
                      </a:solidFill>
                    </a:rPr>
                    <a:t>2</a:t>
                  </a:r>
                </a:p>
              </p:txBody>
            </p:sp>
          </p:grpSp>
        </p:grpSp>
      </p:grpSp>
      <p:grpSp>
        <p:nvGrpSpPr>
          <p:cNvPr id="55" name="Group 54">
            <a:extLst>
              <a:ext uri="{FF2B5EF4-FFF2-40B4-BE49-F238E27FC236}">
                <a16:creationId xmlns:a16="http://schemas.microsoft.com/office/drawing/2014/main" id="{E0BC9F77-D13C-5B89-E849-53D2D269D700}"/>
              </a:ext>
            </a:extLst>
          </p:cNvPr>
          <p:cNvGrpSpPr/>
          <p:nvPr/>
        </p:nvGrpSpPr>
        <p:grpSpPr>
          <a:xfrm>
            <a:off x="2880360" y="1385316"/>
            <a:ext cx="1220724" cy="2140548"/>
            <a:chOff x="2880360" y="1385316"/>
            <a:chExt cx="1220724" cy="2140548"/>
          </a:xfrm>
        </p:grpSpPr>
        <p:sp>
          <p:nvSpPr>
            <p:cNvPr id="18" name="Shape 15"/>
            <p:cNvSpPr/>
            <p:nvPr/>
          </p:nvSpPr>
          <p:spPr>
            <a:xfrm>
              <a:off x="2880360" y="2139696"/>
              <a:ext cx="96012" cy="192024"/>
            </a:xfrm>
            <a:prstGeom prst="chevron">
              <a:avLst/>
            </a:prstGeom>
            <a:solidFill>
              <a:srgbClr val="B2B7B8"/>
            </a:solidFill>
            <a:ln w="12700">
              <a:solidFill>
                <a:srgbClr val="B2B7B8"/>
              </a:solidFill>
              <a:prstDash val="solid"/>
            </a:ln>
          </p:spPr>
          <p:txBody>
            <a:bodyPr/>
            <a:lstStyle/>
            <a:p>
              <a:endParaRPr lang="en-US"/>
            </a:p>
          </p:txBody>
        </p:sp>
        <p:grpSp>
          <p:nvGrpSpPr>
            <p:cNvPr id="50" name="Group 49">
              <a:extLst>
                <a:ext uri="{FF2B5EF4-FFF2-40B4-BE49-F238E27FC236}">
                  <a16:creationId xmlns:a16="http://schemas.microsoft.com/office/drawing/2014/main" id="{4E066396-D41C-2C87-B10B-C9CBDAFB629B}"/>
                </a:ext>
              </a:extLst>
            </p:cNvPr>
            <p:cNvGrpSpPr/>
            <p:nvPr/>
          </p:nvGrpSpPr>
          <p:grpSpPr>
            <a:xfrm>
              <a:off x="2976372" y="1385316"/>
              <a:ext cx="1124712" cy="2140548"/>
              <a:chOff x="2976372" y="1385316"/>
              <a:chExt cx="1124712" cy="2140548"/>
            </a:xfrm>
          </p:grpSpPr>
          <p:sp>
            <p:nvSpPr>
              <p:cNvPr id="19" name="Shape 16"/>
              <p:cNvSpPr/>
              <p:nvPr/>
            </p:nvSpPr>
            <p:spPr>
              <a:xfrm>
                <a:off x="2976372" y="1385316"/>
                <a:ext cx="1124712" cy="2140548"/>
              </a:xfrm>
              <a:prstGeom prst="roundRect">
                <a:avLst>
                  <a:gd name="adj" fmla="val 3659"/>
                </a:avLst>
              </a:prstGeom>
              <a:solidFill>
                <a:srgbClr val="FFFFFF"/>
              </a:solidFill>
              <a:ln w="13970">
                <a:solidFill>
                  <a:srgbClr val="D4D3CE"/>
                </a:solidFill>
                <a:prstDash val="solid"/>
              </a:ln>
              <a:effectLst>
                <a:outerShdw blurRad="12700" dist="6350" dir="2700000" algn="bl" rotWithShape="0">
                  <a:srgbClr val="000000">
                    <a:alpha val="12000"/>
                  </a:srgbClr>
                </a:outerShdw>
              </a:effectLst>
            </p:spPr>
            <p:txBody>
              <a:bodyPr/>
              <a:lstStyle/>
              <a:p>
                <a:endParaRPr lang="en-US"/>
              </a:p>
            </p:txBody>
          </p:sp>
          <p:grpSp>
            <p:nvGrpSpPr>
              <p:cNvPr id="20" name="Group 19">
                <a:extLst>
                  <a:ext uri="{FF2B5EF4-FFF2-40B4-BE49-F238E27FC236}">
                    <a16:creationId xmlns:a16="http://schemas.microsoft.com/office/drawing/2014/main" id="{3896D018-0806-D506-6403-DD46583CBBF0}"/>
                  </a:ext>
                </a:extLst>
              </p:cNvPr>
              <p:cNvGrpSpPr/>
              <p:nvPr/>
            </p:nvGrpSpPr>
            <p:grpSpPr>
              <a:xfrm>
                <a:off x="3052895" y="1460754"/>
                <a:ext cx="972751" cy="1508760"/>
                <a:chOff x="3052895" y="1460754"/>
                <a:chExt cx="972751" cy="1508760"/>
              </a:xfrm>
            </p:grpSpPr>
            <p:sp>
              <p:nvSpPr>
                <p:cNvPr id="21" name="Text 18"/>
                <p:cNvSpPr/>
                <p:nvPr/>
              </p:nvSpPr>
              <p:spPr>
                <a:xfrm>
                  <a:off x="3360420" y="1460754"/>
                  <a:ext cx="665226" cy="377190"/>
                </a:xfrm>
                <a:prstGeom prst="rect">
                  <a:avLst/>
                </a:prstGeom>
                <a:noFill/>
                <a:ln/>
              </p:spPr>
              <p:txBody>
                <a:bodyPr wrap="square" lIns="0" tIns="0" rIns="0" bIns="0" rtlCol="0" anchor="ctr">
                  <a:noAutofit/>
                </a:bodyPr>
                <a:lstStyle/>
                <a:p>
                  <a:r>
                    <a:rPr lang="en-US" sz="1100" b="1">
                      <a:solidFill>
                        <a:srgbClr val="11363D"/>
                      </a:solidFill>
                      <a:latin typeface="Aptos Display" pitchFamily="34" charset="0"/>
                      <a:ea typeface="Aptos Display" pitchFamily="34" charset="-122"/>
                      <a:cs typeface="Aptos Display" pitchFamily="34" charset="-120"/>
                    </a:rPr>
                    <a:t>Business Effect</a:t>
                  </a:r>
                  <a:endParaRPr lang="en-US" sz="1100"/>
                </a:p>
              </p:txBody>
            </p:sp>
            <p:sp>
              <p:nvSpPr>
                <p:cNvPr id="22" name="Text 19"/>
                <p:cNvSpPr/>
                <p:nvPr/>
              </p:nvSpPr>
              <p:spPr>
                <a:xfrm>
                  <a:off x="3079242" y="1954530"/>
                  <a:ext cx="918972" cy="1014984"/>
                </a:xfrm>
                <a:prstGeom prst="rect">
                  <a:avLst/>
                </a:prstGeom>
                <a:noFill/>
                <a:ln/>
              </p:spPr>
              <p:txBody>
                <a:bodyPr wrap="square" lIns="191" tIns="191" rIns="191" bIns="191" rtlCol="0" anchor="ctr">
                  <a:noAutofit/>
                </a:bodyPr>
                <a:lstStyle/>
                <a:p>
                  <a:r>
                    <a:rPr lang="en-US" sz="1000">
                      <a:solidFill>
                        <a:srgbClr val="5D6A6F"/>
                      </a:solidFill>
                      <a:ea typeface="Aptos" pitchFamily="34" charset="-122"/>
                      <a:cs typeface="Aptos" pitchFamily="34" charset="-120"/>
                    </a:rPr>
                    <a:t>Why does that matter to the business?</a:t>
                  </a:r>
                  <a:endParaRPr lang="en-US" sz="1000"/>
                </a:p>
                <a:p>
                  <a:r>
                    <a:rPr lang="en-US" sz="1000">
                      <a:solidFill>
                        <a:srgbClr val="5D6A6F"/>
                      </a:solidFill>
                      <a:ea typeface="Aptos" pitchFamily="34" charset="-122"/>
                      <a:cs typeface="Aptos" pitchFamily="34" charset="-120"/>
                    </a:rPr>
                    <a:t>Earlier value • Capacity • Cost avoidance • Lower risk</a:t>
                  </a:r>
                  <a:endParaRPr lang="en-US" sz="1000"/>
                </a:p>
              </p:txBody>
            </p:sp>
            <p:sp>
              <p:nvSpPr>
                <p:cNvPr id="41" name="Rectangle 40">
                  <a:extLst>
                    <a:ext uri="{FF2B5EF4-FFF2-40B4-BE49-F238E27FC236}">
                      <a16:creationId xmlns:a16="http://schemas.microsoft.com/office/drawing/2014/main" id="{5B86B400-4AB9-F051-88B9-A7F369800C79}"/>
                    </a:ext>
                  </a:extLst>
                </p:cNvPr>
                <p:cNvSpPr/>
                <p:nvPr/>
              </p:nvSpPr>
              <p:spPr>
                <a:xfrm>
                  <a:off x="3052895" y="1487650"/>
                  <a:ext cx="232087" cy="342894"/>
                </a:xfrm>
                <a:prstGeom prst="rect">
                  <a:avLst/>
                </a:prstGeom>
                <a:solidFill>
                  <a:schemeClr val="accent1"/>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solidFill>
                        <a:schemeClr val="bg1"/>
                      </a:solidFill>
                    </a:rPr>
                    <a:t>3</a:t>
                  </a:r>
                </a:p>
              </p:txBody>
            </p:sp>
          </p:grpSp>
        </p:grpSp>
      </p:grpSp>
      <p:grpSp>
        <p:nvGrpSpPr>
          <p:cNvPr id="56" name="Group 55">
            <a:extLst>
              <a:ext uri="{FF2B5EF4-FFF2-40B4-BE49-F238E27FC236}">
                <a16:creationId xmlns:a16="http://schemas.microsoft.com/office/drawing/2014/main" id="{2DC58072-F75A-20A8-6A54-AD32F74E7DB3}"/>
              </a:ext>
            </a:extLst>
          </p:cNvPr>
          <p:cNvGrpSpPr/>
          <p:nvPr/>
        </p:nvGrpSpPr>
        <p:grpSpPr>
          <a:xfrm>
            <a:off x="4128516" y="1385316"/>
            <a:ext cx="1220724" cy="2140548"/>
            <a:chOff x="4128516" y="1385316"/>
            <a:chExt cx="1220724" cy="2140548"/>
          </a:xfrm>
        </p:grpSpPr>
        <p:sp>
          <p:nvSpPr>
            <p:cNvPr id="23" name="Shape 20"/>
            <p:cNvSpPr/>
            <p:nvPr/>
          </p:nvSpPr>
          <p:spPr>
            <a:xfrm>
              <a:off x="4128516" y="2139696"/>
              <a:ext cx="96012" cy="192024"/>
            </a:xfrm>
            <a:prstGeom prst="chevron">
              <a:avLst/>
            </a:prstGeom>
            <a:solidFill>
              <a:srgbClr val="B2B7B8"/>
            </a:solidFill>
            <a:ln w="12700">
              <a:solidFill>
                <a:srgbClr val="B2B7B8"/>
              </a:solidFill>
              <a:prstDash val="solid"/>
            </a:ln>
          </p:spPr>
          <p:txBody>
            <a:bodyPr/>
            <a:lstStyle/>
            <a:p>
              <a:endParaRPr lang="en-US"/>
            </a:p>
          </p:txBody>
        </p:sp>
        <p:grpSp>
          <p:nvGrpSpPr>
            <p:cNvPr id="51" name="Group 50">
              <a:extLst>
                <a:ext uri="{FF2B5EF4-FFF2-40B4-BE49-F238E27FC236}">
                  <a16:creationId xmlns:a16="http://schemas.microsoft.com/office/drawing/2014/main" id="{B5B159C5-BA7F-0F72-B26A-B549040AF8D0}"/>
                </a:ext>
              </a:extLst>
            </p:cNvPr>
            <p:cNvGrpSpPr/>
            <p:nvPr/>
          </p:nvGrpSpPr>
          <p:grpSpPr>
            <a:xfrm>
              <a:off x="4224528" y="1385316"/>
              <a:ext cx="1124712" cy="2140548"/>
              <a:chOff x="4224528" y="1385316"/>
              <a:chExt cx="1124712" cy="2140548"/>
            </a:xfrm>
          </p:grpSpPr>
          <p:sp>
            <p:nvSpPr>
              <p:cNvPr id="24" name="Shape 21"/>
              <p:cNvSpPr/>
              <p:nvPr/>
            </p:nvSpPr>
            <p:spPr>
              <a:xfrm>
                <a:off x="4224528" y="1385316"/>
                <a:ext cx="1124712" cy="2140548"/>
              </a:xfrm>
              <a:prstGeom prst="roundRect">
                <a:avLst>
                  <a:gd name="adj" fmla="val 3659"/>
                </a:avLst>
              </a:prstGeom>
              <a:solidFill>
                <a:srgbClr val="FFFFFF"/>
              </a:solidFill>
              <a:ln w="13970">
                <a:solidFill>
                  <a:srgbClr val="D4D3CE"/>
                </a:solidFill>
                <a:prstDash val="solid"/>
              </a:ln>
              <a:effectLst>
                <a:outerShdw blurRad="12700" dist="6350" dir="2700000" algn="bl" rotWithShape="0">
                  <a:srgbClr val="000000">
                    <a:alpha val="12000"/>
                  </a:srgbClr>
                </a:outerShdw>
              </a:effectLst>
            </p:spPr>
            <p:txBody>
              <a:bodyPr/>
              <a:lstStyle/>
              <a:p>
                <a:endParaRPr lang="en-US"/>
              </a:p>
            </p:txBody>
          </p:sp>
          <p:grpSp>
            <p:nvGrpSpPr>
              <p:cNvPr id="45" name="Group 44">
                <a:extLst>
                  <a:ext uri="{FF2B5EF4-FFF2-40B4-BE49-F238E27FC236}">
                    <a16:creationId xmlns:a16="http://schemas.microsoft.com/office/drawing/2014/main" id="{1943249C-59DD-06F1-5FD9-C213AA8CAE79}"/>
                  </a:ext>
                </a:extLst>
              </p:cNvPr>
              <p:cNvGrpSpPr/>
              <p:nvPr/>
            </p:nvGrpSpPr>
            <p:grpSpPr>
              <a:xfrm>
                <a:off x="4287821" y="1460754"/>
                <a:ext cx="985981" cy="1892809"/>
                <a:chOff x="4287821" y="1460754"/>
                <a:chExt cx="985981" cy="1892809"/>
              </a:xfrm>
            </p:grpSpPr>
            <p:sp>
              <p:nvSpPr>
                <p:cNvPr id="26" name="Text 23"/>
                <p:cNvSpPr/>
                <p:nvPr/>
              </p:nvSpPr>
              <p:spPr>
                <a:xfrm>
                  <a:off x="4608576" y="1460754"/>
                  <a:ext cx="665226" cy="377190"/>
                </a:xfrm>
                <a:prstGeom prst="rect">
                  <a:avLst/>
                </a:prstGeom>
                <a:noFill/>
                <a:ln/>
              </p:spPr>
              <p:txBody>
                <a:bodyPr wrap="square" lIns="0" tIns="0" rIns="0" bIns="0" rtlCol="0" anchor="ctr">
                  <a:noAutofit/>
                </a:bodyPr>
                <a:lstStyle/>
                <a:p>
                  <a:r>
                    <a:rPr lang="en-US" sz="1100" b="1">
                      <a:solidFill>
                        <a:srgbClr val="11363D"/>
                      </a:solidFill>
                      <a:latin typeface="Aptos Display" pitchFamily="34" charset="0"/>
                      <a:ea typeface="Aptos Display" pitchFamily="34" charset="-122"/>
                      <a:cs typeface="Aptos Display" pitchFamily="34" charset="-120"/>
                    </a:rPr>
                    <a:t>Economic Estimate</a:t>
                  </a:r>
                  <a:endParaRPr lang="en-US" sz="1100"/>
                </a:p>
              </p:txBody>
            </p:sp>
            <p:sp>
              <p:nvSpPr>
                <p:cNvPr id="27" name="Text 24"/>
                <p:cNvSpPr/>
                <p:nvPr/>
              </p:nvSpPr>
              <p:spPr>
                <a:xfrm>
                  <a:off x="4327398" y="1892808"/>
                  <a:ext cx="918972" cy="1460755"/>
                </a:xfrm>
                <a:prstGeom prst="rect">
                  <a:avLst/>
                </a:prstGeom>
                <a:noFill/>
                <a:ln/>
              </p:spPr>
              <p:txBody>
                <a:bodyPr wrap="square" lIns="191" tIns="191" rIns="191" bIns="191" rtlCol="0" anchor="ctr">
                  <a:noAutofit/>
                </a:bodyPr>
                <a:lstStyle/>
                <a:p>
                  <a:r>
                    <a:rPr lang="en-US" sz="1000">
                      <a:solidFill>
                        <a:srgbClr val="5D6A6F"/>
                      </a:solidFill>
                      <a:ea typeface="Aptos" pitchFamily="34" charset="-122"/>
                      <a:cs typeface="Aptos" pitchFamily="34" charset="-120"/>
                    </a:rPr>
                    <a:t>What is the change potentially worth?</a:t>
                  </a:r>
                  <a:endParaRPr lang="en-US" sz="1000"/>
                </a:p>
                <a:p>
                  <a:r>
                    <a:rPr lang="en-US" sz="1000">
                      <a:solidFill>
                        <a:srgbClr val="5D6A6F"/>
                      </a:solidFill>
                      <a:ea typeface="Aptos" pitchFamily="34" charset="-122"/>
                      <a:cs typeface="Aptos" pitchFamily="34" charset="-120"/>
                    </a:rPr>
                    <a:t>Use agreed assumptions, baselines, attribution and ranges</a:t>
                  </a:r>
                  <a:endParaRPr lang="en-US" sz="1000"/>
                </a:p>
              </p:txBody>
            </p:sp>
            <p:sp>
              <p:nvSpPr>
                <p:cNvPr id="42" name="Rectangle 41">
                  <a:extLst>
                    <a:ext uri="{FF2B5EF4-FFF2-40B4-BE49-F238E27FC236}">
                      <a16:creationId xmlns:a16="http://schemas.microsoft.com/office/drawing/2014/main" id="{410C7E35-5DA0-81C3-071A-03BA459A97F1}"/>
                    </a:ext>
                  </a:extLst>
                </p:cNvPr>
                <p:cNvSpPr/>
                <p:nvPr/>
              </p:nvSpPr>
              <p:spPr>
                <a:xfrm>
                  <a:off x="4287821" y="1487650"/>
                  <a:ext cx="232087" cy="342894"/>
                </a:xfrm>
                <a:prstGeom prst="rect">
                  <a:avLst/>
                </a:prstGeom>
                <a:solidFill>
                  <a:srgbClr val="00B05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solidFill>
                        <a:schemeClr val="bg1"/>
                      </a:solidFill>
                    </a:rPr>
                    <a:t>4</a:t>
                  </a:r>
                </a:p>
              </p:txBody>
            </p:sp>
          </p:grpSp>
        </p:grpSp>
      </p:grpSp>
      <p:grpSp>
        <p:nvGrpSpPr>
          <p:cNvPr id="57" name="Group 56">
            <a:extLst>
              <a:ext uri="{FF2B5EF4-FFF2-40B4-BE49-F238E27FC236}">
                <a16:creationId xmlns:a16="http://schemas.microsoft.com/office/drawing/2014/main" id="{1D70BD0A-36B1-72B2-13DE-FE74BFB80E8A}"/>
              </a:ext>
            </a:extLst>
          </p:cNvPr>
          <p:cNvGrpSpPr/>
          <p:nvPr/>
        </p:nvGrpSpPr>
        <p:grpSpPr>
          <a:xfrm>
            <a:off x="5376672" y="1385316"/>
            <a:ext cx="1220724" cy="2140548"/>
            <a:chOff x="5376672" y="1385316"/>
            <a:chExt cx="1220724" cy="2140548"/>
          </a:xfrm>
        </p:grpSpPr>
        <p:sp>
          <p:nvSpPr>
            <p:cNvPr id="28" name="Shape 25"/>
            <p:cNvSpPr/>
            <p:nvPr/>
          </p:nvSpPr>
          <p:spPr>
            <a:xfrm>
              <a:off x="5376672" y="2139696"/>
              <a:ext cx="96012" cy="192024"/>
            </a:xfrm>
            <a:prstGeom prst="chevron">
              <a:avLst/>
            </a:prstGeom>
            <a:solidFill>
              <a:srgbClr val="B2B7B8"/>
            </a:solidFill>
            <a:ln w="12700">
              <a:solidFill>
                <a:srgbClr val="B2B7B8"/>
              </a:solidFill>
              <a:prstDash val="solid"/>
            </a:ln>
          </p:spPr>
          <p:txBody>
            <a:bodyPr/>
            <a:lstStyle/>
            <a:p>
              <a:endParaRPr lang="en-US"/>
            </a:p>
          </p:txBody>
        </p:sp>
        <p:grpSp>
          <p:nvGrpSpPr>
            <p:cNvPr id="52" name="Group 51">
              <a:extLst>
                <a:ext uri="{FF2B5EF4-FFF2-40B4-BE49-F238E27FC236}">
                  <a16:creationId xmlns:a16="http://schemas.microsoft.com/office/drawing/2014/main" id="{053B7D9B-8597-9CDA-60DD-A50198CF4CAB}"/>
                </a:ext>
              </a:extLst>
            </p:cNvPr>
            <p:cNvGrpSpPr/>
            <p:nvPr/>
          </p:nvGrpSpPr>
          <p:grpSpPr>
            <a:xfrm>
              <a:off x="5472684" y="1385316"/>
              <a:ext cx="1124712" cy="2140548"/>
              <a:chOff x="5472684" y="1385316"/>
              <a:chExt cx="1124712" cy="2140548"/>
            </a:xfrm>
          </p:grpSpPr>
          <p:sp>
            <p:nvSpPr>
              <p:cNvPr id="29" name="Shape 26"/>
              <p:cNvSpPr/>
              <p:nvPr/>
            </p:nvSpPr>
            <p:spPr>
              <a:xfrm>
                <a:off x="5472684" y="1385316"/>
                <a:ext cx="1124712" cy="2140548"/>
              </a:xfrm>
              <a:prstGeom prst="roundRect">
                <a:avLst>
                  <a:gd name="adj" fmla="val 3659"/>
                </a:avLst>
              </a:prstGeom>
              <a:solidFill>
                <a:srgbClr val="FFFFFF"/>
              </a:solidFill>
              <a:ln w="13970">
                <a:solidFill>
                  <a:srgbClr val="D4D3CE"/>
                </a:solidFill>
                <a:prstDash val="solid"/>
              </a:ln>
              <a:effectLst>
                <a:outerShdw blurRad="12700" dist="6350" dir="2700000" algn="bl" rotWithShape="0">
                  <a:srgbClr val="000000">
                    <a:alpha val="12000"/>
                  </a:srgbClr>
                </a:outerShdw>
              </a:effectLst>
            </p:spPr>
            <p:txBody>
              <a:bodyPr/>
              <a:lstStyle/>
              <a:p>
                <a:endParaRPr lang="en-US"/>
              </a:p>
            </p:txBody>
          </p:sp>
          <p:grpSp>
            <p:nvGrpSpPr>
              <p:cNvPr id="47" name="Group 46">
                <a:extLst>
                  <a:ext uri="{FF2B5EF4-FFF2-40B4-BE49-F238E27FC236}">
                    <a16:creationId xmlns:a16="http://schemas.microsoft.com/office/drawing/2014/main" id="{446AA88B-971C-A815-C1AA-BB75840013FB}"/>
                  </a:ext>
                </a:extLst>
              </p:cNvPr>
              <p:cNvGrpSpPr/>
              <p:nvPr/>
            </p:nvGrpSpPr>
            <p:grpSpPr>
              <a:xfrm>
                <a:off x="5541264" y="1460754"/>
                <a:ext cx="980694" cy="1488186"/>
                <a:chOff x="5541264" y="1460754"/>
                <a:chExt cx="980694" cy="1488186"/>
              </a:xfrm>
            </p:grpSpPr>
            <p:sp>
              <p:nvSpPr>
                <p:cNvPr id="31" name="Text 28"/>
                <p:cNvSpPr/>
                <p:nvPr/>
              </p:nvSpPr>
              <p:spPr>
                <a:xfrm>
                  <a:off x="5856732" y="1460754"/>
                  <a:ext cx="665226" cy="377190"/>
                </a:xfrm>
                <a:prstGeom prst="rect">
                  <a:avLst/>
                </a:prstGeom>
                <a:noFill/>
                <a:ln/>
              </p:spPr>
              <p:txBody>
                <a:bodyPr wrap="square" lIns="0" tIns="0" rIns="0" bIns="0" rtlCol="0" anchor="ctr">
                  <a:noAutofit/>
                </a:bodyPr>
                <a:lstStyle/>
                <a:p>
                  <a:r>
                    <a:rPr lang="en-US" sz="1100" b="1">
                      <a:solidFill>
                        <a:srgbClr val="11363D"/>
                      </a:solidFill>
                      <a:latin typeface="Aptos Display" pitchFamily="34" charset="0"/>
                      <a:ea typeface="Aptos Display" pitchFamily="34" charset="-122"/>
                      <a:cs typeface="Aptos Display" pitchFamily="34" charset="-120"/>
                    </a:rPr>
                    <a:t>Executive Decision</a:t>
                  </a:r>
                  <a:endParaRPr lang="en-US" sz="1100"/>
                </a:p>
              </p:txBody>
            </p:sp>
            <p:sp>
              <p:nvSpPr>
                <p:cNvPr id="32" name="Text 29"/>
                <p:cNvSpPr/>
                <p:nvPr/>
              </p:nvSpPr>
              <p:spPr>
                <a:xfrm>
                  <a:off x="5575554" y="1933956"/>
                  <a:ext cx="918972" cy="1014984"/>
                </a:xfrm>
                <a:prstGeom prst="rect">
                  <a:avLst/>
                </a:prstGeom>
                <a:noFill/>
                <a:ln/>
              </p:spPr>
              <p:txBody>
                <a:bodyPr wrap="square" lIns="191" tIns="191" rIns="191" bIns="191" rtlCol="0" anchor="ctr">
                  <a:noAutofit/>
                </a:bodyPr>
                <a:lstStyle/>
                <a:p>
                  <a:r>
                    <a:rPr lang="en-US" sz="1000">
                      <a:solidFill>
                        <a:srgbClr val="5D6A6F"/>
                      </a:solidFill>
                      <a:ea typeface="Aptos" pitchFamily="34" charset="-122"/>
                      <a:cs typeface="Aptos" pitchFamily="34" charset="-120"/>
                    </a:rPr>
                    <a:t>What should leadership do differently?</a:t>
                  </a:r>
                  <a:endParaRPr lang="en-US" sz="1000"/>
                </a:p>
                <a:p>
                  <a:r>
                    <a:rPr lang="en-US" sz="1000">
                      <a:solidFill>
                        <a:srgbClr val="5D6A6F"/>
                      </a:solidFill>
                      <a:ea typeface="Aptos" pitchFamily="34" charset="-122"/>
                      <a:cs typeface="Aptos" pitchFamily="34" charset="-120"/>
                    </a:rPr>
                    <a:t>Invest • Stop • Sequence • Accelerate • Correct</a:t>
                  </a:r>
                  <a:endParaRPr lang="en-US" sz="1000"/>
                </a:p>
              </p:txBody>
            </p:sp>
            <p:sp>
              <p:nvSpPr>
                <p:cNvPr id="43" name="Rectangle 42">
                  <a:extLst>
                    <a:ext uri="{FF2B5EF4-FFF2-40B4-BE49-F238E27FC236}">
                      <a16:creationId xmlns:a16="http://schemas.microsoft.com/office/drawing/2014/main" id="{626D3AE6-03B7-0A7A-31A0-3BC145360D78}"/>
                    </a:ext>
                  </a:extLst>
                </p:cNvPr>
                <p:cNvSpPr/>
                <p:nvPr/>
              </p:nvSpPr>
              <p:spPr>
                <a:xfrm>
                  <a:off x="5541264" y="1487650"/>
                  <a:ext cx="232087" cy="342894"/>
                </a:xfrm>
                <a:prstGeom prst="rect">
                  <a:avLst/>
                </a:prstGeom>
                <a:solidFill>
                  <a:srgbClr val="7030A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solidFill>
                        <a:schemeClr val="bg1"/>
                      </a:solidFill>
                    </a:rPr>
                    <a:t>5</a:t>
                  </a:r>
                </a:p>
              </p:txBody>
            </p:sp>
          </p:grpSp>
        </p:grpSp>
      </p:grpSp>
      <p:sp>
        <p:nvSpPr>
          <p:cNvPr id="44" name="Rectangle 43">
            <a:extLst>
              <a:ext uri="{FF2B5EF4-FFF2-40B4-BE49-F238E27FC236}">
                <a16:creationId xmlns:a16="http://schemas.microsoft.com/office/drawing/2014/main" id="{3C119D53-CB29-37BB-5E3A-2C6F67019EE6}"/>
              </a:ext>
            </a:extLst>
          </p:cNvPr>
          <p:cNvSpPr/>
          <p:nvPr/>
        </p:nvSpPr>
        <p:spPr>
          <a:xfrm>
            <a:off x="525703" y="3624455"/>
            <a:ext cx="338405" cy="498053"/>
          </a:xfrm>
          <a:prstGeom prst="rect">
            <a:avLst/>
          </a:prstGeom>
          <a:solidFill>
            <a:schemeClr val="tx1">
              <a:lumMod val="90000"/>
              <a:lumOff val="1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solidFill>
                <a:schemeClr val="bg1"/>
              </a:solidFill>
            </a:endParaRPr>
          </a:p>
        </p:txBody>
      </p:sp>
      <p:pic>
        <p:nvPicPr>
          <p:cNvPr id="46" name="Graphic 45" descr="Lightbulb with solid fill">
            <a:extLst>
              <a:ext uri="{FF2B5EF4-FFF2-40B4-BE49-F238E27FC236}">
                <a16:creationId xmlns:a16="http://schemas.microsoft.com/office/drawing/2014/main" id="{BAE54176-EA86-F149-F4AD-D72D758F2C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5483" y="3660148"/>
            <a:ext cx="411110" cy="411110"/>
          </a:xfrm>
          <a:prstGeom prst="rect">
            <a:avLst/>
          </a:prstGeom>
        </p:spPr>
      </p:pic>
      <p:sp>
        <p:nvSpPr>
          <p:cNvPr id="25" name="Rectangle 24">
            <a:extLst>
              <a:ext uri="{FF2B5EF4-FFF2-40B4-BE49-F238E27FC236}">
                <a16:creationId xmlns:a16="http://schemas.microsoft.com/office/drawing/2014/main" id="{FBDCC694-D56D-463D-99F9-2D07AD241E9E}"/>
              </a:ext>
            </a:extLst>
          </p:cNvPr>
          <p:cNvSpPr/>
          <p:nvPr/>
        </p:nvSpPr>
        <p:spPr>
          <a:xfrm>
            <a:off x="8382000" y="4762500"/>
            <a:ext cx="304800" cy="3810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t"/>
          <a:lstStyle/>
          <a:p>
            <a:pPr algn="ctr"/>
            <a:endParaRPr lang="en-US"/>
          </a:p>
        </p:txBody>
      </p:sp>
      <p:sp>
        <p:nvSpPr>
          <p:cNvPr id="30" name="BP_PageNumber">
            <a:extLst>
              <a:ext uri="{FF2B5EF4-FFF2-40B4-BE49-F238E27FC236}">
                <a16:creationId xmlns:a16="http://schemas.microsoft.com/office/drawing/2014/main" id="{F3918361-E72E-4588-A6F3-7CEF0644687F}"/>
              </a:ext>
            </a:extLst>
          </p:cNvPr>
          <p:cNvSpPr/>
          <p:nvPr/>
        </p:nvSpPr>
        <p:spPr>
          <a:xfrm>
            <a:off x="8686800" y="4838700"/>
            <a:ext cx="457200" cy="3048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wrap="none" rtlCol="0" anchor="ctr" anchorCtr="0">
            <a:noAutofit/>
          </a:bodyPr>
          <a:lstStyle/>
          <a:p>
            <a:pPr algn="ctr"/>
            <a:r>
              <a:rPr lang="en-US" sz="800" b="1">
                <a:solidFill>
                  <a:srgbClr val="FFFFFF"/>
                </a:solidFill>
              </a:rPr>
              <a:t>7</a:t>
            </a:r>
          </a:p>
        </p:txBody>
      </p:sp>
    </p:spTree>
    <p:extLst>
      <p:ext uri="{BB962C8B-B14F-4D97-AF65-F5344CB8AC3E}">
        <p14:creationId xmlns:p14="http://schemas.microsoft.com/office/powerpoint/2010/main" val="3774135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2026-SAFeSummit-SanDiego-BreakoutSession-Speakers-MasterTemplate/slide-2.png"/>
          <p:cNvPicPr>
            <a:picLocks noChangeAspect="1"/>
          </p:cNvPicPr>
          <p:nvPr/>
        </p:nvPicPr>
        <p:blipFill>
          <a:blip r:embed="rId3"/>
          <a:stretch>
            <a:fillRect/>
          </a:stretch>
        </p:blipFill>
        <p:spPr>
          <a:xfrm>
            <a:off x="1" y="0"/>
            <a:ext cx="9143771" cy="5143500"/>
          </a:xfrm>
          <a:prstGeom prst="rect">
            <a:avLst/>
          </a:prstGeom>
        </p:spPr>
      </p:pic>
      <p:sp>
        <p:nvSpPr>
          <p:cNvPr id="3" name="Shape 0"/>
          <p:cNvSpPr/>
          <p:nvPr/>
        </p:nvSpPr>
        <p:spPr>
          <a:xfrm>
            <a:off x="356616" y="685800"/>
            <a:ext cx="6549390" cy="3221182"/>
          </a:xfrm>
          <a:prstGeom prst="rect">
            <a:avLst/>
          </a:prstGeom>
          <a:solidFill>
            <a:srgbClr val="F4F1EA"/>
          </a:solidFill>
          <a:ln w="12700">
            <a:solidFill>
              <a:srgbClr val="F4F1EA"/>
            </a:solidFill>
            <a:prstDash val="solid"/>
          </a:ln>
        </p:spPr>
        <p:txBody>
          <a:bodyPr/>
          <a:lstStyle/>
          <a:p>
            <a:endParaRPr lang="en-US" sz="1350"/>
          </a:p>
        </p:txBody>
      </p:sp>
      <p:sp>
        <p:nvSpPr>
          <p:cNvPr id="4" name="Text 1"/>
          <p:cNvSpPr/>
          <p:nvPr/>
        </p:nvSpPr>
        <p:spPr>
          <a:xfrm>
            <a:off x="466344" y="384048"/>
            <a:ext cx="6412230" cy="356616"/>
          </a:xfrm>
          <a:prstGeom prst="rect">
            <a:avLst/>
          </a:prstGeom>
          <a:noFill/>
          <a:ln/>
        </p:spPr>
        <p:txBody>
          <a:bodyPr wrap="square" lIns="0" tIns="0" rIns="0" bIns="0" rtlCol="0" anchor="ctr"/>
          <a:lstStyle/>
          <a:p>
            <a:r>
              <a:rPr lang="en-US" sz="1875" b="1">
                <a:solidFill>
                  <a:srgbClr val="102A30"/>
                </a:solidFill>
                <a:latin typeface="Arial" pitchFamily="34" charset="0"/>
                <a:ea typeface="Arial" pitchFamily="34" charset="-122"/>
                <a:cs typeface="Arial" pitchFamily="34" charset="-120"/>
              </a:rPr>
              <a:t>Make the math credible</a:t>
            </a:r>
            <a:endParaRPr lang="en-US" sz="1875"/>
          </a:p>
        </p:txBody>
      </p:sp>
      <p:sp>
        <p:nvSpPr>
          <p:cNvPr id="5" name="Shape 2"/>
          <p:cNvSpPr/>
          <p:nvPr/>
        </p:nvSpPr>
        <p:spPr>
          <a:xfrm>
            <a:off x="466344" y="809244"/>
            <a:ext cx="720090" cy="0"/>
          </a:xfrm>
          <a:prstGeom prst="line">
            <a:avLst/>
          </a:prstGeom>
          <a:noFill/>
          <a:ln w="38100">
            <a:solidFill>
              <a:srgbClr val="6D5BC0"/>
            </a:solidFill>
            <a:prstDash val="solid"/>
          </a:ln>
        </p:spPr>
        <p:txBody>
          <a:bodyPr/>
          <a:lstStyle/>
          <a:p>
            <a:endParaRPr lang="en-US" sz="1350"/>
          </a:p>
        </p:txBody>
      </p:sp>
      <p:sp>
        <p:nvSpPr>
          <p:cNvPr id="6" name="Shape 3"/>
          <p:cNvSpPr/>
          <p:nvPr/>
        </p:nvSpPr>
        <p:spPr>
          <a:xfrm>
            <a:off x="514350" y="917312"/>
            <a:ext cx="5795010" cy="507492"/>
          </a:xfrm>
          <a:prstGeom prst="roundRect">
            <a:avLst>
              <a:gd name="adj" fmla="val 4054"/>
            </a:avLst>
          </a:prstGeom>
          <a:solidFill>
            <a:srgbClr val="FFFFFF"/>
          </a:solidFill>
          <a:ln w="10160">
            <a:solidFill>
              <a:srgbClr val="DAD7D0"/>
            </a:solidFill>
            <a:prstDash val="solid"/>
          </a:ln>
        </p:spPr>
        <p:txBody>
          <a:bodyPr/>
          <a:lstStyle/>
          <a:p>
            <a:endParaRPr lang="en-US" sz="1350"/>
          </a:p>
        </p:txBody>
      </p:sp>
      <p:sp>
        <p:nvSpPr>
          <p:cNvPr id="7" name="Shape 4"/>
          <p:cNvSpPr/>
          <p:nvPr/>
        </p:nvSpPr>
        <p:spPr>
          <a:xfrm>
            <a:off x="630936" y="999608"/>
            <a:ext cx="288036" cy="288036"/>
          </a:xfrm>
          <a:prstGeom prst="ellipse">
            <a:avLst/>
          </a:prstGeom>
          <a:solidFill>
            <a:srgbClr val="6D5BC0"/>
          </a:solidFill>
          <a:ln w="12700">
            <a:solidFill>
              <a:srgbClr val="6D5BC0"/>
            </a:solidFill>
            <a:prstDash val="solid"/>
          </a:ln>
        </p:spPr>
        <p:txBody>
          <a:bodyPr/>
          <a:lstStyle/>
          <a:p>
            <a:endParaRPr lang="en-US" sz="1350"/>
          </a:p>
        </p:txBody>
      </p:sp>
      <p:sp>
        <p:nvSpPr>
          <p:cNvPr id="8" name="Text 5"/>
          <p:cNvSpPr/>
          <p:nvPr/>
        </p:nvSpPr>
        <p:spPr>
          <a:xfrm>
            <a:off x="720090" y="1077700"/>
            <a:ext cx="109728" cy="137160"/>
          </a:xfrm>
          <a:prstGeom prst="rect">
            <a:avLst/>
          </a:prstGeom>
          <a:noFill/>
          <a:ln/>
        </p:spPr>
        <p:txBody>
          <a:bodyPr wrap="square" lIns="0" tIns="0" rIns="0" bIns="0" rtlCol="0" anchor="ctr"/>
          <a:lstStyle/>
          <a:p>
            <a:pPr algn="ctr"/>
            <a:r>
              <a:rPr lang="en-US" sz="1400" b="1">
                <a:solidFill>
                  <a:srgbClr val="FFFFFF"/>
                </a:solidFill>
              </a:rPr>
              <a:t>1</a:t>
            </a:r>
            <a:endParaRPr lang="en-US" sz="1400"/>
          </a:p>
        </p:txBody>
      </p:sp>
      <p:sp>
        <p:nvSpPr>
          <p:cNvPr id="9" name="Text 6"/>
          <p:cNvSpPr/>
          <p:nvPr/>
        </p:nvSpPr>
        <p:spPr>
          <a:xfrm>
            <a:off x="1062990" y="1072539"/>
            <a:ext cx="1152144" cy="150876"/>
          </a:xfrm>
          <a:prstGeom prst="rect">
            <a:avLst/>
          </a:prstGeom>
          <a:noFill/>
          <a:ln/>
        </p:spPr>
        <p:txBody>
          <a:bodyPr wrap="square" lIns="0" tIns="0" rIns="0" bIns="0" rtlCol="0" anchor="ctr"/>
          <a:lstStyle/>
          <a:p>
            <a:r>
              <a:rPr lang="en-US" sz="1400" b="1">
                <a:solidFill>
                  <a:srgbClr val="102A30"/>
                </a:solidFill>
              </a:rPr>
              <a:t>Baseline first</a:t>
            </a:r>
            <a:endParaRPr lang="en-US" sz="1400"/>
          </a:p>
        </p:txBody>
      </p:sp>
      <p:sp>
        <p:nvSpPr>
          <p:cNvPr id="10" name="Text 7"/>
          <p:cNvSpPr/>
          <p:nvPr/>
        </p:nvSpPr>
        <p:spPr>
          <a:xfrm>
            <a:off x="2372868" y="1020182"/>
            <a:ext cx="3840480" cy="246888"/>
          </a:xfrm>
          <a:prstGeom prst="rect">
            <a:avLst/>
          </a:prstGeom>
          <a:noFill/>
          <a:ln/>
        </p:spPr>
        <p:txBody>
          <a:bodyPr wrap="square" lIns="0" tIns="0" rIns="0" bIns="0" rtlCol="0" anchor="ctr">
            <a:noAutofit/>
          </a:bodyPr>
          <a:lstStyle/>
          <a:p>
            <a:r>
              <a:rPr lang="en-US" sz="1400">
                <a:solidFill>
                  <a:srgbClr val="6E777B"/>
                </a:solidFill>
              </a:rPr>
              <a:t>Every value claim starts with a defensible “before.”</a:t>
            </a:r>
            <a:endParaRPr lang="en-US" sz="1400"/>
          </a:p>
        </p:txBody>
      </p:sp>
      <p:sp>
        <p:nvSpPr>
          <p:cNvPr id="11" name="Shape 8"/>
          <p:cNvSpPr/>
          <p:nvPr/>
        </p:nvSpPr>
        <p:spPr>
          <a:xfrm>
            <a:off x="514350" y="1508648"/>
            <a:ext cx="5795010" cy="507492"/>
          </a:xfrm>
          <a:prstGeom prst="roundRect">
            <a:avLst>
              <a:gd name="adj" fmla="val 4054"/>
            </a:avLst>
          </a:prstGeom>
          <a:solidFill>
            <a:srgbClr val="FFFFFF"/>
          </a:solidFill>
          <a:ln w="10160">
            <a:solidFill>
              <a:srgbClr val="DAD7D0"/>
            </a:solidFill>
            <a:prstDash val="solid"/>
          </a:ln>
        </p:spPr>
        <p:txBody>
          <a:bodyPr/>
          <a:lstStyle/>
          <a:p>
            <a:endParaRPr lang="en-US" sz="1350"/>
          </a:p>
        </p:txBody>
      </p:sp>
      <p:sp>
        <p:nvSpPr>
          <p:cNvPr id="12" name="Shape 9"/>
          <p:cNvSpPr/>
          <p:nvPr/>
        </p:nvSpPr>
        <p:spPr>
          <a:xfrm>
            <a:off x="630936" y="1572471"/>
            <a:ext cx="288036" cy="288036"/>
          </a:xfrm>
          <a:prstGeom prst="ellipse">
            <a:avLst/>
          </a:prstGeom>
          <a:solidFill>
            <a:srgbClr val="6D5BC0"/>
          </a:solidFill>
          <a:ln w="12700">
            <a:solidFill>
              <a:srgbClr val="6D5BC0"/>
            </a:solidFill>
            <a:prstDash val="solid"/>
          </a:ln>
        </p:spPr>
        <p:txBody>
          <a:bodyPr/>
          <a:lstStyle/>
          <a:p>
            <a:endParaRPr lang="en-US" sz="1350"/>
          </a:p>
        </p:txBody>
      </p:sp>
      <p:sp>
        <p:nvSpPr>
          <p:cNvPr id="13" name="Text 10"/>
          <p:cNvSpPr/>
          <p:nvPr/>
        </p:nvSpPr>
        <p:spPr>
          <a:xfrm>
            <a:off x="720090" y="1650563"/>
            <a:ext cx="109728" cy="137160"/>
          </a:xfrm>
          <a:prstGeom prst="rect">
            <a:avLst/>
          </a:prstGeom>
          <a:noFill/>
          <a:ln/>
        </p:spPr>
        <p:txBody>
          <a:bodyPr wrap="square" lIns="0" tIns="0" rIns="0" bIns="0" rtlCol="0" anchor="ctr"/>
          <a:lstStyle/>
          <a:p>
            <a:pPr algn="ctr"/>
            <a:r>
              <a:rPr lang="en-US" sz="1400" b="1">
                <a:solidFill>
                  <a:srgbClr val="FFFFFF"/>
                </a:solidFill>
              </a:rPr>
              <a:t>2</a:t>
            </a:r>
            <a:endParaRPr lang="en-US" sz="1400"/>
          </a:p>
        </p:txBody>
      </p:sp>
      <p:sp>
        <p:nvSpPr>
          <p:cNvPr id="14" name="Text 11"/>
          <p:cNvSpPr/>
          <p:nvPr/>
        </p:nvSpPr>
        <p:spPr>
          <a:xfrm>
            <a:off x="1062990" y="1572471"/>
            <a:ext cx="1152144" cy="363474"/>
          </a:xfrm>
          <a:prstGeom prst="rect">
            <a:avLst/>
          </a:prstGeom>
          <a:noFill/>
          <a:ln/>
        </p:spPr>
        <p:txBody>
          <a:bodyPr wrap="square" lIns="0" tIns="0" rIns="0" bIns="0" rtlCol="0" anchor="ctr"/>
          <a:lstStyle/>
          <a:p>
            <a:r>
              <a:rPr lang="en-US" sz="1400" b="1">
                <a:solidFill>
                  <a:srgbClr val="102A30"/>
                </a:solidFill>
              </a:rPr>
              <a:t>Show attribution</a:t>
            </a:r>
            <a:endParaRPr lang="en-US" sz="1400"/>
          </a:p>
        </p:txBody>
      </p:sp>
      <p:sp>
        <p:nvSpPr>
          <p:cNvPr id="15" name="Text 12"/>
          <p:cNvSpPr/>
          <p:nvPr/>
        </p:nvSpPr>
        <p:spPr>
          <a:xfrm>
            <a:off x="2364166" y="1645402"/>
            <a:ext cx="3840480" cy="246888"/>
          </a:xfrm>
          <a:prstGeom prst="rect">
            <a:avLst/>
          </a:prstGeom>
          <a:noFill/>
          <a:ln/>
        </p:spPr>
        <p:txBody>
          <a:bodyPr wrap="square" lIns="0" tIns="0" rIns="0" bIns="0" rtlCol="0" anchor="ctr">
            <a:noAutofit/>
          </a:bodyPr>
          <a:lstStyle/>
          <a:p>
            <a:r>
              <a:rPr lang="en-US" sz="1400">
                <a:solidFill>
                  <a:srgbClr val="6E777B"/>
                </a:solidFill>
              </a:rPr>
              <a:t>Explain why the transformation contributed to the change.</a:t>
            </a:r>
            <a:endParaRPr lang="en-US" sz="1400"/>
          </a:p>
        </p:txBody>
      </p:sp>
      <p:sp>
        <p:nvSpPr>
          <p:cNvPr id="16" name="Shape 13"/>
          <p:cNvSpPr/>
          <p:nvPr/>
        </p:nvSpPr>
        <p:spPr>
          <a:xfrm>
            <a:off x="514350" y="2099984"/>
            <a:ext cx="5795010" cy="507492"/>
          </a:xfrm>
          <a:prstGeom prst="roundRect">
            <a:avLst>
              <a:gd name="adj" fmla="val 4054"/>
            </a:avLst>
          </a:prstGeom>
          <a:solidFill>
            <a:srgbClr val="FFFFFF"/>
          </a:solidFill>
          <a:ln w="10160">
            <a:solidFill>
              <a:srgbClr val="DAD7D0"/>
            </a:solidFill>
            <a:prstDash val="solid"/>
          </a:ln>
        </p:spPr>
        <p:txBody>
          <a:bodyPr/>
          <a:lstStyle/>
          <a:p>
            <a:endParaRPr lang="en-US" sz="1350"/>
          </a:p>
        </p:txBody>
      </p:sp>
      <p:sp>
        <p:nvSpPr>
          <p:cNvPr id="17" name="Shape 14"/>
          <p:cNvSpPr/>
          <p:nvPr/>
        </p:nvSpPr>
        <p:spPr>
          <a:xfrm>
            <a:off x="630936" y="2163811"/>
            <a:ext cx="288036" cy="288036"/>
          </a:xfrm>
          <a:prstGeom prst="ellipse">
            <a:avLst/>
          </a:prstGeom>
          <a:solidFill>
            <a:srgbClr val="F4A53D"/>
          </a:solidFill>
          <a:ln w="12700">
            <a:solidFill>
              <a:srgbClr val="F4A53D"/>
            </a:solidFill>
            <a:prstDash val="solid"/>
          </a:ln>
        </p:spPr>
        <p:txBody>
          <a:bodyPr/>
          <a:lstStyle/>
          <a:p>
            <a:endParaRPr lang="en-US" sz="1350"/>
          </a:p>
        </p:txBody>
      </p:sp>
      <p:sp>
        <p:nvSpPr>
          <p:cNvPr id="18" name="Text 15"/>
          <p:cNvSpPr/>
          <p:nvPr/>
        </p:nvSpPr>
        <p:spPr>
          <a:xfrm>
            <a:off x="720090" y="2241903"/>
            <a:ext cx="109728" cy="137160"/>
          </a:xfrm>
          <a:prstGeom prst="rect">
            <a:avLst/>
          </a:prstGeom>
          <a:noFill/>
          <a:ln/>
        </p:spPr>
        <p:txBody>
          <a:bodyPr wrap="square" lIns="0" tIns="0" rIns="0" bIns="0" rtlCol="0" anchor="ctr"/>
          <a:lstStyle/>
          <a:p>
            <a:pPr algn="ctr"/>
            <a:r>
              <a:rPr lang="en-US" sz="1400" b="1">
                <a:solidFill>
                  <a:srgbClr val="FFFFFF"/>
                </a:solidFill>
              </a:rPr>
              <a:t>3</a:t>
            </a:r>
            <a:endParaRPr lang="en-US" sz="1400"/>
          </a:p>
        </p:txBody>
      </p:sp>
      <p:sp>
        <p:nvSpPr>
          <p:cNvPr id="19" name="Text 16"/>
          <p:cNvSpPr/>
          <p:nvPr/>
        </p:nvSpPr>
        <p:spPr>
          <a:xfrm>
            <a:off x="1062990" y="2189295"/>
            <a:ext cx="1152144" cy="388399"/>
          </a:xfrm>
          <a:prstGeom prst="rect">
            <a:avLst/>
          </a:prstGeom>
          <a:noFill/>
          <a:ln/>
        </p:spPr>
        <p:txBody>
          <a:bodyPr wrap="square" lIns="0" tIns="0" rIns="0" bIns="0" rtlCol="0" anchor="ctr"/>
          <a:lstStyle/>
          <a:p>
            <a:r>
              <a:rPr lang="en-US" sz="1400" b="1">
                <a:solidFill>
                  <a:srgbClr val="102A30"/>
                </a:solidFill>
              </a:rPr>
              <a:t>Avoid double counting</a:t>
            </a:r>
            <a:endParaRPr lang="en-US" sz="1400"/>
          </a:p>
        </p:txBody>
      </p:sp>
      <p:sp>
        <p:nvSpPr>
          <p:cNvPr id="20" name="Text 17"/>
          <p:cNvSpPr/>
          <p:nvPr/>
        </p:nvSpPr>
        <p:spPr>
          <a:xfrm>
            <a:off x="2364166" y="2204959"/>
            <a:ext cx="3840480" cy="246888"/>
          </a:xfrm>
          <a:prstGeom prst="rect">
            <a:avLst/>
          </a:prstGeom>
          <a:noFill/>
          <a:ln/>
        </p:spPr>
        <p:txBody>
          <a:bodyPr wrap="square" lIns="0" tIns="0" rIns="0" bIns="0" rtlCol="0" anchor="ctr">
            <a:noAutofit/>
          </a:bodyPr>
          <a:lstStyle/>
          <a:p>
            <a:r>
              <a:rPr lang="en-US" sz="1400">
                <a:solidFill>
                  <a:srgbClr val="6E777B"/>
                </a:solidFill>
              </a:rPr>
              <a:t>Capacity recovered and productivity recovered may overlap. Do not stack them blindly.</a:t>
            </a:r>
            <a:endParaRPr lang="en-US" sz="1400"/>
          </a:p>
        </p:txBody>
      </p:sp>
      <p:sp>
        <p:nvSpPr>
          <p:cNvPr id="21" name="Shape 18"/>
          <p:cNvSpPr/>
          <p:nvPr/>
        </p:nvSpPr>
        <p:spPr>
          <a:xfrm>
            <a:off x="514350" y="2691320"/>
            <a:ext cx="5795010" cy="507492"/>
          </a:xfrm>
          <a:prstGeom prst="roundRect">
            <a:avLst>
              <a:gd name="adj" fmla="val 4054"/>
            </a:avLst>
          </a:prstGeom>
          <a:solidFill>
            <a:srgbClr val="FFFFFF"/>
          </a:solidFill>
          <a:ln w="10160">
            <a:solidFill>
              <a:srgbClr val="DAD7D0"/>
            </a:solidFill>
            <a:prstDash val="solid"/>
          </a:ln>
        </p:spPr>
        <p:txBody>
          <a:bodyPr/>
          <a:lstStyle/>
          <a:p>
            <a:endParaRPr lang="en-US" sz="1350"/>
          </a:p>
        </p:txBody>
      </p:sp>
      <p:sp>
        <p:nvSpPr>
          <p:cNvPr id="22" name="Shape 19"/>
          <p:cNvSpPr/>
          <p:nvPr/>
        </p:nvSpPr>
        <p:spPr>
          <a:xfrm>
            <a:off x="630936" y="2773618"/>
            <a:ext cx="288036" cy="288036"/>
          </a:xfrm>
          <a:prstGeom prst="ellipse">
            <a:avLst/>
          </a:prstGeom>
          <a:solidFill>
            <a:srgbClr val="6D5BC0"/>
          </a:solidFill>
          <a:ln w="12700">
            <a:solidFill>
              <a:srgbClr val="6D5BC0"/>
            </a:solidFill>
            <a:prstDash val="solid"/>
          </a:ln>
        </p:spPr>
        <p:txBody>
          <a:bodyPr/>
          <a:lstStyle/>
          <a:p>
            <a:endParaRPr lang="en-US" sz="1200"/>
          </a:p>
        </p:txBody>
      </p:sp>
      <p:sp>
        <p:nvSpPr>
          <p:cNvPr id="23" name="Text 20"/>
          <p:cNvSpPr/>
          <p:nvPr/>
        </p:nvSpPr>
        <p:spPr>
          <a:xfrm>
            <a:off x="720090" y="2851710"/>
            <a:ext cx="109728" cy="137160"/>
          </a:xfrm>
          <a:prstGeom prst="rect">
            <a:avLst/>
          </a:prstGeom>
          <a:noFill/>
          <a:ln/>
        </p:spPr>
        <p:txBody>
          <a:bodyPr wrap="square" lIns="0" tIns="0" rIns="0" bIns="0" rtlCol="0" anchor="ctr"/>
          <a:lstStyle/>
          <a:p>
            <a:pPr algn="ctr"/>
            <a:r>
              <a:rPr lang="en-US" sz="1400" b="1">
                <a:solidFill>
                  <a:srgbClr val="FFFFFF"/>
                </a:solidFill>
              </a:rPr>
              <a:t>4</a:t>
            </a:r>
            <a:endParaRPr lang="en-US" sz="1400"/>
          </a:p>
        </p:txBody>
      </p:sp>
      <p:sp>
        <p:nvSpPr>
          <p:cNvPr id="24" name="Text 21"/>
          <p:cNvSpPr/>
          <p:nvPr/>
        </p:nvSpPr>
        <p:spPr>
          <a:xfrm>
            <a:off x="1062990" y="2846549"/>
            <a:ext cx="1152144" cy="150876"/>
          </a:xfrm>
          <a:prstGeom prst="rect">
            <a:avLst/>
          </a:prstGeom>
          <a:noFill/>
          <a:ln/>
        </p:spPr>
        <p:txBody>
          <a:bodyPr wrap="square" lIns="0" tIns="0" rIns="0" bIns="0" rtlCol="0" anchor="ctr"/>
          <a:lstStyle/>
          <a:p>
            <a:r>
              <a:rPr lang="en-US" sz="1400" b="1">
                <a:solidFill>
                  <a:srgbClr val="102A30"/>
                </a:solidFill>
              </a:rPr>
              <a:t>Use ranges</a:t>
            </a:r>
            <a:endParaRPr lang="en-US" sz="1400"/>
          </a:p>
        </p:txBody>
      </p:sp>
      <p:sp>
        <p:nvSpPr>
          <p:cNvPr id="25" name="Text 22"/>
          <p:cNvSpPr/>
          <p:nvPr/>
        </p:nvSpPr>
        <p:spPr>
          <a:xfrm>
            <a:off x="2364166" y="2814766"/>
            <a:ext cx="3840480" cy="246888"/>
          </a:xfrm>
          <a:prstGeom prst="rect">
            <a:avLst/>
          </a:prstGeom>
          <a:noFill/>
          <a:ln/>
        </p:spPr>
        <p:txBody>
          <a:bodyPr wrap="square" lIns="0" tIns="0" rIns="0" bIns="0" rtlCol="0" anchor="ctr">
            <a:noAutofit/>
          </a:bodyPr>
          <a:lstStyle/>
          <a:p>
            <a:r>
              <a:rPr lang="en-US" sz="1400">
                <a:solidFill>
                  <a:srgbClr val="6E777B"/>
                </a:solidFill>
              </a:rPr>
              <a:t>Confidence bands are better than false precision.</a:t>
            </a:r>
            <a:endParaRPr lang="en-US" sz="1400"/>
          </a:p>
        </p:txBody>
      </p:sp>
      <p:sp>
        <p:nvSpPr>
          <p:cNvPr id="26" name="Shape 23"/>
          <p:cNvSpPr/>
          <p:nvPr/>
        </p:nvSpPr>
        <p:spPr>
          <a:xfrm>
            <a:off x="514350" y="3282656"/>
            <a:ext cx="5795010" cy="507492"/>
          </a:xfrm>
          <a:prstGeom prst="roundRect">
            <a:avLst>
              <a:gd name="adj" fmla="val 4054"/>
            </a:avLst>
          </a:prstGeom>
          <a:solidFill>
            <a:srgbClr val="FFFFFF"/>
          </a:solidFill>
          <a:ln w="10160">
            <a:solidFill>
              <a:srgbClr val="DAD7D0"/>
            </a:solidFill>
            <a:prstDash val="solid"/>
          </a:ln>
        </p:spPr>
        <p:txBody>
          <a:bodyPr/>
          <a:lstStyle/>
          <a:p>
            <a:endParaRPr lang="en-US" sz="1350"/>
          </a:p>
        </p:txBody>
      </p:sp>
      <p:sp>
        <p:nvSpPr>
          <p:cNvPr id="27" name="Shape 24"/>
          <p:cNvSpPr/>
          <p:nvPr/>
        </p:nvSpPr>
        <p:spPr>
          <a:xfrm>
            <a:off x="630936" y="3364952"/>
            <a:ext cx="288036" cy="288036"/>
          </a:xfrm>
          <a:prstGeom prst="ellipse">
            <a:avLst/>
          </a:prstGeom>
          <a:solidFill>
            <a:srgbClr val="6D5BC0"/>
          </a:solidFill>
          <a:ln w="12700">
            <a:solidFill>
              <a:srgbClr val="6D5BC0"/>
            </a:solidFill>
            <a:prstDash val="solid"/>
          </a:ln>
        </p:spPr>
        <p:txBody>
          <a:bodyPr/>
          <a:lstStyle/>
          <a:p>
            <a:endParaRPr lang="en-US" sz="1350"/>
          </a:p>
        </p:txBody>
      </p:sp>
      <p:sp>
        <p:nvSpPr>
          <p:cNvPr id="28" name="Text 25"/>
          <p:cNvSpPr/>
          <p:nvPr/>
        </p:nvSpPr>
        <p:spPr>
          <a:xfrm>
            <a:off x="720090" y="3443044"/>
            <a:ext cx="109728" cy="137160"/>
          </a:xfrm>
          <a:prstGeom prst="rect">
            <a:avLst/>
          </a:prstGeom>
          <a:noFill/>
          <a:ln/>
        </p:spPr>
        <p:txBody>
          <a:bodyPr wrap="square" lIns="0" tIns="0" rIns="0" bIns="0" rtlCol="0" anchor="ctr"/>
          <a:lstStyle/>
          <a:p>
            <a:pPr algn="ctr"/>
            <a:r>
              <a:rPr lang="en-US" sz="1400" b="1">
                <a:solidFill>
                  <a:srgbClr val="FFFFFF"/>
                </a:solidFill>
              </a:rPr>
              <a:t>5</a:t>
            </a:r>
            <a:endParaRPr lang="en-US" sz="1400"/>
          </a:p>
        </p:txBody>
      </p:sp>
      <p:sp>
        <p:nvSpPr>
          <p:cNvPr id="29" name="Text 26"/>
          <p:cNvSpPr/>
          <p:nvPr/>
        </p:nvSpPr>
        <p:spPr>
          <a:xfrm>
            <a:off x="1062990" y="3334091"/>
            <a:ext cx="1152144" cy="404622"/>
          </a:xfrm>
          <a:prstGeom prst="rect">
            <a:avLst/>
          </a:prstGeom>
          <a:noFill/>
          <a:ln/>
        </p:spPr>
        <p:txBody>
          <a:bodyPr wrap="square" lIns="0" tIns="0" rIns="0" bIns="0" rtlCol="0" anchor="ctr"/>
          <a:lstStyle/>
          <a:p>
            <a:r>
              <a:rPr lang="en-US" sz="1400" b="1">
                <a:solidFill>
                  <a:srgbClr val="102A30"/>
                </a:solidFill>
              </a:rPr>
              <a:t>Label the value type</a:t>
            </a:r>
            <a:endParaRPr lang="en-US" sz="1400"/>
          </a:p>
        </p:txBody>
      </p:sp>
      <p:sp>
        <p:nvSpPr>
          <p:cNvPr id="30" name="Text 27"/>
          <p:cNvSpPr/>
          <p:nvPr/>
        </p:nvSpPr>
        <p:spPr>
          <a:xfrm>
            <a:off x="2359152" y="3392384"/>
            <a:ext cx="3840480" cy="246888"/>
          </a:xfrm>
          <a:prstGeom prst="rect">
            <a:avLst/>
          </a:prstGeom>
          <a:noFill/>
          <a:ln/>
        </p:spPr>
        <p:txBody>
          <a:bodyPr wrap="square" lIns="0" tIns="0" rIns="0" bIns="0" rtlCol="0" anchor="ctr">
            <a:noAutofit/>
          </a:bodyPr>
          <a:lstStyle/>
          <a:p>
            <a:r>
              <a:rPr lang="en-US" sz="1400">
                <a:solidFill>
                  <a:srgbClr val="6E777B"/>
                </a:solidFill>
              </a:rPr>
              <a:t>Economic value, avoided cost, and realized cash are not the same thing.</a:t>
            </a:r>
            <a:endParaRPr lang="en-US" sz="1400"/>
          </a:p>
        </p:txBody>
      </p:sp>
      <p:sp>
        <p:nvSpPr>
          <p:cNvPr id="31" name="Shape 28"/>
          <p:cNvSpPr/>
          <p:nvPr/>
        </p:nvSpPr>
        <p:spPr>
          <a:xfrm>
            <a:off x="6960869" y="1047872"/>
            <a:ext cx="1998775" cy="2401701"/>
          </a:xfrm>
          <a:prstGeom prst="roundRect">
            <a:avLst>
              <a:gd name="adj" fmla="val 3243"/>
            </a:avLst>
          </a:prstGeom>
          <a:solidFill>
            <a:srgbClr val="0A3A43"/>
          </a:solidFill>
          <a:ln w="12700">
            <a:solidFill>
              <a:srgbClr val="0A3A43"/>
            </a:solidFill>
            <a:prstDash val="solid"/>
          </a:ln>
        </p:spPr>
        <p:txBody>
          <a:bodyPr/>
          <a:lstStyle/>
          <a:p>
            <a:endParaRPr lang="en-US" sz="1350"/>
          </a:p>
        </p:txBody>
      </p:sp>
      <p:sp>
        <p:nvSpPr>
          <p:cNvPr id="32" name="Text 29"/>
          <p:cNvSpPr/>
          <p:nvPr/>
        </p:nvSpPr>
        <p:spPr>
          <a:xfrm>
            <a:off x="7091172" y="1228762"/>
            <a:ext cx="1762506" cy="754380"/>
          </a:xfrm>
          <a:prstGeom prst="rect">
            <a:avLst/>
          </a:prstGeom>
          <a:noFill/>
          <a:ln/>
        </p:spPr>
        <p:txBody>
          <a:bodyPr wrap="square" lIns="0" tIns="0" rIns="0" bIns="0" rtlCol="0" anchor="ctr"/>
          <a:lstStyle/>
          <a:p>
            <a:pPr algn="ctr"/>
            <a:r>
              <a:rPr lang="en-US" b="1">
                <a:solidFill>
                  <a:srgbClr val="F4A53D"/>
                </a:solidFill>
              </a:rPr>
              <a:t>Credibility</a:t>
            </a:r>
            <a:endParaRPr lang="en-US"/>
          </a:p>
          <a:p>
            <a:pPr algn="ctr"/>
            <a:r>
              <a:rPr lang="en-US" b="1">
                <a:solidFill>
                  <a:srgbClr val="F4A53D"/>
                </a:solidFill>
              </a:rPr>
              <a:t>beats</a:t>
            </a:r>
            <a:endParaRPr lang="en-US"/>
          </a:p>
          <a:p>
            <a:pPr algn="ctr"/>
            <a:r>
              <a:rPr lang="en-US" b="1">
                <a:solidFill>
                  <a:srgbClr val="F4A53D"/>
                </a:solidFill>
              </a:rPr>
              <a:t>precision</a:t>
            </a:r>
            <a:endParaRPr lang="en-US"/>
          </a:p>
        </p:txBody>
      </p:sp>
      <p:sp>
        <p:nvSpPr>
          <p:cNvPr id="33" name="Text 30"/>
          <p:cNvSpPr/>
          <p:nvPr/>
        </p:nvSpPr>
        <p:spPr>
          <a:xfrm>
            <a:off x="7024473" y="2414016"/>
            <a:ext cx="1895904" cy="720090"/>
          </a:xfrm>
          <a:prstGeom prst="rect">
            <a:avLst/>
          </a:prstGeom>
          <a:noFill/>
          <a:ln/>
        </p:spPr>
        <p:txBody>
          <a:bodyPr wrap="square" lIns="0" tIns="0" rIns="0" bIns="0" rtlCol="0" anchor="ctr"/>
          <a:lstStyle/>
          <a:p>
            <a:pPr algn="ctr"/>
            <a:r>
              <a:rPr lang="en-US" sz="1200">
                <a:solidFill>
                  <a:srgbClr val="FFFFFF"/>
                </a:solidFill>
              </a:rPr>
              <a:t>The model is useful because leaders can trust the logic, not because the spreadsheet has six decimal places.</a:t>
            </a:r>
            <a:endParaRPr lang="en-US" sz="1200"/>
          </a:p>
        </p:txBody>
      </p:sp>
      <p:sp>
        <p:nvSpPr>
          <p:cNvPr id="36" name="Shape 28">
            <a:extLst>
              <a:ext uri="{FF2B5EF4-FFF2-40B4-BE49-F238E27FC236}">
                <a16:creationId xmlns:a16="http://schemas.microsoft.com/office/drawing/2014/main" id="{27729FAB-C0AC-A829-AD9A-70213417CA45}"/>
              </a:ext>
            </a:extLst>
          </p:cNvPr>
          <p:cNvSpPr/>
          <p:nvPr/>
        </p:nvSpPr>
        <p:spPr>
          <a:xfrm>
            <a:off x="356616" y="4030428"/>
            <a:ext cx="5952744" cy="657861"/>
          </a:xfrm>
          <a:prstGeom prst="roundRect">
            <a:avLst>
              <a:gd name="adj" fmla="val 3243"/>
            </a:avLst>
          </a:prstGeom>
          <a:solidFill>
            <a:srgbClr val="0A3A43"/>
          </a:solidFill>
          <a:ln w="12700">
            <a:solidFill>
              <a:srgbClr val="0A3A43"/>
            </a:solidFill>
            <a:prstDash val="solid"/>
          </a:ln>
        </p:spPr>
        <p:txBody>
          <a:bodyPr/>
          <a:lstStyle/>
          <a:p>
            <a:endParaRPr lang="en-US" sz="1350"/>
          </a:p>
        </p:txBody>
      </p:sp>
      <p:sp>
        <p:nvSpPr>
          <p:cNvPr id="37" name="Text 29">
            <a:extLst>
              <a:ext uri="{FF2B5EF4-FFF2-40B4-BE49-F238E27FC236}">
                <a16:creationId xmlns:a16="http://schemas.microsoft.com/office/drawing/2014/main" id="{55E0F5B1-F88D-B59E-83D7-229243A93399}"/>
              </a:ext>
            </a:extLst>
          </p:cNvPr>
          <p:cNvSpPr/>
          <p:nvPr/>
        </p:nvSpPr>
        <p:spPr>
          <a:xfrm>
            <a:off x="356616" y="3991982"/>
            <a:ext cx="5610075" cy="754380"/>
          </a:xfrm>
          <a:prstGeom prst="rect">
            <a:avLst/>
          </a:prstGeom>
          <a:noFill/>
          <a:ln/>
        </p:spPr>
        <p:txBody>
          <a:bodyPr wrap="square" lIns="0" tIns="0" rIns="0" bIns="0" rtlCol="0" anchor="ctr"/>
          <a:lstStyle/>
          <a:p>
            <a:pPr algn="ctr"/>
            <a:r>
              <a:rPr lang="en-US" sz="1600" b="1">
                <a:solidFill>
                  <a:srgbClr val="FFC000"/>
                </a:solidFill>
              </a:rPr>
              <a:t>Finance shouldn't be the audience for the value model. </a:t>
            </a:r>
            <a:br>
              <a:rPr lang="en-US" sz="1600" b="1">
                <a:solidFill>
                  <a:srgbClr val="FFC000"/>
                </a:solidFill>
              </a:rPr>
            </a:br>
            <a:r>
              <a:rPr lang="en-US" sz="1600" b="1">
                <a:solidFill>
                  <a:srgbClr val="FFC000"/>
                </a:solidFill>
              </a:rPr>
              <a:t>Finance should be one of its co-authors.</a:t>
            </a:r>
            <a:endParaRPr lang="en-US" sz="1600">
              <a:solidFill>
                <a:srgbClr val="FFC000"/>
              </a:solidFill>
            </a:endParaRPr>
          </a:p>
        </p:txBody>
      </p:sp>
      <p:sp>
        <p:nvSpPr>
          <p:cNvPr id="39" name="Rectangle 38">
            <a:extLst>
              <a:ext uri="{FF2B5EF4-FFF2-40B4-BE49-F238E27FC236}">
                <a16:creationId xmlns:a16="http://schemas.microsoft.com/office/drawing/2014/main" id="{CE32EA4F-CCE9-4302-9517-CF4FC0012B00}"/>
              </a:ext>
            </a:extLst>
          </p:cNvPr>
          <p:cNvSpPr/>
          <p:nvPr/>
        </p:nvSpPr>
        <p:spPr>
          <a:xfrm>
            <a:off x="8382000" y="4762500"/>
            <a:ext cx="304800" cy="3810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t"/>
          <a:lstStyle/>
          <a:p>
            <a:pPr algn="ctr"/>
            <a:endParaRPr lang="en-US"/>
          </a:p>
        </p:txBody>
      </p:sp>
      <p:sp>
        <p:nvSpPr>
          <p:cNvPr id="40" name="BP_PageNumber">
            <a:extLst>
              <a:ext uri="{FF2B5EF4-FFF2-40B4-BE49-F238E27FC236}">
                <a16:creationId xmlns:a16="http://schemas.microsoft.com/office/drawing/2014/main" id="{16D7345A-2CC9-4DEE-A12E-79ABCF32C4D4}"/>
              </a:ext>
            </a:extLst>
          </p:cNvPr>
          <p:cNvSpPr/>
          <p:nvPr/>
        </p:nvSpPr>
        <p:spPr>
          <a:xfrm>
            <a:off x="8686800" y="4838700"/>
            <a:ext cx="457200" cy="3048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wrap="none" rtlCol="0" anchor="ctr" anchorCtr="0">
            <a:noAutofit/>
          </a:bodyPr>
          <a:lstStyle/>
          <a:p>
            <a:pPr algn="ctr"/>
            <a:r>
              <a:rPr lang="en-US" sz="800" b="1">
                <a:solidFill>
                  <a:srgbClr val="FFFFFF"/>
                </a:solidFill>
              </a:rPr>
              <a:t>8</a:t>
            </a:r>
          </a:p>
        </p:txBody>
      </p:sp>
    </p:spTree>
    <p:extLst>
      <p:ext uri="{BB962C8B-B14F-4D97-AF65-F5344CB8AC3E}">
        <p14:creationId xmlns:p14="http://schemas.microsoft.com/office/powerpoint/2010/main" val="3669031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664D1E-9BE8-4295-B303-73BF34DDA7CC}"/>
              </a:ext>
            </a:extLst>
          </p:cNvPr>
          <p:cNvSpPr/>
          <p:nvPr/>
        </p:nvSpPr>
        <p:spPr>
          <a:xfrm>
            <a:off x="577270" y="219361"/>
            <a:ext cx="7975600" cy="4178300"/>
          </a:xfrm>
          <a:prstGeom prst="rect">
            <a:avLst/>
          </a:prstGeom>
          <a:solidFill>
            <a:srgbClr val="F6F8FA"/>
          </a:solidFill>
          <a:ln w="9525" cap="flat" cmpd="sng" algn="ctr">
            <a:solidFill>
              <a:srgbClr val="C9D5DB"/>
            </a:solid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t"/>
          <a:lstStyle/>
          <a:p>
            <a:pPr algn="ctr"/>
            <a:endParaRPr lang="en-US"/>
          </a:p>
        </p:txBody>
      </p:sp>
      <p:sp>
        <p:nvSpPr>
          <p:cNvPr id="4" name="Shape 1"/>
          <p:cNvSpPr/>
          <p:nvPr/>
        </p:nvSpPr>
        <p:spPr>
          <a:xfrm>
            <a:off x="579425" y="4472660"/>
            <a:ext cx="7973618" cy="383994"/>
          </a:xfrm>
          <a:prstGeom prst="roundRect">
            <a:avLst>
              <a:gd name="adj" fmla="val 8824"/>
            </a:avLst>
          </a:prstGeom>
          <a:solidFill>
            <a:srgbClr val="0A3A43">
              <a:alpha val="95000"/>
            </a:srgbClr>
          </a:solidFill>
          <a:ln w="12700">
            <a:solidFill>
              <a:srgbClr val="0A3A43">
                <a:alpha val="0"/>
              </a:srgbClr>
            </a:solidFill>
            <a:prstDash val="solid"/>
          </a:ln>
        </p:spPr>
        <p:txBody>
          <a:bodyPr/>
          <a:lstStyle/>
          <a:p>
            <a:endParaRPr lang="en-US" sz="1350">
              <a:solidFill>
                <a:schemeClr val="bg1"/>
              </a:solidFill>
            </a:endParaRPr>
          </a:p>
        </p:txBody>
      </p:sp>
      <p:sp>
        <p:nvSpPr>
          <p:cNvPr id="5" name="Text 2"/>
          <p:cNvSpPr/>
          <p:nvPr/>
        </p:nvSpPr>
        <p:spPr>
          <a:xfrm>
            <a:off x="729670" y="4602550"/>
            <a:ext cx="7620000" cy="164592"/>
          </a:xfrm>
          <a:prstGeom prst="rect">
            <a:avLst/>
          </a:prstGeom>
          <a:noFill/>
          <a:ln/>
        </p:spPr>
        <p:txBody>
          <a:bodyPr wrap="square" lIns="0" tIns="0" rIns="0" bIns="0" rtlCol="0" anchor="ctr"/>
          <a:lstStyle/>
          <a:p>
            <a:pPr algn="ctr"/>
            <a:r>
              <a:rPr lang="en-US" sz="1100">
                <a:solidFill>
                  <a:schemeClr val="bg1"/>
                </a:solidFill>
              </a:rPr>
              <a:t>Executive view: the value drivers and delivery improvements that matter most.</a:t>
            </a:r>
          </a:p>
        </p:txBody>
      </p:sp>
      <p:sp>
        <p:nvSpPr>
          <p:cNvPr id="7" name="TextBox 6">
            <a:extLst>
              <a:ext uri="{FF2B5EF4-FFF2-40B4-BE49-F238E27FC236}">
                <a16:creationId xmlns:a16="http://schemas.microsoft.com/office/drawing/2014/main" id="{1F56C84D-54EC-4C3A-A9C8-C966AEE8E26C}"/>
              </a:ext>
            </a:extLst>
          </p:cNvPr>
          <p:cNvSpPr txBox="1"/>
          <p:nvPr/>
        </p:nvSpPr>
        <p:spPr>
          <a:xfrm>
            <a:off x="755070" y="346361"/>
            <a:ext cx="7620000" cy="276999"/>
          </a:xfrm>
          <a:prstGeom prst="rect">
            <a:avLst/>
          </a:prstGeom>
          <a:noFill/>
        </p:spPr>
        <p:txBody>
          <a:bodyPr vertOverflow="overflow" vert="horz" wrap="square" rtlCol="0" anchor="t">
            <a:spAutoFit/>
          </a:bodyPr>
          <a:lstStyle/>
          <a:p>
            <a:pPr algn="l"/>
            <a:r>
              <a:rPr lang="en-US" sz="1200" b="1">
                <a:solidFill>
                  <a:srgbClr val="60727A"/>
                </a:solidFill>
                <a:latin typeface="Arial"/>
                <a:cs typeface="Arial"/>
              </a:rPr>
              <a:t>ILLUSTRATIVE • ASSUMED BASELINE • 12-MONTH VIEW</a:t>
            </a:r>
          </a:p>
        </p:txBody>
      </p:sp>
      <p:sp>
        <p:nvSpPr>
          <p:cNvPr id="8" name="Rectangle 7">
            <a:extLst>
              <a:ext uri="{FF2B5EF4-FFF2-40B4-BE49-F238E27FC236}">
                <a16:creationId xmlns:a16="http://schemas.microsoft.com/office/drawing/2014/main" id="{FFF92E82-705C-45E3-8F15-460F1C2C8D26}"/>
              </a:ext>
            </a:extLst>
          </p:cNvPr>
          <p:cNvSpPr/>
          <p:nvPr/>
        </p:nvSpPr>
        <p:spPr>
          <a:xfrm>
            <a:off x="755070" y="651161"/>
            <a:ext cx="2387600" cy="1168400"/>
          </a:xfrm>
          <a:prstGeom prst="rect">
            <a:avLst/>
          </a:prstGeom>
          <a:solidFill>
            <a:srgbClr val="0B4A5A"/>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ctr" anchorCtr="0"/>
          <a:lstStyle/>
          <a:p>
            <a:pPr algn="ctr"/>
            <a:r>
              <a:rPr lang="en-US" sz="1100">
                <a:solidFill>
                  <a:srgbClr val="FFFFFF"/>
                </a:solidFill>
                <a:latin typeface="Arial"/>
                <a:cs typeface="Arial"/>
              </a:rPr>
              <a:t>TOTAL ESTIMATED VALUE
Realized over 12 months</a:t>
            </a:r>
          </a:p>
        </p:txBody>
      </p:sp>
      <p:sp>
        <p:nvSpPr>
          <p:cNvPr id="10" name="TextBox 9">
            <a:extLst>
              <a:ext uri="{FF2B5EF4-FFF2-40B4-BE49-F238E27FC236}">
                <a16:creationId xmlns:a16="http://schemas.microsoft.com/office/drawing/2014/main" id="{689D9BD9-6766-4E67-BD92-6A3D89FD6CD7}"/>
              </a:ext>
            </a:extLst>
          </p:cNvPr>
          <p:cNvSpPr txBox="1"/>
          <p:nvPr/>
        </p:nvSpPr>
        <p:spPr>
          <a:xfrm>
            <a:off x="907470" y="981361"/>
            <a:ext cx="2032000" cy="431800"/>
          </a:xfrm>
          <a:prstGeom prst="rect">
            <a:avLst/>
          </a:prstGeom>
          <a:noFill/>
        </p:spPr>
        <p:txBody>
          <a:bodyPr vertOverflow="overflow" vert="horz" wrap="square" rtlCol="0" anchor="t">
            <a:spAutoFit/>
          </a:bodyPr>
          <a:lstStyle/>
          <a:p>
            <a:pPr algn="l"/>
            <a:r>
              <a:rPr lang="en-US" sz="2500" b="1">
                <a:solidFill>
                  <a:srgbClr val="FFFFFF"/>
                </a:solidFill>
                <a:latin typeface="Arial"/>
                <a:cs typeface="Arial"/>
              </a:rPr>
              <a:t>$8.35M</a:t>
            </a:r>
          </a:p>
        </p:txBody>
      </p:sp>
      <p:sp>
        <p:nvSpPr>
          <p:cNvPr id="11" name="Rectangle 10">
            <a:extLst>
              <a:ext uri="{FF2B5EF4-FFF2-40B4-BE49-F238E27FC236}">
                <a16:creationId xmlns:a16="http://schemas.microsoft.com/office/drawing/2014/main" id="{4AAB82A7-A724-433C-9D9B-1D841191A412}"/>
              </a:ext>
            </a:extLst>
          </p:cNvPr>
          <p:cNvSpPr/>
          <p:nvPr/>
        </p:nvSpPr>
        <p:spPr>
          <a:xfrm>
            <a:off x="3295070" y="651161"/>
            <a:ext cx="5080000" cy="1168400"/>
          </a:xfrm>
          <a:prstGeom prst="rect">
            <a:avLst/>
          </a:prstGeom>
          <a:solidFill>
            <a:srgbClr val="E8F1F3"/>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t"/>
          <a:lstStyle/>
          <a:p>
            <a:pPr algn="ctr"/>
            <a:endParaRPr lang="en-US"/>
          </a:p>
        </p:txBody>
      </p:sp>
      <p:sp>
        <p:nvSpPr>
          <p:cNvPr id="12" name="TextBox 11">
            <a:extLst>
              <a:ext uri="{FF2B5EF4-FFF2-40B4-BE49-F238E27FC236}">
                <a16:creationId xmlns:a16="http://schemas.microsoft.com/office/drawing/2014/main" id="{3BDCAF28-D530-44D4-A439-572D61DE3F90}"/>
              </a:ext>
            </a:extLst>
          </p:cNvPr>
          <p:cNvSpPr txBox="1"/>
          <p:nvPr/>
        </p:nvSpPr>
        <p:spPr>
          <a:xfrm>
            <a:off x="3569854" y="952508"/>
            <a:ext cx="4572000" cy="523220"/>
          </a:xfrm>
          <a:prstGeom prst="rect">
            <a:avLst/>
          </a:prstGeom>
          <a:noFill/>
        </p:spPr>
        <p:txBody>
          <a:bodyPr vertOverflow="overflow" vert="horz" wrap="square" rtlCol="0" anchor="t">
            <a:spAutoFit/>
          </a:bodyPr>
          <a:lstStyle/>
          <a:p>
            <a:pPr algn="ctr"/>
            <a:r>
              <a:rPr lang="en-US" sz="1400" b="1">
                <a:solidFill>
                  <a:srgbClr val="153B46"/>
                </a:solidFill>
                <a:latin typeface="Arial"/>
                <a:cs typeface="Arial"/>
              </a:rPr>
              <a:t>Recovered engineering capacity contributes $4.50M, more than half of the formula-derived total.</a:t>
            </a:r>
          </a:p>
        </p:txBody>
      </p:sp>
      <p:sp>
        <p:nvSpPr>
          <p:cNvPr id="13" name="TextBox 12">
            <a:extLst>
              <a:ext uri="{FF2B5EF4-FFF2-40B4-BE49-F238E27FC236}">
                <a16:creationId xmlns:a16="http://schemas.microsoft.com/office/drawing/2014/main" id="{8D8ABFAF-537D-4C5F-AE90-798FFEB667AA}"/>
              </a:ext>
            </a:extLst>
          </p:cNvPr>
          <p:cNvSpPr txBox="1"/>
          <p:nvPr/>
        </p:nvSpPr>
        <p:spPr>
          <a:xfrm>
            <a:off x="755070" y="2022761"/>
            <a:ext cx="4191000" cy="228600"/>
          </a:xfrm>
          <a:prstGeom prst="rect">
            <a:avLst/>
          </a:prstGeom>
          <a:noFill/>
        </p:spPr>
        <p:txBody>
          <a:bodyPr vertOverflow="overflow" vert="horz" wrap="square" rtlCol="0" anchor="t">
            <a:spAutoFit/>
          </a:bodyPr>
          <a:lstStyle/>
          <a:p>
            <a:pPr algn="l"/>
            <a:r>
              <a:rPr lang="en-US" sz="1000" b="1">
                <a:solidFill>
                  <a:srgbClr val="0B4A5A"/>
                </a:solidFill>
                <a:latin typeface="Arial"/>
                <a:cs typeface="Arial"/>
              </a:rPr>
              <a:t>VALUE DRIVERS</a:t>
            </a:r>
          </a:p>
        </p:txBody>
      </p:sp>
      <p:sp>
        <p:nvSpPr>
          <p:cNvPr id="14" name="TextBox 13">
            <a:extLst>
              <a:ext uri="{FF2B5EF4-FFF2-40B4-BE49-F238E27FC236}">
                <a16:creationId xmlns:a16="http://schemas.microsoft.com/office/drawing/2014/main" id="{F32EE7E6-CD86-448A-B845-DE9A3FCF8F91}"/>
              </a:ext>
            </a:extLst>
          </p:cNvPr>
          <p:cNvSpPr txBox="1"/>
          <p:nvPr/>
        </p:nvSpPr>
        <p:spPr>
          <a:xfrm>
            <a:off x="5327070" y="2022761"/>
            <a:ext cx="3048000" cy="228600"/>
          </a:xfrm>
          <a:prstGeom prst="rect">
            <a:avLst/>
          </a:prstGeom>
          <a:noFill/>
        </p:spPr>
        <p:txBody>
          <a:bodyPr vertOverflow="overflow" vert="horz" wrap="square" rtlCol="0" anchor="t">
            <a:spAutoFit/>
          </a:bodyPr>
          <a:lstStyle/>
          <a:p>
            <a:pPr algn="l"/>
            <a:r>
              <a:rPr lang="en-US" sz="1000" b="1">
                <a:solidFill>
                  <a:srgbClr val="0B4A5A"/>
                </a:solidFill>
                <a:latin typeface="Arial"/>
                <a:cs typeface="Arial"/>
              </a:rPr>
              <a:t>DELIVERY OUTCOMES VS. BASELINE</a:t>
            </a:r>
          </a:p>
        </p:txBody>
      </p:sp>
      <p:graphicFrame>
        <p:nvGraphicFramePr>
          <p:cNvPr id="16" name="Table 15">
            <a:extLst>
              <a:ext uri="{FF2B5EF4-FFF2-40B4-BE49-F238E27FC236}">
                <a16:creationId xmlns:a16="http://schemas.microsoft.com/office/drawing/2014/main" id="{BF7D29FA-4F4F-406C-84E5-EC061256F0F5}"/>
              </a:ext>
            </a:extLst>
          </p:cNvPr>
          <p:cNvGraphicFramePr>
            <a:graphicFrameLocks noGrp="1"/>
          </p:cNvGraphicFramePr>
          <p:nvPr/>
        </p:nvGraphicFramePr>
        <p:xfrm>
          <a:off x="755070" y="2302161"/>
          <a:ext cx="4191000" cy="1854198"/>
        </p:xfrm>
        <a:graphic>
          <a:graphicData uri="http://schemas.openxmlformats.org/drawingml/2006/table">
            <a:tbl>
              <a:tblPr/>
              <a:tblGrid>
                <a:gridCol w="2893294">
                  <a:extLst>
                    <a:ext uri="{9D8B030D-6E8A-4147-A177-3AD203B41FA5}">
                      <a16:colId xmlns:a16="http://schemas.microsoft.com/office/drawing/2014/main" val="3625758697"/>
                    </a:ext>
                  </a:extLst>
                </a:gridCol>
                <a:gridCol w="1297706">
                  <a:extLst>
                    <a:ext uri="{9D8B030D-6E8A-4147-A177-3AD203B41FA5}">
                      <a16:colId xmlns:a16="http://schemas.microsoft.com/office/drawing/2014/main" val="1686478184"/>
                    </a:ext>
                  </a:extLst>
                </a:gridCol>
              </a:tblGrid>
              <a:tr h="309033">
                <a:tc>
                  <a:txBody>
                    <a:bodyPr/>
                    <a:lstStyle/>
                    <a:p>
                      <a:pPr algn="l"/>
                      <a:r>
                        <a:rPr lang="en-US" sz="900" b="1">
                          <a:solidFill>
                            <a:srgbClr val="FFFFFF"/>
                          </a:solidFill>
                          <a:latin typeface="Arial"/>
                          <a:cs typeface="Arial"/>
                        </a:rPr>
                        <a:t>Driver</a:t>
                      </a:r>
                    </a:p>
                  </a:txBody>
                  <a:tcPr marT="27517" marB="27517" anchor="ctr">
                    <a:lnL w="0"/>
                    <a:lnR w="0"/>
                    <a:lnT w="0"/>
                    <a:lnB w="0"/>
                    <a:lnTlToBr w="0"/>
                    <a:lnBlToTr w="0"/>
                    <a:solidFill>
                      <a:srgbClr val="0B4A5A"/>
                    </a:solidFill>
                  </a:tcPr>
                </a:tc>
                <a:tc>
                  <a:txBody>
                    <a:bodyPr/>
                    <a:lstStyle/>
                    <a:p>
                      <a:pPr algn="r"/>
                      <a:r>
                        <a:rPr lang="en-US" sz="900" b="1">
                          <a:solidFill>
                            <a:srgbClr val="FFFFFF"/>
                          </a:solidFill>
                          <a:latin typeface="Arial"/>
                          <a:cs typeface="Arial"/>
                        </a:rPr>
                        <a:t>Est. value</a:t>
                      </a:r>
                    </a:p>
                  </a:txBody>
                  <a:tcPr marT="27517" marB="27517" anchor="ctr">
                    <a:lnL w="0"/>
                    <a:lnR w="0"/>
                    <a:lnT w="0"/>
                    <a:lnB w="0"/>
                    <a:lnTlToBr w="0"/>
                    <a:lnBlToTr w="0"/>
                    <a:solidFill>
                      <a:srgbClr val="0B4A5A"/>
                    </a:solidFill>
                  </a:tcPr>
                </a:tc>
                <a:extLst>
                  <a:ext uri="{0D108BD9-81ED-4DB2-BD59-A6C34878D82A}">
                    <a16:rowId xmlns:a16="http://schemas.microsoft.com/office/drawing/2014/main" val="1436399759"/>
                  </a:ext>
                </a:extLst>
              </a:tr>
              <a:tr h="309033">
                <a:tc>
                  <a:txBody>
                    <a:bodyPr/>
                    <a:lstStyle/>
                    <a:p>
                      <a:pPr algn="l"/>
                      <a:r>
                        <a:rPr lang="en-US" sz="1200" b="0">
                          <a:solidFill>
                            <a:srgbClr val="243941"/>
                          </a:solidFill>
                          <a:latin typeface="Arial"/>
                          <a:cs typeface="Arial"/>
                        </a:rPr>
                        <a:t>Engineering capacity recovered</a:t>
                      </a:r>
                    </a:p>
                  </a:txBody>
                  <a:tcPr marT="27517" marB="27517" anchor="ctr">
                    <a:lnL w="0"/>
                    <a:lnR w="0"/>
                    <a:lnT w="0"/>
                    <a:lnB w="0"/>
                    <a:lnTlToBr w="0"/>
                    <a:lnBlToTr w="0"/>
                    <a:solidFill>
                      <a:srgbClr val="FFFFFF"/>
                    </a:solidFill>
                  </a:tcPr>
                </a:tc>
                <a:tc>
                  <a:txBody>
                    <a:bodyPr/>
                    <a:lstStyle/>
                    <a:p>
                      <a:pPr algn="r"/>
                      <a:r>
                        <a:rPr lang="en-US" sz="1200" b="1">
                          <a:solidFill>
                            <a:srgbClr val="243941"/>
                          </a:solidFill>
                          <a:latin typeface="Arial"/>
                          <a:cs typeface="Arial"/>
                        </a:rPr>
                        <a:t>$4.50M</a:t>
                      </a:r>
                    </a:p>
                  </a:txBody>
                  <a:tcPr marT="27517" marB="27517" anchor="ctr">
                    <a:lnL w="0"/>
                    <a:lnR w="0"/>
                    <a:lnT w="0"/>
                    <a:lnB w="0"/>
                    <a:lnTlToBr w="0"/>
                    <a:lnBlToTr w="0"/>
                    <a:solidFill>
                      <a:srgbClr val="FFFFFF"/>
                    </a:solidFill>
                  </a:tcPr>
                </a:tc>
                <a:extLst>
                  <a:ext uri="{0D108BD9-81ED-4DB2-BD59-A6C34878D82A}">
                    <a16:rowId xmlns:a16="http://schemas.microsoft.com/office/drawing/2014/main" val="751064829"/>
                  </a:ext>
                </a:extLst>
              </a:tr>
              <a:tr h="309033">
                <a:tc>
                  <a:txBody>
                    <a:bodyPr/>
                    <a:lstStyle/>
                    <a:p>
                      <a:pPr algn="l"/>
                      <a:r>
                        <a:rPr lang="en-US" sz="1200" b="0">
                          <a:solidFill>
                            <a:srgbClr val="243941"/>
                          </a:solidFill>
                          <a:latin typeface="Arial"/>
                          <a:cs typeface="Arial"/>
                        </a:rPr>
                        <a:t>Earlier value realization</a:t>
                      </a:r>
                    </a:p>
                  </a:txBody>
                  <a:tcPr marT="27517" marB="27517" anchor="ctr">
                    <a:lnL w="0"/>
                    <a:lnR w="0"/>
                    <a:lnT w="0"/>
                    <a:lnB w="0"/>
                    <a:lnTlToBr w="0"/>
                    <a:lnBlToTr w="0"/>
                    <a:solidFill>
                      <a:srgbClr val="EEF3F5"/>
                    </a:solidFill>
                  </a:tcPr>
                </a:tc>
                <a:tc>
                  <a:txBody>
                    <a:bodyPr/>
                    <a:lstStyle/>
                    <a:p>
                      <a:pPr algn="r"/>
                      <a:r>
                        <a:rPr lang="en-US" sz="1200" b="1">
                          <a:solidFill>
                            <a:srgbClr val="243941"/>
                          </a:solidFill>
                          <a:latin typeface="Arial"/>
                          <a:cs typeface="Arial"/>
                        </a:rPr>
                        <a:t>$1.50M</a:t>
                      </a:r>
                    </a:p>
                  </a:txBody>
                  <a:tcPr marT="27517" marB="27517" anchor="ctr">
                    <a:lnL w="0"/>
                    <a:lnR w="0"/>
                    <a:lnT w="0"/>
                    <a:lnB w="0"/>
                    <a:lnTlToBr w="0"/>
                    <a:lnBlToTr w="0"/>
                    <a:solidFill>
                      <a:srgbClr val="EEF3F5"/>
                    </a:solidFill>
                  </a:tcPr>
                </a:tc>
                <a:extLst>
                  <a:ext uri="{0D108BD9-81ED-4DB2-BD59-A6C34878D82A}">
                    <a16:rowId xmlns:a16="http://schemas.microsoft.com/office/drawing/2014/main" val="440569111"/>
                  </a:ext>
                </a:extLst>
              </a:tr>
              <a:tr h="309033">
                <a:tc>
                  <a:txBody>
                    <a:bodyPr/>
                    <a:lstStyle/>
                    <a:p>
                      <a:pPr algn="l"/>
                      <a:r>
                        <a:rPr lang="en-US" sz="1200" b="0">
                          <a:solidFill>
                            <a:srgbClr val="243941"/>
                          </a:solidFill>
                          <a:latin typeface="Arial"/>
                          <a:cs typeface="Arial"/>
                        </a:rPr>
                        <a:t>Reduced unplanned work</a:t>
                      </a:r>
                    </a:p>
                  </a:txBody>
                  <a:tcPr marT="27517" marB="27517" anchor="ctr">
                    <a:lnL w="0"/>
                    <a:lnR w="0"/>
                    <a:lnT w="0"/>
                    <a:lnB w="0"/>
                    <a:lnTlToBr w="0"/>
                    <a:lnBlToTr w="0"/>
                    <a:solidFill>
                      <a:srgbClr val="FFFFFF"/>
                    </a:solidFill>
                  </a:tcPr>
                </a:tc>
                <a:tc>
                  <a:txBody>
                    <a:bodyPr/>
                    <a:lstStyle/>
                    <a:p>
                      <a:pPr algn="r"/>
                      <a:r>
                        <a:rPr lang="en-US" sz="1200" b="1">
                          <a:solidFill>
                            <a:srgbClr val="243941"/>
                          </a:solidFill>
                          <a:latin typeface="Arial"/>
                          <a:cs typeface="Arial"/>
                        </a:rPr>
                        <a:t>$1.50M</a:t>
                      </a:r>
                    </a:p>
                  </a:txBody>
                  <a:tcPr marT="27517" marB="27517" anchor="ctr">
                    <a:lnL w="0"/>
                    <a:lnR w="0"/>
                    <a:lnT w="0"/>
                    <a:lnB w="0"/>
                    <a:lnTlToBr w="0"/>
                    <a:lnBlToTr w="0"/>
                    <a:solidFill>
                      <a:srgbClr val="FFFFFF"/>
                    </a:solidFill>
                  </a:tcPr>
                </a:tc>
                <a:extLst>
                  <a:ext uri="{0D108BD9-81ED-4DB2-BD59-A6C34878D82A}">
                    <a16:rowId xmlns:a16="http://schemas.microsoft.com/office/drawing/2014/main" val="3526148996"/>
                  </a:ext>
                </a:extLst>
              </a:tr>
              <a:tr h="309033">
                <a:tc>
                  <a:txBody>
                    <a:bodyPr/>
                    <a:lstStyle/>
                    <a:p>
                      <a:pPr algn="l"/>
                      <a:r>
                        <a:rPr lang="en-US" sz="1200" b="0">
                          <a:solidFill>
                            <a:srgbClr val="243941"/>
                          </a:solidFill>
                          <a:latin typeface="Arial"/>
                          <a:cs typeface="Arial"/>
                        </a:rPr>
                        <a:t>Quality cost avoidance</a:t>
                      </a:r>
                    </a:p>
                  </a:txBody>
                  <a:tcPr marT="27517" marB="27517" anchor="ctr">
                    <a:lnL w="0"/>
                    <a:lnR w="0"/>
                    <a:lnT w="0"/>
                    <a:lnB w="0"/>
                    <a:lnTlToBr w="0"/>
                    <a:lnBlToTr w="0"/>
                    <a:solidFill>
                      <a:srgbClr val="EEF3F5"/>
                    </a:solidFill>
                  </a:tcPr>
                </a:tc>
                <a:tc>
                  <a:txBody>
                    <a:bodyPr/>
                    <a:lstStyle/>
                    <a:p>
                      <a:pPr algn="r"/>
                      <a:r>
                        <a:rPr lang="en-US" sz="1200" b="1">
                          <a:solidFill>
                            <a:srgbClr val="243941"/>
                          </a:solidFill>
                          <a:latin typeface="Arial"/>
                          <a:cs typeface="Arial"/>
                        </a:rPr>
                        <a:t>$0.45M</a:t>
                      </a:r>
                    </a:p>
                  </a:txBody>
                  <a:tcPr marT="27517" marB="27517" anchor="ctr">
                    <a:lnL w="0"/>
                    <a:lnR w="0"/>
                    <a:lnT w="0"/>
                    <a:lnB w="0"/>
                    <a:lnTlToBr w="0"/>
                    <a:lnBlToTr w="0"/>
                    <a:solidFill>
                      <a:srgbClr val="EEF3F5"/>
                    </a:solidFill>
                  </a:tcPr>
                </a:tc>
                <a:extLst>
                  <a:ext uri="{0D108BD9-81ED-4DB2-BD59-A6C34878D82A}">
                    <a16:rowId xmlns:a16="http://schemas.microsoft.com/office/drawing/2014/main" val="1555506513"/>
                  </a:ext>
                </a:extLst>
              </a:tr>
              <a:tr h="309033">
                <a:tc>
                  <a:txBody>
                    <a:bodyPr/>
                    <a:lstStyle/>
                    <a:p>
                      <a:pPr algn="l"/>
                      <a:r>
                        <a:rPr lang="en-US" sz="1200" b="0">
                          <a:solidFill>
                            <a:srgbClr val="243941"/>
                          </a:solidFill>
                          <a:latin typeface="Arial"/>
                          <a:cs typeface="Arial"/>
                        </a:rPr>
                        <a:t>Productivity recovery</a:t>
                      </a:r>
                    </a:p>
                  </a:txBody>
                  <a:tcPr marT="27517" marB="27517" anchor="ctr">
                    <a:lnL w="0"/>
                    <a:lnR w="0"/>
                    <a:lnT w="0"/>
                    <a:lnB w="0"/>
                    <a:lnTlToBr w="0"/>
                    <a:lnBlToTr w="0"/>
                    <a:solidFill>
                      <a:srgbClr val="FFFFFF"/>
                    </a:solidFill>
                  </a:tcPr>
                </a:tc>
                <a:tc>
                  <a:txBody>
                    <a:bodyPr/>
                    <a:lstStyle/>
                    <a:p>
                      <a:pPr algn="r"/>
                      <a:r>
                        <a:rPr lang="en-US" sz="1200" b="1">
                          <a:solidFill>
                            <a:srgbClr val="243941"/>
                          </a:solidFill>
                          <a:latin typeface="Arial"/>
                          <a:cs typeface="Arial"/>
                        </a:rPr>
                        <a:t>$0.40M</a:t>
                      </a:r>
                    </a:p>
                  </a:txBody>
                  <a:tcPr marT="27517" marB="27517" anchor="ctr">
                    <a:lnL w="0"/>
                    <a:lnR w="0"/>
                    <a:lnT w="0"/>
                    <a:lnB w="0"/>
                    <a:lnTlToBr w="0"/>
                    <a:lnBlToTr w="0"/>
                    <a:solidFill>
                      <a:srgbClr val="FFFFFF"/>
                    </a:solidFill>
                  </a:tcPr>
                </a:tc>
                <a:extLst>
                  <a:ext uri="{0D108BD9-81ED-4DB2-BD59-A6C34878D82A}">
                    <a16:rowId xmlns:a16="http://schemas.microsoft.com/office/drawing/2014/main" val="731474676"/>
                  </a:ext>
                </a:extLst>
              </a:tr>
            </a:tbl>
          </a:graphicData>
        </a:graphic>
      </p:graphicFrame>
      <p:sp>
        <p:nvSpPr>
          <p:cNvPr id="17" name="Rectangle 16">
            <a:extLst>
              <a:ext uri="{FF2B5EF4-FFF2-40B4-BE49-F238E27FC236}">
                <a16:creationId xmlns:a16="http://schemas.microsoft.com/office/drawing/2014/main" id="{F47A335C-46CF-4064-B83F-A2F8C8ABBA76}"/>
              </a:ext>
            </a:extLst>
          </p:cNvPr>
          <p:cNvSpPr/>
          <p:nvPr/>
        </p:nvSpPr>
        <p:spPr>
          <a:xfrm>
            <a:off x="5327070" y="2302161"/>
            <a:ext cx="1422400" cy="520700"/>
          </a:xfrm>
          <a:prstGeom prst="rect">
            <a:avLst/>
          </a:prstGeom>
          <a:solidFill>
            <a:srgbClr val="FFFFFF"/>
          </a:solidFill>
          <a:ln w="7620" cap="flat" cmpd="sng" algn="ctr">
            <a:solidFill>
              <a:srgbClr val="C9D5DB"/>
            </a:solid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t"/>
          <a:lstStyle/>
          <a:p>
            <a:pPr algn="ctr"/>
            <a:endParaRPr lang="en-US"/>
          </a:p>
        </p:txBody>
      </p:sp>
      <p:sp>
        <p:nvSpPr>
          <p:cNvPr id="18" name="TextBox 17">
            <a:extLst>
              <a:ext uri="{FF2B5EF4-FFF2-40B4-BE49-F238E27FC236}">
                <a16:creationId xmlns:a16="http://schemas.microsoft.com/office/drawing/2014/main" id="{065ED074-B693-4CC6-9816-815171699126}"/>
              </a:ext>
            </a:extLst>
          </p:cNvPr>
          <p:cNvSpPr txBox="1"/>
          <p:nvPr/>
        </p:nvSpPr>
        <p:spPr>
          <a:xfrm>
            <a:off x="5373254" y="2301009"/>
            <a:ext cx="1219200" cy="203200"/>
          </a:xfrm>
          <a:prstGeom prst="rect">
            <a:avLst/>
          </a:prstGeom>
          <a:noFill/>
        </p:spPr>
        <p:txBody>
          <a:bodyPr vertOverflow="overflow" vert="horz" wrap="square" rtlCol="0" anchor="t">
            <a:spAutoFit/>
          </a:bodyPr>
          <a:lstStyle/>
          <a:p>
            <a:pPr algn="l"/>
            <a:r>
              <a:rPr lang="en-US" sz="1300" b="1">
                <a:solidFill>
                  <a:srgbClr val="15803D"/>
                </a:solidFill>
                <a:latin typeface="Arial"/>
                <a:cs typeface="Arial"/>
              </a:rPr>
              <a:t>+15%</a:t>
            </a:r>
          </a:p>
        </p:txBody>
      </p:sp>
      <p:sp>
        <p:nvSpPr>
          <p:cNvPr id="19" name="TextBox 18">
            <a:extLst>
              <a:ext uri="{FF2B5EF4-FFF2-40B4-BE49-F238E27FC236}">
                <a16:creationId xmlns:a16="http://schemas.microsoft.com/office/drawing/2014/main" id="{7210647C-9E47-4911-90A4-A907456F8B8A}"/>
              </a:ext>
            </a:extLst>
          </p:cNvPr>
          <p:cNvSpPr txBox="1"/>
          <p:nvPr/>
        </p:nvSpPr>
        <p:spPr>
          <a:xfrm>
            <a:off x="5373254" y="2529609"/>
            <a:ext cx="1219200" cy="276999"/>
          </a:xfrm>
          <a:prstGeom prst="rect">
            <a:avLst/>
          </a:prstGeom>
          <a:noFill/>
        </p:spPr>
        <p:txBody>
          <a:bodyPr vertOverflow="overflow" vert="horz" wrap="square" rtlCol="0" anchor="t">
            <a:spAutoFit/>
          </a:bodyPr>
          <a:lstStyle/>
          <a:p>
            <a:pPr algn="l"/>
            <a:r>
              <a:rPr lang="en-US" sz="1200">
                <a:solidFill>
                  <a:srgbClr val="4B5F67"/>
                </a:solidFill>
                <a:latin typeface="Arial"/>
                <a:cs typeface="Arial"/>
              </a:rPr>
              <a:t>Flow velocity</a:t>
            </a:r>
          </a:p>
        </p:txBody>
      </p:sp>
      <p:sp>
        <p:nvSpPr>
          <p:cNvPr id="20" name="Rectangle 19">
            <a:extLst>
              <a:ext uri="{FF2B5EF4-FFF2-40B4-BE49-F238E27FC236}">
                <a16:creationId xmlns:a16="http://schemas.microsoft.com/office/drawing/2014/main" id="{075CDF82-F4B7-4AB3-8FFA-4AC36619D608}"/>
              </a:ext>
            </a:extLst>
          </p:cNvPr>
          <p:cNvSpPr/>
          <p:nvPr/>
        </p:nvSpPr>
        <p:spPr>
          <a:xfrm>
            <a:off x="6876470" y="2302161"/>
            <a:ext cx="1422400" cy="520700"/>
          </a:xfrm>
          <a:prstGeom prst="rect">
            <a:avLst/>
          </a:prstGeom>
          <a:solidFill>
            <a:srgbClr val="FFFFFF"/>
          </a:solidFill>
          <a:ln w="7620" cap="flat" cmpd="sng" algn="ctr">
            <a:solidFill>
              <a:srgbClr val="C9D5DB"/>
            </a:solid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t"/>
          <a:lstStyle/>
          <a:p>
            <a:pPr algn="ctr"/>
            <a:endParaRPr lang="en-US"/>
          </a:p>
        </p:txBody>
      </p:sp>
      <p:sp>
        <p:nvSpPr>
          <p:cNvPr id="21" name="TextBox 20">
            <a:extLst>
              <a:ext uri="{FF2B5EF4-FFF2-40B4-BE49-F238E27FC236}">
                <a16:creationId xmlns:a16="http://schemas.microsoft.com/office/drawing/2014/main" id="{80FAADCF-5002-41C0-B8A4-DC13AC51D6A6}"/>
              </a:ext>
            </a:extLst>
          </p:cNvPr>
          <p:cNvSpPr txBox="1"/>
          <p:nvPr/>
        </p:nvSpPr>
        <p:spPr>
          <a:xfrm>
            <a:off x="6922654" y="2301009"/>
            <a:ext cx="1219200" cy="203200"/>
          </a:xfrm>
          <a:prstGeom prst="rect">
            <a:avLst/>
          </a:prstGeom>
          <a:noFill/>
        </p:spPr>
        <p:txBody>
          <a:bodyPr vertOverflow="overflow" vert="horz" wrap="square" rtlCol="0" anchor="t">
            <a:spAutoFit/>
          </a:bodyPr>
          <a:lstStyle/>
          <a:p>
            <a:pPr algn="l"/>
            <a:r>
              <a:rPr lang="en-US" sz="1300" b="1">
                <a:solidFill>
                  <a:srgbClr val="15803D"/>
                </a:solidFill>
                <a:latin typeface="Arial"/>
                <a:cs typeface="Arial"/>
              </a:rPr>
              <a:t>4 wks</a:t>
            </a:r>
          </a:p>
        </p:txBody>
      </p:sp>
      <p:sp>
        <p:nvSpPr>
          <p:cNvPr id="22" name="TextBox 21">
            <a:extLst>
              <a:ext uri="{FF2B5EF4-FFF2-40B4-BE49-F238E27FC236}">
                <a16:creationId xmlns:a16="http://schemas.microsoft.com/office/drawing/2014/main" id="{DA2F9253-1311-42FC-9D32-3DF5C285D070}"/>
              </a:ext>
            </a:extLst>
          </p:cNvPr>
          <p:cNvSpPr txBox="1"/>
          <p:nvPr/>
        </p:nvSpPr>
        <p:spPr>
          <a:xfrm>
            <a:off x="6922654" y="2529609"/>
            <a:ext cx="1397000" cy="276999"/>
          </a:xfrm>
          <a:prstGeom prst="rect">
            <a:avLst/>
          </a:prstGeom>
          <a:noFill/>
        </p:spPr>
        <p:txBody>
          <a:bodyPr vertOverflow="overflow" vert="horz" wrap="square" rtlCol="0" anchor="t">
            <a:spAutoFit/>
          </a:bodyPr>
          <a:lstStyle/>
          <a:p>
            <a:pPr algn="l"/>
            <a:r>
              <a:rPr lang="en-US" sz="1200">
                <a:solidFill>
                  <a:srgbClr val="4B5F67"/>
                </a:solidFill>
                <a:latin typeface="Arial"/>
                <a:cs typeface="Arial"/>
              </a:rPr>
              <a:t>Earlier realization</a:t>
            </a:r>
          </a:p>
        </p:txBody>
      </p:sp>
      <p:sp>
        <p:nvSpPr>
          <p:cNvPr id="23" name="Rectangle 22">
            <a:extLst>
              <a:ext uri="{FF2B5EF4-FFF2-40B4-BE49-F238E27FC236}">
                <a16:creationId xmlns:a16="http://schemas.microsoft.com/office/drawing/2014/main" id="{54F515A9-9C67-4FA0-8018-C0F54E0B8F21}"/>
              </a:ext>
            </a:extLst>
          </p:cNvPr>
          <p:cNvSpPr/>
          <p:nvPr/>
        </p:nvSpPr>
        <p:spPr>
          <a:xfrm>
            <a:off x="5327070" y="2924461"/>
            <a:ext cx="1422400" cy="520700"/>
          </a:xfrm>
          <a:prstGeom prst="rect">
            <a:avLst/>
          </a:prstGeom>
          <a:solidFill>
            <a:srgbClr val="FFFFFF"/>
          </a:solidFill>
          <a:ln w="7620" cap="flat" cmpd="sng" algn="ctr">
            <a:solidFill>
              <a:srgbClr val="C9D5DB"/>
            </a:solid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t"/>
          <a:lstStyle/>
          <a:p>
            <a:pPr algn="ctr"/>
            <a:endParaRPr lang="en-US"/>
          </a:p>
        </p:txBody>
      </p:sp>
      <p:sp>
        <p:nvSpPr>
          <p:cNvPr id="24" name="TextBox 23">
            <a:extLst>
              <a:ext uri="{FF2B5EF4-FFF2-40B4-BE49-F238E27FC236}">
                <a16:creationId xmlns:a16="http://schemas.microsoft.com/office/drawing/2014/main" id="{724EB3D2-03BF-499D-8C55-A2B6F436D1CB}"/>
              </a:ext>
            </a:extLst>
          </p:cNvPr>
          <p:cNvSpPr txBox="1"/>
          <p:nvPr/>
        </p:nvSpPr>
        <p:spPr>
          <a:xfrm>
            <a:off x="5373254" y="2923309"/>
            <a:ext cx="1219200" cy="203200"/>
          </a:xfrm>
          <a:prstGeom prst="rect">
            <a:avLst/>
          </a:prstGeom>
          <a:noFill/>
        </p:spPr>
        <p:txBody>
          <a:bodyPr vertOverflow="overflow" vert="horz" wrap="square" rtlCol="0" anchor="t">
            <a:spAutoFit/>
          </a:bodyPr>
          <a:lstStyle/>
          <a:p>
            <a:pPr algn="l"/>
            <a:r>
              <a:rPr lang="en-US" sz="1300" b="1">
                <a:solidFill>
                  <a:srgbClr val="15803D"/>
                </a:solidFill>
                <a:latin typeface="Arial"/>
                <a:cs typeface="Arial"/>
              </a:rPr>
              <a:t>+15 pts</a:t>
            </a:r>
          </a:p>
        </p:txBody>
      </p:sp>
      <p:sp>
        <p:nvSpPr>
          <p:cNvPr id="25" name="TextBox 24">
            <a:extLst>
              <a:ext uri="{FF2B5EF4-FFF2-40B4-BE49-F238E27FC236}">
                <a16:creationId xmlns:a16="http://schemas.microsoft.com/office/drawing/2014/main" id="{52A1C614-210D-4A13-9C2C-BFFD9358AB98}"/>
              </a:ext>
            </a:extLst>
          </p:cNvPr>
          <p:cNvSpPr txBox="1"/>
          <p:nvPr/>
        </p:nvSpPr>
        <p:spPr>
          <a:xfrm>
            <a:off x="5373254" y="3151909"/>
            <a:ext cx="1219200" cy="276999"/>
          </a:xfrm>
          <a:prstGeom prst="rect">
            <a:avLst/>
          </a:prstGeom>
          <a:noFill/>
        </p:spPr>
        <p:txBody>
          <a:bodyPr vertOverflow="overflow" vert="horz" wrap="square" rtlCol="0" anchor="t">
            <a:spAutoFit/>
          </a:bodyPr>
          <a:lstStyle/>
          <a:p>
            <a:pPr algn="l"/>
            <a:r>
              <a:rPr lang="en-US" sz="1200">
                <a:solidFill>
                  <a:srgbClr val="4B5F67"/>
                </a:solidFill>
                <a:latin typeface="Arial"/>
                <a:cs typeface="Arial"/>
              </a:rPr>
              <a:t>Flow efficiency</a:t>
            </a:r>
          </a:p>
        </p:txBody>
      </p:sp>
      <p:sp>
        <p:nvSpPr>
          <p:cNvPr id="26" name="Rectangle 25">
            <a:extLst>
              <a:ext uri="{FF2B5EF4-FFF2-40B4-BE49-F238E27FC236}">
                <a16:creationId xmlns:a16="http://schemas.microsoft.com/office/drawing/2014/main" id="{AA67320E-7C7B-4ED0-929C-94D9BBBBCBD0}"/>
              </a:ext>
            </a:extLst>
          </p:cNvPr>
          <p:cNvSpPr/>
          <p:nvPr/>
        </p:nvSpPr>
        <p:spPr>
          <a:xfrm>
            <a:off x="6876470" y="2924461"/>
            <a:ext cx="1422400" cy="520700"/>
          </a:xfrm>
          <a:prstGeom prst="rect">
            <a:avLst/>
          </a:prstGeom>
          <a:solidFill>
            <a:srgbClr val="FFFFFF"/>
          </a:solidFill>
          <a:ln w="7620" cap="flat" cmpd="sng" algn="ctr">
            <a:solidFill>
              <a:srgbClr val="C9D5DB"/>
            </a:solid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t"/>
          <a:lstStyle/>
          <a:p>
            <a:pPr algn="ctr"/>
            <a:endParaRPr lang="en-US"/>
          </a:p>
        </p:txBody>
      </p:sp>
      <p:sp>
        <p:nvSpPr>
          <p:cNvPr id="27" name="TextBox 26">
            <a:extLst>
              <a:ext uri="{FF2B5EF4-FFF2-40B4-BE49-F238E27FC236}">
                <a16:creationId xmlns:a16="http://schemas.microsoft.com/office/drawing/2014/main" id="{379D13BB-30CF-463B-8FE4-97278F867CC1}"/>
              </a:ext>
            </a:extLst>
          </p:cNvPr>
          <p:cNvSpPr txBox="1"/>
          <p:nvPr/>
        </p:nvSpPr>
        <p:spPr>
          <a:xfrm>
            <a:off x="6922654" y="2923309"/>
            <a:ext cx="1219200" cy="203200"/>
          </a:xfrm>
          <a:prstGeom prst="rect">
            <a:avLst/>
          </a:prstGeom>
          <a:noFill/>
        </p:spPr>
        <p:txBody>
          <a:bodyPr vertOverflow="overflow" vert="horz" wrap="square" rtlCol="0" anchor="t">
            <a:spAutoFit/>
          </a:bodyPr>
          <a:lstStyle/>
          <a:p>
            <a:pPr algn="l"/>
            <a:r>
              <a:rPr lang="en-US" sz="1300" b="1">
                <a:solidFill>
                  <a:srgbClr val="15803D"/>
                </a:solidFill>
                <a:latin typeface="Arial"/>
                <a:cs typeface="Arial"/>
              </a:rPr>
              <a:t>800 hrs</a:t>
            </a:r>
          </a:p>
        </p:txBody>
      </p:sp>
      <p:sp>
        <p:nvSpPr>
          <p:cNvPr id="28" name="TextBox 27">
            <a:extLst>
              <a:ext uri="{FF2B5EF4-FFF2-40B4-BE49-F238E27FC236}">
                <a16:creationId xmlns:a16="http://schemas.microsoft.com/office/drawing/2014/main" id="{9A569845-73EF-4E1D-AA27-52CFEE754710}"/>
              </a:ext>
            </a:extLst>
          </p:cNvPr>
          <p:cNvSpPr txBox="1"/>
          <p:nvPr/>
        </p:nvSpPr>
        <p:spPr>
          <a:xfrm>
            <a:off x="6922654" y="3151909"/>
            <a:ext cx="1371600" cy="276999"/>
          </a:xfrm>
          <a:prstGeom prst="rect">
            <a:avLst/>
          </a:prstGeom>
          <a:noFill/>
        </p:spPr>
        <p:txBody>
          <a:bodyPr vertOverflow="overflow" vert="horz" wrap="square" rtlCol="0" anchor="t">
            <a:spAutoFit/>
          </a:bodyPr>
          <a:lstStyle/>
          <a:p>
            <a:pPr algn="l"/>
            <a:r>
              <a:rPr lang="en-US" sz="1200">
                <a:solidFill>
                  <a:srgbClr val="4B5F67"/>
                </a:solidFill>
                <a:latin typeface="Arial"/>
                <a:cs typeface="Arial"/>
              </a:rPr>
              <a:t>Blocked time / PI</a:t>
            </a:r>
          </a:p>
        </p:txBody>
      </p:sp>
      <p:sp>
        <p:nvSpPr>
          <p:cNvPr id="29" name="Rectangle 28">
            <a:extLst>
              <a:ext uri="{FF2B5EF4-FFF2-40B4-BE49-F238E27FC236}">
                <a16:creationId xmlns:a16="http://schemas.microsoft.com/office/drawing/2014/main" id="{D060A3AA-F92F-4B2A-979F-7B16B327A75F}"/>
              </a:ext>
            </a:extLst>
          </p:cNvPr>
          <p:cNvSpPr/>
          <p:nvPr/>
        </p:nvSpPr>
        <p:spPr>
          <a:xfrm>
            <a:off x="5327070" y="3546761"/>
            <a:ext cx="1422400" cy="520700"/>
          </a:xfrm>
          <a:prstGeom prst="rect">
            <a:avLst/>
          </a:prstGeom>
          <a:solidFill>
            <a:srgbClr val="FFFFFF"/>
          </a:solidFill>
          <a:ln w="7620" cap="flat" cmpd="sng" algn="ctr">
            <a:solidFill>
              <a:srgbClr val="C9D5DB"/>
            </a:solid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t"/>
          <a:lstStyle/>
          <a:p>
            <a:pPr algn="ctr"/>
            <a:endParaRPr lang="en-US"/>
          </a:p>
        </p:txBody>
      </p:sp>
      <p:sp>
        <p:nvSpPr>
          <p:cNvPr id="30" name="TextBox 29">
            <a:extLst>
              <a:ext uri="{FF2B5EF4-FFF2-40B4-BE49-F238E27FC236}">
                <a16:creationId xmlns:a16="http://schemas.microsoft.com/office/drawing/2014/main" id="{06642936-1400-4D68-AE41-CD2CA0B74B0B}"/>
              </a:ext>
            </a:extLst>
          </p:cNvPr>
          <p:cNvSpPr txBox="1"/>
          <p:nvPr/>
        </p:nvSpPr>
        <p:spPr>
          <a:xfrm>
            <a:off x="5373254" y="3545609"/>
            <a:ext cx="1219200" cy="203200"/>
          </a:xfrm>
          <a:prstGeom prst="rect">
            <a:avLst/>
          </a:prstGeom>
          <a:noFill/>
        </p:spPr>
        <p:txBody>
          <a:bodyPr vertOverflow="overflow" vert="horz" wrap="square" rtlCol="0" anchor="t">
            <a:spAutoFit/>
          </a:bodyPr>
          <a:lstStyle/>
          <a:p>
            <a:pPr algn="l"/>
            <a:r>
              <a:rPr lang="en-US" sz="1300" b="1">
                <a:solidFill>
                  <a:srgbClr val="15803D"/>
                </a:solidFill>
                <a:latin typeface="Arial"/>
                <a:cs typeface="Arial"/>
              </a:rPr>
              <a:t>30 fewer</a:t>
            </a:r>
          </a:p>
        </p:txBody>
      </p:sp>
      <p:sp>
        <p:nvSpPr>
          <p:cNvPr id="31" name="TextBox 30">
            <a:extLst>
              <a:ext uri="{FF2B5EF4-FFF2-40B4-BE49-F238E27FC236}">
                <a16:creationId xmlns:a16="http://schemas.microsoft.com/office/drawing/2014/main" id="{62F0F2D0-1C87-47CF-A7BB-54191D20681F}"/>
              </a:ext>
            </a:extLst>
          </p:cNvPr>
          <p:cNvSpPr txBox="1"/>
          <p:nvPr/>
        </p:nvSpPr>
        <p:spPr>
          <a:xfrm>
            <a:off x="5373254" y="3774209"/>
            <a:ext cx="1320800" cy="276999"/>
          </a:xfrm>
          <a:prstGeom prst="rect">
            <a:avLst/>
          </a:prstGeom>
          <a:noFill/>
        </p:spPr>
        <p:txBody>
          <a:bodyPr vertOverflow="overflow" vert="horz" wrap="square" rtlCol="0" anchor="t">
            <a:spAutoFit/>
          </a:bodyPr>
          <a:lstStyle/>
          <a:p>
            <a:pPr algn="l"/>
            <a:r>
              <a:rPr lang="en-US" sz="1200">
                <a:solidFill>
                  <a:srgbClr val="4B5F67"/>
                </a:solidFill>
                <a:latin typeface="Arial"/>
                <a:cs typeface="Arial"/>
              </a:rPr>
              <a:t>Defect incidents</a:t>
            </a:r>
          </a:p>
        </p:txBody>
      </p:sp>
      <p:sp>
        <p:nvSpPr>
          <p:cNvPr id="32" name="Rectangle 31">
            <a:extLst>
              <a:ext uri="{FF2B5EF4-FFF2-40B4-BE49-F238E27FC236}">
                <a16:creationId xmlns:a16="http://schemas.microsoft.com/office/drawing/2014/main" id="{B9BAC519-6845-4FAD-8CED-8630A4C25028}"/>
              </a:ext>
            </a:extLst>
          </p:cNvPr>
          <p:cNvSpPr/>
          <p:nvPr/>
        </p:nvSpPr>
        <p:spPr>
          <a:xfrm>
            <a:off x="6876470" y="3546761"/>
            <a:ext cx="1422400" cy="520700"/>
          </a:xfrm>
          <a:prstGeom prst="rect">
            <a:avLst/>
          </a:prstGeom>
          <a:solidFill>
            <a:srgbClr val="FFFFFF"/>
          </a:solidFill>
          <a:ln w="7620" cap="flat" cmpd="sng" algn="ctr">
            <a:solidFill>
              <a:srgbClr val="C9D5DB"/>
            </a:solid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t"/>
          <a:lstStyle/>
          <a:p>
            <a:pPr algn="ctr"/>
            <a:endParaRPr lang="en-US"/>
          </a:p>
        </p:txBody>
      </p:sp>
      <p:sp>
        <p:nvSpPr>
          <p:cNvPr id="33" name="TextBox 32">
            <a:extLst>
              <a:ext uri="{FF2B5EF4-FFF2-40B4-BE49-F238E27FC236}">
                <a16:creationId xmlns:a16="http://schemas.microsoft.com/office/drawing/2014/main" id="{EE6764FF-2AFA-464A-BB9A-A21D32D55385}"/>
              </a:ext>
            </a:extLst>
          </p:cNvPr>
          <p:cNvSpPr txBox="1"/>
          <p:nvPr/>
        </p:nvSpPr>
        <p:spPr>
          <a:xfrm>
            <a:off x="6922654" y="3545609"/>
            <a:ext cx="1219200" cy="203200"/>
          </a:xfrm>
          <a:prstGeom prst="rect">
            <a:avLst/>
          </a:prstGeom>
          <a:noFill/>
        </p:spPr>
        <p:txBody>
          <a:bodyPr vertOverflow="overflow" vert="horz" wrap="square" rtlCol="0" anchor="t">
            <a:spAutoFit/>
          </a:bodyPr>
          <a:lstStyle/>
          <a:p>
            <a:pPr algn="l"/>
            <a:r>
              <a:rPr lang="en-US" sz="1300" b="1">
                <a:solidFill>
                  <a:srgbClr val="15803D"/>
                </a:solidFill>
                <a:latin typeface="Arial"/>
                <a:cs typeface="Arial"/>
              </a:rPr>
              <a:t>Qualitative</a:t>
            </a:r>
          </a:p>
        </p:txBody>
      </p:sp>
      <p:sp>
        <p:nvSpPr>
          <p:cNvPr id="34" name="TextBox 33">
            <a:extLst>
              <a:ext uri="{FF2B5EF4-FFF2-40B4-BE49-F238E27FC236}">
                <a16:creationId xmlns:a16="http://schemas.microsoft.com/office/drawing/2014/main" id="{2E94082D-1B9E-421A-96ED-792C07AD77BD}"/>
              </a:ext>
            </a:extLst>
          </p:cNvPr>
          <p:cNvSpPr txBox="1"/>
          <p:nvPr/>
        </p:nvSpPr>
        <p:spPr>
          <a:xfrm>
            <a:off x="6922654" y="3774209"/>
            <a:ext cx="1320800" cy="276999"/>
          </a:xfrm>
          <a:prstGeom prst="rect">
            <a:avLst/>
          </a:prstGeom>
          <a:noFill/>
        </p:spPr>
        <p:txBody>
          <a:bodyPr vertOverflow="overflow" vert="horz" wrap="square" rtlCol="0" anchor="t">
            <a:spAutoFit/>
          </a:bodyPr>
          <a:lstStyle/>
          <a:p>
            <a:pPr algn="l"/>
            <a:r>
              <a:rPr lang="en-US" sz="1200">
                <a:solidFill>
                  <a:srgbClr val="4B5F67"/>
                </a:solidFill>
                <a:latin typeface="Arial"/>
                <a:cs typeface="Arial"/>
              </a:rPr>
              <a:t>Predictability</a:t>
            </a:r>
          </a:p>
        </p:txBody>
      </p:sp>
      <p:sp>
        <p:nvSpPr>
          <p:cNvPr id="39" name="Rectangle 38">
            <a:extLst>
              <a:ext uri="{FF2B5EF4-FFF2-40B4-BE49-F238E27FC236}">
                <a16:creationId xmlns:a16="http://schemas.microsoft.com/office/drawing/2014/main" id="{622698AA-A42D-4A28-98C5-30EB20478C1D}"/>
              </a:ext>
            </a:extLst>
          </p:cNvPr>
          <p:cNvSpPr/>
          <p:nvPr/>
        </p:nvSpPr>
        <p:spPr>
          <a:xfrm>
            <a:off x="8382000" y="4838700"/>
            <a:ext cx="304800" cy="3048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t"/>
          <a:lstStyle/>
          <a:p>
            <a:pPr algn="ctr"/>
            <a:endParaRPr lang="en-US"/>
          </a:p>
        </p:txBody>
      </p:sp>
      <p:sp>
        <p:nvSpPr>
          <p:cNvPr id="40" name="BP_PageNumber">
            <a:extLst>
              <a:ext uri="{FF2B5EF4-FFF2-40B4-BE49-F238E27FC236}">
                <a16:creationId xmlns:a16="http://schemas.microsoft.com/office/drawing/2014/main" id="{8F8587CC-6331-40C3-B9F7-91AE62E0980B}"/>
              </a:ext>
            </a:extLst>
          </p:cNvPr>
          <p:cNvSpPr/>
          <p:nvPr/>
        </p:nvSpPr>
        <p:spPr>
          <a:xfrm>
            <a:off x="8686800" y="4838700"/>
            <a:ext cx="457200" cy="3048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wrap="none" rtlCol="0" anchor="ctr" anchorCtr="0">
            <a:noAutofit/>
          </a:bodyPr>
          <a:lstStyle/>
          <a:p>
            <a:pPr algn="ctr"/>
            <a:r>
              <a:rPr lang="en-US" sz="800" b="1">
                <a:solidFill>
                  <a:srgbClr val="FFFFFF"/>
                </a:solidFill>
              </a:rPr>
              <a:t>9</a:t>
            </a:r>
          </a:p>
        </p:txBody>
      </p:sp>
    </p:spTree>
    <p:extLst>
      <p:ext uri="{BB962C8B-B14F-4D97-AF65-F5344CB8AC3E}">
        <p14:creationId xmlns:p14="http://schemas.microsoft.com/office/powerpoint/2010/main" val="2246853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2026-SAFeSummit-SanDiego-BreakoutSession-Speakers-MasterTemplate/slide-2.png"/>
          <p:cNvPicPr>
            <a:picLocks noChangeAspect="1"/>
          </p:cNvPicPr>
          <p:nvPr/>
        </p:nvPicPr>
        <p:blipFill>
          <a:blip r:embed="rId4"/>
          <a:stretch>
            <a:fillRect/>
          </a:stretch>
        </p:blipFill>
        <p:spPr>
          <a:xfrm>
            <a:off x="1" y="0"/>
            <a:ext cx="9143771" cy="5143500"/>
          </a:xfrm>
          <a:prstGeom prst="rect">
            <a:avLst/>
          </a:prstGeom>
        </p:spPr>
      </p:pic>
      <p:sp>
        <p:nvSpPr>
          <p:cNvPr id="3" name="Shape 0"/>
          <p:cNvSpPr/>
          <p:nvPr/>
        </p:nvSpPr>
        <p:spPr>
          <a:xfrm>
            <a:off x="356616" y="815107"/>
            <a:ext cx="6549390" cy="3806190"/>
          </a:xfrm>
          <a:prstGeom prst="rect">
            <a:avLst/>
          </a:prstGeom>
          <a:solidFill>
            <a:srgbClr val="F4F1EA"/>
          </a:solidFill>
          <a:ln w="12700">
            <a:solidFill>
              <a:srgbClr val="F4F1EA"/>
            </a:solidFill>
            <a:prstDash val="solid"/>
          </a:ln>
        </p:spPr>
        <p:txBody>
          <a:bodyPr/>
          <a:lstStyle/>
          <a:p>
            <a:endParaRPr lang="en-US" sz="1350"/>
          </a:p>
        </p:txBody>
      </p:sp>
      <p:sp>
        <p:nvSpPr>
          <p:cNvPr id="4" name="Text 1"/>
          <p:cNvSpPr/>
          <p:nvPr/>
        </p:nvSpPr>
        <p:spPr>
          <a:xfrm>
            <a:off x="466343" y="384048"/>
            <a:ext cx="7781011" cy="356616"/>
          </a:xfrm>
          <a:prstGeom prst="rect">
            <a:avLst/>
          </a:prstGeom>
          <a:noFill/>
          <a:ln/>
        </p:spPr>
        <p:txBody>
          <a:bodyPr wrap="square" lIns="0" tIns="0" rIns="0" bIns="0" rtlCol="0" anchor="ctr"/>
          <a:lstStyle/>
          <a:p>
            <a:r>
              <a:rPr lang="en-US" sz="1875" b="1">
                <a:solidFill>
                  <a:srgbClr val="102A30"/>
                </a:solidFill>
                <a:latin typeface="Arial" pitchFamily="34" charset="0"/>
                <a:ea typeface="Arial" pitchFamily="34" charset="-122"/>
                <a:cs typeface="Arial" pitchFamily="34" charset="-120"/>
              </a:rPr>
              <a:t>1. Flow Velocity → </a:t>
            </a:r>
            <a:r>
              <a:rPr lang="en-US" sz="1875" b="1">
                <a:solidFill>
                  <a:srgbClr val="102A30"/>
                </a:solidFill>
                <a:latin typeface="Arial" pitchFamily="34" charset="0"/>
                <a:cs typeface="Arial" pitchFamily="34" charset="-120"/>
              </a:rPr>
              <a:t>Estimated Economic Capacity Unlocked</a:t>
            </a:r>
          </a:p>
        </p:txBody>
      </p:sp>
      <p:sp>
        <p:nvSpPr>
          <p:cNvPr id="5" name="Shape 2"/>
          <p:cNvSpPr/>
          <p:nvPr/>
        </p:nvSpPr>
        <p:spPr>
          <a:xfrm>
            <a:off x="466344" y="938551"/>
            <a:ext cx="720090" cy="0"/>
          </a:xfrm>
          <a:prstGeom prst="line">
            <a:avLst/>
          </a:prstGeom>
          <a:noFill/>
          <a:ln w="38100">
            <a:solidFill>
              <a:srgbClr val="6D5BC0"/>
            </a:solidFill>
            <a:prstDash val="solid"/>
          </a:ln>
        </p:spPr>
        <p:txBody>
          <a:bodyPr/>
          <a:lstStyle/>
          <a:p>
            <a:endParaRPr lang="en-US" sz="1350"/>
          </a:p>
        </p:txBody>
      </p:sp>
      <p:sp>
        <p:nvSpPr>
          <p:cNvPr id="6" name="Shape 3"/>
          <p:cNvSpPr/>
          <p:nvPr/>
        </p:nvSpPr>
        <p:spPr>
          <a:xfrm>
            <a:off x="507492" y="1240303"/>
            <a:ext cx="5692140" cy="960120"/>
          </a:xfrm>
          <a:prstGeom prst="roundRect">
            <a:avLst>
              <a:gd name="adj" fmla="val 3571"/>
            </a:avLst>
          </a:prstGeom>
          <a:solidFill>
            <a:srgbClr val="0A3A43"/>
          </a:solidFill>
          <a:ln w="12700">
            <a:solidFill>
              <a:srgbClr val="0A3A43"/>
            </a:solidFill>
            <a:prstDash val="solid"/>
          </a:ln>
        </p:spPr>
        <p:txBody>
          <a:bodyPr/>
          <a:lstStyle/>
          <a:p>
            <a:endParaRPr lang="en-US" sz="1350"/>
          </a:p>
        </p:txBody>
      </p:sp>
      <p:sp>
        <p:nvSpPr>
          <p:cNvPr id="7" name="Text 4"/>
          <p:cNvSpPr/>
          <p:nvPr/>
        </p:nvSpPr>
        <p:spPr>
          <a:xfrm>
            <a:off x="699516" y="1452901"/>
            <a:ext cx="5308092" cy="466344"/>
          </a:xfrm>
          <a:prstGeom prst="rect">
            <a:avLst/>
          </a:prstGeom>
          <a:noFill/>
          <a:ln/>
        </p:spPr>
        <p:txBody>
          <a:bodyPr wrap="square" lIns="0" tIns="0" rIns="0" bIns="0" rtlCol="0" anchor="ctr"/>
          <a:lstStyle/>
          <a:p>
            <a:pPr algn="ctr"/>
            <a:r>
              <a:rPr lang="en-US" sz="1350" b="1">
                <a:solidFill>
                  <a:srgbClr val="FFFFFF"/>
                </a:solidFill>
              </a:rPr>
              <a:t>((Current Velocity − Baseline Velocity) / Baseline Velocity)</a:t>
            </a:r>
            <a:endParaRPr lang="en-US" sz="1350"/>
          </a:p>
          <a:p>
            <a:pPr algn="ctr"/>
            <a:r>
              <a:rPr lang="en-US" sz="1350" b="1">
                <a:solidFill>
                  <a:srgbClr val="FFFFFF"/>
                </a:solidFill>
              </a:rPr>
              <a:t>× (# Engineers × Fully Loaded Cost)</a:t>
            </a:r>
            <a:endParaRPr lang="en-US" sz="1350"/>
          </a:p>
        </p:txBody>
      </p:sp>
      <p:sp>
        <p:nvSpPr>
          <p:cNvPr id="9" name="Text 6"/>
          <p:cNvSpPr/>
          <p:nvPr/>
        </p:nvSpPr>
        <p:spPr>
          <a:xfrm>
            <a:off x="541782" y="2533036"/>
            <a:ext cx="1748790" cy="137160"/>
          </a:xfrm>
          <a:prstGeom prst="rect">
            <a:avLst/>
          </a:prstGeom>
          <a:noFill/>
          <a:ln/>
        </p:spPr>
        <p:txBody>
          <a:bodyPr wrap="square" lIns="0" tIns="0" rIns="0" bIns="0" rtlCol="0" anchor="ctr"/>
          <a:lstStyle/>
          <a:p>
            <a:r>
              <a:rPr lang="en-US" sz="1400">
                <a:solidFill>
                  <a:srgbClr val="6E777B"/>
                </a:solidFill>
              </a:rPr>
              <a:t>Baseline velocity:</a:t>
            </a:r>
            <a:endParaRPr lang="en-US" sz="1400"/>
          </a:p>
        </p:txBody>
      </p:sp>
      <p:sp>
        <p:nvSpPr>
          <p:cNvPr id="10" name="Text 7"/>
          <p:cNvSpPr/>
          <p:nvPr/>
        </p:nvSpPr>
        <p:spPr>
          <a:xfrm>
            <a:off x="2534805" y="2549721"/>
            <a:ext cx="685800" cy="137160"/>
          </a:xfrm>
          <a:prstGeom prst="rect">
            <a:avLst/>
          </a:prstGeom>
          <a:noFill/>
          <a:ln/>
        </p:spPr>
        <p:txBody>
          <a:bodyPr wrap="square" lIns="0" tIns="0" rIns="0" bIns="0" rtlCol="0" anchor="ctr"/>
          <a:lstStyle/>
          <a:p>
            <a:r>
              <a:rPr lang="en-US" sz="1400" b="1">
                <a:solidFill>
                  <a:srgbClr val="102A30"/>
                </a:solidFill>
              </a:rPr>
              <a:t>100</a:t>
            </a:r>
            <a:endParaRPr lang="en-US" sz="1400"/>
          </a:p>
        </p:txBody>
      </p:sp>
      <p:sp>
        <p:nvSpPr>
          <p:cNvPr id="11" name="Text 8"/>
          <p:cNvSpPr/>
          <p:nvPr/>
        </p:nvSpPr>
        <p:spPr>
          <a:xfrm>
            <a:off x="541782" y="2869078"/>
            <a:ext cx="1748790" cy="137160"/>
          </a:xfrm>
          <a:prstGeom prst="rect">
            <a:avLst/>
          </a:prstGeom>
          <a:noFill/>
          <a:ln/>
        </p:spPr>
        <p:txBody>
          <a:bodyPr wrap="square" lIns="0" tIns="0" rIns="0" bIns="0" rtlCol="0" anchor="ctr"/>
          <a:lstStyle/>
          <a:p>
            <a:r>
              <a:rPr lang="en-US" sz="1400">
                <a:solidFill>
                  <a:srgbClr val="6E777B"/>
                </a:solidFill>
              </a:rPr>
              <a:t>Current velocity:</a:t>
            </a:r>
            <a:endParaRPr lang="en-US" sz="1400"/>
          </a:p>
        </p:txBody>
      </p:sp>
      <p:sp>
        <p:nvSpPr>
          <p:cNvPr id="12" name="Text 9"/>
          <p:cNvSpPr/>
          <p:nvPr/>
        </p:nvSpPr>
        <p:spPr>
          <a:xfrm>
            <a:off x="2534805" y="2885763"/>
            <a:ext cx="685800" cy="137160"/>
          </a:xfrm>
          <a:prstGeom prst="rect">
            <a:avLst/>
          </a:prstGeom>
          <a:noFill/>
          <a:ln/>
        </p:spPr>
        <p:txBody>
          <a:bodyPr wrap="square" lIns="0" tIns="0" rIns="0" bIns="0" rtlCol="0" anchor="ctr"/>
          <a:lstStyle/>
          <a:p>
            <a:r>
              <a:rPr lang="en-US" sz="1400" b="1">
                <a:solidFill>
                  <a:srgbClr val="102A30"/>
                </a:solidFill>
              </a:rPr>
              <a:t>115</a:t>
            </a:r>
            <a:endParaRPr lang="en-US" sz="1400"/>
          </a:p>
        </p:txBody>
      </p:sp>
      <p:sp>
        <p:nvSpPr>
          <p:cNvPr id="13" name="Text 10"/>
          <p:cNvSpPr/>
          <p:nvPr/>
        </p:nvSpPr>
        <p:spPr>
          <a:xfrm>
            <a:off x="541782" y="3205120"/>
            <a:ext cx="1748790" cy="137160"/>
          </a:xfrm>
          <a:prstGeom prst="rect">
            <a:avLst/>
          </a:prstGeom>
          <a:noFill/>
          <a:ln/>
        </p:spPr>
        <p:txBody>
          <a:bodyPr wrap="square" lIns="0" tIns="0" rIns="0" bIns="0" rtlCol="0" anchor="ctr"/>
          <a:lstStyle/>
          <a:p>
            <a:r>
              <a:rPr lang="en-US" sz="1400">
                <a:solidFill>
                  <a:srgbClr val="6E777B"/>
                </a:solidFill>
              </a:rPr>
              <a:t>Improvement:</a:t>
            </a:r>
            <a:endParaRPr lang="en-US" sz="1400"/>
          </a:p>
        </p:txBody>
      </p:sp>
      <p:sp>
        <p:nvSpPr>
          <p:cNvPr id="14" name="Text 11"/>
          <p:cNvSpPr/>
          <p:nvPr/>
        </p:nvSpPr>
        <p:spPr>
          <a:xfrm>
            <a:off x="2534805" y="3221805"/>
            <a:ext cx="685800" cy="137160"/>
          </a:xfrm>
          <a:prstGeom prst="rect">
            <a:avLst/>
          </a:prstGeom>
          <a:noFill/>
          <a:ln/>
        </p:spPr>
        <p:txBody>
          <a:bodyPr wrap="square" lIns="0" tIns="0" rIns="0" bIns="0" rtlCol="0" anchor="ctr"/>
          <a:lstStyle/>
          <a:p>
            <a:r>
              <a:rPr lang="en-US" sz="1400" b="1">
                <a:solidFill>
                  <a:srgbClr val="102A30"/>
                </a:solidFill>
              </a:rPr>
              <a:t>15%</a:t>
            </a:r>
            <a:endParaRPr lang="en-US" sz="1400"/>
          </a:p>
        </p:txBody>
      </p:sp>
      <p:sp>
        <p:nvSpPr>
          <p:cNvPr id="15" name="Text 12"/>
          <p:cNvSpPr/>
          <p:nvPr/>
        </p:nvSpPr>
        <p:spPr>
          <a:xfrm>
            <a:off x="541782" y="3541162"/>
            <a:ext cx="1877910" cy="150876"/>
          </a:xfrm>
          <a:prstGeom prst="rect">
            <a:avLst/>
          </a:prstGeom>
          <a:noFill/>
          <a:ln/>
        </p:spPr>
        <p:txBody>
          <a:bodyPr wrap="square" lIns="0" tIns="0" rIns="0" bIns="0" rtlCol="0" anchor="ctr"/>
          <a:lstStyle/>
          <a:p>
            <a:r>
              <a:rPr lang="en-US" sz="1400">
                <a:solidFill>
                  <a:srgbClr val="6E777B"/>
                </a:solidFill>
              </a:rPr>
              <a:t>Engineering population:</a:t>
            </a:r>
            <a:endParaRPr lang="en-US" sz="1400"/>
          </a:p>
        </p:txBody>
      </p:sp>
      <p:sp>
        <p:nvSpPr>
          <p:cNvPr id="16" name="Text 13"/>
          <p:cNvSpPr/>
          <p:nvPr/>
        </p:nvSpPr>
        <p:spPr>
          <a:xfrm>
            <a:off x="2534805" y="3557847"/>
            <a:ext cx="685800" cy="137160"/>
          </a:xfrm>
          <a:prstGeom prst="rect">
            <a:avLst/>
          </a:prstGeom>
          <a:noFill/>
          <a:ln/>
        </p:spPr>
        <p:txBody>
          <a:bodyPr wrap="square" lIns="0" tIns="0" rIns="0" bIns="0" rtlCol="0" anchor="ctr"/>
          <a:lstStyle/>
          <a:p>
            <a:r>
              <a:rPr lang="en-US" sz="1400" b="1">
                <a:solidFill>
                  <a:srgbClr val="102A30"/>
                </a:solidFill>
              </a:rPr>
              <a:t>100</a:t>
            </a:r>
            <a:endParaRPr lang="en-US" sz="1400"/>
          </a:p>
        </p:txBody>
      </p:sp>
      <p:sp>
        <p:nvSpPr>
          <p:cNvPr id="17" name="Text 14"/>
          <p:cNvSpPr/>
          <p:nvPr/>
        </p:nvSpPr>
        <p:spPr>
          <a:xfrm>
            <a:off x="541782" y="3877204"/>
            <a:ext cx="1748790" cy="137160"/>
          </a:xfrm>
          <a:prstGeom prst="rect">
            <a:avLst/>
          </a:prstGeom>
          <a:noFill/>
          <a:ln/>
        </p:spPr>
        <p:txBody>
          <a:bodyPr wrap="square" lIns="0" tIns="0" rIns="0" bIns="0" rtlCol="0" anchor="ctr"/>
          <a:lstStyle/>
          <a:p>
            <a:r>
              <a:rPr lang="en-US" sz="1400">
                <a:solidFill>
                  <a:srgbClr val="6E777B"/>
                </a:solidFill>
              </a:rPr>
              <a:t>Loaded cost:</a:t>
            </a:r>
            <a:endParaRPr lang="en-US" sz="1400"/>
          </a:p>
        </p:txBody>
      </p:sp>
      <p:sp>
        <p:nvSpPr>
          <p:cNvPr id="18" name="Text 15"/>
          <p:cNvSpPr/>
          <p:nvPr/>
        </p:nvSpPr>
        <p:spPr>
          <a:xfrm>
            <a:off x="2534805" y="3893889"/>
            <a:ext cx="685800" cy="137160"/>
          </a:xfrm>
          <a:prstGeom prst="rect">
            <a:avLst/>
          </a:prstGeom>
          <a:noFill/>
          <a:ln/>
        </p:spPr>
        <p:txBody>
          <a:bodyPr wrap="square" lIns="0" tIns="0" rIns="0" bIns="0" rtlCol="0" anchor="ctr"/>
          <a:lstStyle/>
          <a:p>
            <a:r>
              <a:rPr lang="en-US" sz="1400" b="1">
                <a:solidFill>
                  <a:srgbClr val="102A30"/>
                </a:solidFill>
              </a:rPr>
              <a:t>$150K</a:t>
            </a:r>
            <a:endParaRPr lang="en-US" sz="1400"/>
          </a:p>
        </p:txBody>
      </p:sp>
      <p:sp>
        <p:nvSpPr>
          <p:cNvPr id="19" name="Shape 16"/>
          <p:cNvSpPr/>
          <p:nvPr/>
        </p:nvSpPr>
        <p:spPr>
          <a:xfrm>
            <a:off x="3782961" y="2413021"/>
            <a:ext cx="2416671" cy="740664"/>
          </a:xfrm>
          <a:prstGeom prst="roundRect">
            <a:avLst>
              <a:gd name="adj" fmla="val 7692"/>
            </a:avLst>
          </a:prstGeom>
          <a:solidFill>
            <a:srgbClr val="6D5BC0"/>
          </a:solidFill>
          <a:ln w="12700">
            <a:solidFill>
              <a:srgbClr val="6D5BC0"/>
            </a:solidFill>
            <a:prstDash val="solid"/>
          </a:ln>
        </p:spPr>
        <p:txBody>
          <a:bodyPr/>
          <a:lstStyle/>
          <a:p>
            <a:endParaRPr lang="en-US" sz="1350"/>
          </a:p>
        </p:txBody>
      </p:sp>
      <p:sp>
        <p:nvSpPr>
          <p:cNvPr id="20" name="Text 17"/>
          <p:cNvSpPr/>
          <p:nvPr/>
        </p:nvSpPr>
        <p:spPr>
          <a:xfrm>
            <a:off x="4313682" y="2491658"/>
            <a:ext cx="1282446" cy="219456"/>
          </a:xfrm>
          <a:prstGeom prst="rect">
            <a:avLst/>
          </a:prstGeom>
          <a:noFill/>
          <a:ln/>
        </p:spPr>
        <p:txBody>
          <a:bodyPr wrap="square" lIns="0" tIns="0" rIns="0" bIns="0" rtlCol="0" anchor="ctr"/>
          <a:lstStyle/>
          <a:p>
            <a:pPr algn="ctr"/>
            <a:r>
              <a:rPr lang="en-US" sz="1650" b="1">
                <a:solidFill>
                  <a:srgbClr val="FFFFFF"/>
                </a:solidFill>
              </a:rPr>
              <a:t>$2.25M</a:t>
            </a:r>
            <a:endParaRPr lang="en-US" sz="1650"/>
          </a:p>
        </p:txBody>
      </p:sp>
      <p:sp>
        <p:nvSpPr>
          <p:cNvPr id="21" name="Text 18"/>
          <p:cNvSpPr/>
          <p:nvPr/>
        </p:nvSpPr>
        <p:spPr>
          <a:xfrm>
            <a:off x="4272534" y="2864821"/>
            <a:ext cx="1364742" cy="123444"/>
          </a:xfrm>
          <a:prstGeom prst="rect">
            <a:avLst/>
          </a:prstGeom>
          <a:noFill/>
          <a:ln/>
        </p:spPr>
        <p:txBody>
          <a:bodyPr wrap="square" lIns="0" tIns="0" rIns="0" bIns="0" rtlCol="0" anchor="ctr"/>
          <a:lstStyle/>
          <a:p>
            <a:pPr algn="ctr"/>
            <a:r>
              <a:rPr lang="en-US" sz="1000">
                <a:solidFill>
                  <a:srgbClr val="FFFFFF"/>
                </a:solidFill>
              </a:rPr>
              <a:t>Equivalent capacity gain (not cash savings)</a:t>
            </a:r>
            <a:endParaRPr lang="en-US" sz="1000"/>
          </a:p>
        </p:txBody>
      </p:sp>
      <p:sp>
        <p:nvSpPr>
          <p:cNvPr id="22" name="Text 19"/>
          <p:cNvSpPr/>
          <p:nvPr/>
        </p:nvSpPr>
        <p:spPr>
          <a:xfrm>
            <a:off x="3782961" y="3366283"/>
            <a:ext cx="2416671" cy="685800"/>
          </a:xfrm>
          <a:prstGeom prst="rect">
            <a:avLst/>
          </a:prstGeom>
          <a:noFill/>
          <a:ln/>
        </p:spPr>
        <p:txBody>
          <a:bodyPr wrap="square" lIns="0" tIns="0" rIns="0" bIns="0" rtlCol="0" anchor="ctr"/>
          <a:lstStyle/>
          <a:p>
            <a:pPr algn="ctr"/>
            <a:r>
              <a:rPr lang="en-US" sz="1200">
                <a:solidFill>
                  <a:srgbClr val="6E777B"/>
                </a:solidFill>
              </a:rPr>
              <a:t>Interpretation: the organization can estimate the economic value of the capacity unlocked by improved delivery performance.</a:t>
            </a:r>
            <a:endParaRPr lang="en-US" sz="1200"/>
          </a:p>
        </p:txBody>
      </p:sp>
      <p:sp>
        <p:nvSpPr>
          <p:cNvPr id="25" name="Rectangle 24">
            <a:extLst>
              <a:ext uri="{FF2B5EF4-FFF2-40B4-BE49-F238E27FC236}">
                <a16:creationId xmlns:a16="http://schemas.microsoft.com/office/drawing/2014/main" id="{78FB42AC-8AA8-49A9-9C1E-5834814F6923}"/>
              </a:ext>
            </a:extLst>
          </p:cNvPr>
          <p:cNvSpPr/>
          <p:nvPr/>
        </p:nvSpPr>
        <p:spPr>
          <a:xfrm>
            <a:off x="8382000" y="4762500"/>
            <a:ext cx="304800" cy="3810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t"/>
          <a:lstStyle/>
          <a:p>
            <a:pPr algn="ctr"/>
            <a:endParaRPr lang="en-US"/>
          </a:p>
        </p:txBody>
      </p:sp>
      <p:sp>
        <p:nvSpPr>
          <p:cNvPr id="26" name="BP_PageNumber">
            <a:extLst>
              <a:ext uri="{FF2B5EF4-FFF2-40B4-BE49-F238E27FC236}">
                <a16:creationId xmlns:a16="http://schemas.microsoft.com/office/drawing/2014/main" id="{1CB9447F-AFD1-4055-9D73-C64750827806}"/>
              </a:ext>
            </a:extLst>
          </p:cNvPr>
          <p:cNvSpPr/>
          <p:nvPr/>
        </p:nvSpPr>
        <p:spPr>
          <a:xfrm>
            <a:off x="8686800" y="4838700"/>
            <a:ext cx="457200" cy="3048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wrap="none" rtlCol="0" anchor="ctr" anchorCtr="0">
            <a:noAutofit/>
          </a:bodyPr>
          <a:lstStyle/>
          <a:p>
            <a:pPr algn="ctr"/>
            <a:r>
              <a:rPr lang="en-US" sz="800" b="1">
                <a:solidFill>
                  <a:srgbClr val="FFFFFF"/>
                </a:solidFill>
              </a:rPr>
              <a:t>10</a:t>
            </a:r>
          </a:p>
        </p:txBody>
      </p:sp>
    </p:spTree>
    <p:extLst>
      <p:ext uri="{BB962C8B-B14F-4D97-AF65-F5344CB8AC3E}">
        <p14:creationId xmlns:p14="http://schemas.microsoft.com/office/powerpoint/2010/main" val="745935061"/>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2026-SAFeSummit-SanDiego-BreakoutSession-Speakers-MasterTemplate/slide-2.png"/>
          <p:cNvPicPr>
            <a:picLocks noChangeAspect="1"/>
          </p:cNvPicPr>
          <p:nvPr/>
        </p:nvPicPr>
        <p:blipFill>
          <a:blip r:embed="rId3"/>
          <a:stretch>
            <a:fillRect/>
          </a:stretch>
        </p:blipFill>
        <p:spPr>
          <a:xfrm>
            <a:off x="1" y="0"/>
            <a:ext cx="9143771" cy="5143500"/>
          </a:xfrm>
          <a:prstGeom prst="rect">
            <a:avLst/>
          </a:prstGeom>
        </p:spPr>
      </p:pic>
      <p:sp>
        <p:nvSpPr>
          <p:cNvPr id="3" name="Shape 0"/>
          <p:cNvSpPr/>
          <p:nvPr/>
        </p:nvSpPr>
        <p:spPr>
          <a:xfrm>
            <a:off x="356616" y="833581"/>
            <a:ext cx="6549390" cy="3806190"/>
          </a:xfrm>
          <a:prstGeom prst="rect">
            <a:avLst/>
          </a:prstGeom>
          <a:solidFill>
            <a:srgbClr val="F4F1EA"/>
          </a:solidFill>
          <a:ln w="12700">
            <a:solidFill>
              <a:srgbClr val="F4F1EA"/>
            </a:solidFill>
            <a:prstDash val="solid"/>
          </a:ln>
        </p:spPr>
        <p:txBody>
          <a:bodyPr/>
          <a:lstStyle/>
          <a:p>
            <a:endParaRPr lang="en-US" sz="1350"/>
          </a:p>
        </p:txBody>
      </p:sp>
      <p:sp>
        <p:nvSpPr>
          <p:cNvPr id="4" name="Text 1"/>
          <p:cNvSpPr/>
          <p:nvPr/>
        </p:nvSpPr>
        <p:spPr>
          <a:xfrm>
            <a:off x="466344" y="384048"/>
            <a:ext cx="6412230" cy="356616"/>
          </a:xfrm>
          <a:prstGeom prst="rect">
            <a:avLst/>
          </a:prstGeom>
          <a:noFill/>
          <a:ln/>
        </p:spPr>
        <p:txBody>
          <a:bodyPr wrap="square" lIns="0" tIns="0" rIns="0" bIns="0" rtlCol="0" anchor="ctr"/>
          <a:lstStyle/>
          <a:p>
            <a:r>
              <a:rPr lang="en-US" sz="1875" b="1">
                <a:solidFill>
                  <a:srgbClr val="102A30"/>
                </a:solidFill>
                <a:latin typeface="Arial" pitchFamily="34" charset="0"/>
                <a:ea typeface="Arial" pitchFamily="34" charset="-122"/>
                <a:cs typeface="Arial" pitchFamily="34" charset="-120"/>
              </a:rPr>
              <a:t>2. Flow Time → Earlier Value Realization</a:t>
            </a:r>
            <a:endParaRPr lang="en-US" sz="1875"/>
          </a:p>
        </p:txBody>
      </p:sp>
      <p:sp>
        <p:nvSpPr>
          <p:cNvPr id="5" name="Shape 2"/>
          <p:cNvSpPr/>
          <p:nvPr/>
        </p:nvSpPr>
        <p:spPr>
          <a:xfrm>
            <a:off x="466344" y="957025"/>
            <a:ext cx="720090" cy="0"/>
          </a:xfrm>
          <a:prstGeom prst="line">
            <a:avLst/>
          </a:prstGeom>
          <a:noFill/>
          <a:ln w="38100">
            <a:solidFill>
              <a:srgbClr val="6D5BC0"/>
            </a:solidFill>
            <a:prstDash val="solid"/>
          </a:ln>
        </p:spPr>
        <p:txBody>
          <a:bodyPr/>
          <a:lstStyle/>
          <a:p>
            <a:endParaRPr lang="en-US" sz="1350"/>
          </a:p>
        </p:txBody>
      </p:sp>
      <p:sp>
        <p:nvSpPr>
          <p:cNvPr id="6" name="Shape 3"/>
          <p:cNvSpPr/>
          <p:nvPr/>
        </p:nvSpPr>
        <p:spPr>
          <a:xfrm>
            <a:off x="507492" y="1272493"/>
            <a:ext cx="5692140" cy="877824"/>
          </a:xfrm>
          <a:prstGeom prst="roundRect">
            <a:avLst>
              <a:gd name="adj" fmla="val 3906"/>
            </a:avLst>
          </a:prstGeom>
          <a:solidFill>
            <a:srgbClr val="F4A53D"/>
          </a:solidFill>
          <a:ln w="12700">
            <a:solidFill>
              <a:srgbClr val="F4A53D"/>
            </a:solidFill>
            <a:prstDash val="solid"/>
          </a:ln>
        </p:spPr>
        <p:txBody>
          <a:bodyPr/>
          <a:lstStyle/>
          <a:p>
            <a:endParaRPr lang="en-US" sz="1350"/>
          </a:p>
        </p:txBody>
      </p:sp>
      <p:sp>
        <p:nvSpPr>
          <p:cNvPr id="7" name="Text 4"/>
          <p:cNvSpPr/>
          <p:nvPr/>
        </p:nvSpPr>
        <p:spPr>
          <a:xfrm>
            <a:off x="699516" y="1519381"/>
            <a:ext cx="5294376" cy="308610"/>
          </a:xfrm>
          <a:prstGeom prst="rect">
            <a:avLst/>
          </a:prstGeom>
          <a:noFill/>
          <a:ln/>
        </p:spPr>
        <p:txBody>
          <a:bodyPr wrap="square" lIns="0" tIns="0" rIns="0" bIns="0" rtlCol="0" anchor="ctr"/>
          <a:lstStyle/>
          <a:p>
            <a:pPr algn="ctr"/>
            <a:r>
              <a:rPr lang="en-US" sz="1425" b="1">
                <a:solidFill>
                  <a:srgbClr val="FFFFFF"/>
                </a:solidFill>
              </a:rPr>
              <a:t>Weeks Accelerated × (Monthly Revenue Value / 4) </a:t>
            </a:r>
            <a:br>
              <a:rPr lang="en-US" sz="1425" b="1">
                <a:solidFill>
                  <a:srgbClr val="FFFFFF"/>
                </a:solidFill>
              </a:rPr>
            </a:br>
            <a:r>
              <a:rPr lang="en-US" sz="1425" b="1">
                <a:solidFill>
                  <a:srgbClr val="FFFFFF"/>
                </a:solidFill>
              </a:rPr>
              <a:t>× # Features</a:t>
            </a:r>
            <a:endParaRPr lang="en-US" sz="1425"/>
          </a:p>
        </p:txBody>
      </p:sp>
      <p:sp>
        <p:nvSpPr>
          <p:cNvPr id="9" name="Shape 6"/>
          <p:cNvSpPr/>
          <p:nvPr/>
        </p:nvSpPr>
        <p:spPr>
          <a:xfrm>
            <a:off x="534923" y="2635835"/>
            <a:ext cx="1716565" cy="809244"/>
          </a:xfrm>
          <a:prstGeom prst="roundRect">
            <a:avLst>
              <a:gd name="adj" fmla="val 5085"/>
            </a:avLst>
          </a:prstGeom>
          <a:solidFill>
            <a:srgbClr val="FFFFFF"/>
          </a:solidFill>
          <a:ln w="12700">
            <a:solidFill>
              <a:srgbClr val="DAD7D0"/>
            </a:solidFill>
            <a:prstDash val="solid"/>
          </a:ln>
          <a:effectLst>
            <a:outerShdw blurRad="15240" dist="12700" dir="2700000" algn="bl" rotWithShape="0">
              <a:srgbClr val="000000">
                <a:alpha val="12000"/>
              </a:srgbClr>
            </a:outerShdw>
          </a:effectLst>
        </p:spPr>
        <p:txBody>
          <a:bodyPr/>
          <a:lstStyle/>
          <a:p>
            <a:endParaRPr lang="en-US" sz="1350"/>
          </a:p>
        </p:txBody>
      </p:sp>
      <p:sp>
        <p:nvSpPr>
          <p:cNvPr id="10" name="Text 7"/>
          <p:cNvSpPr/>
          <p:nvPr/>
        </p:nvSpPr>
        <p:spPr>
          <a:xfrm>
            <a:off x="658368" y="2731847"/>
            <a:ext cx="1470692" cy="192024"/>
          </a:xfrm>
          <a:prstGeom prst="rect">
            <a:avLst/>
          </a:prstGeom>
          <a:noFill/>
          <a:ln/>
        </p:spPr>
        <p:txBody>
          <a:bodyPr wrap="square" lIns="0" tIns="0" rIns="0" bIns="0" rtlCol="0" anchor="ctr"/>
          <a:lstStyle/>
          <a:p>
            <a:r>
              <a:rPr lang="en-US" sz="1400" b="1">
                <a:solidFill>
                  <a:srgbClr val="102A30"/>
                </a:solidFill>
              </a:rPr>
              <a:t>Faster realization</a:t>
            </a:r>
            <a:endParaRPr lang="en-US" sz="1400"/>
          </a:p>
        </p:txBody>
      </p:sp>
      <p:sp>
        <p:nvSpPr>
          <p:cNvPr id="11" name="Text 8"/>
          <p:cNvSpPr/>
          <p:nvPr/>
        </p:nvSpPr>
        <p:spPr>
          <a:xfrm>
            <a:off x="658368" y="2992451"/>
            <a:ext cx="1227582" cy="370332"/>
          </a:xfrm>
          <a:prstGeom prst="rect">
            <a:avLst/>
          </a:prstGeom>
          <a:noFill/>
          <a:ln/>
        </p:spPr>
        <p:txBody>
          <a:bodyPr wrap="square" lIns="0" tIns="0" rIns="0" bIns="0" rtlCol="0" anchor="ctr">
            <a:normAutofit/>
          </a:bodyPr>
          <a:lstStyle/>
          <a:p>
            <a:r>
              <a:rPr lang="en-US" sz="1400">
                <a:solidFill>
                  <a:srgbClr val="6E777B"/>
                </a:solidFill>
              </a:rPr>
              <a:t>4 weeks</a:t>
            </a:r>
            <a:endParaRPr lang="en-US" sz="1400"/>
          </a:p>
        </p:txBody>
      </p:sp>
      <p:sp>
        <p:nvSpPr>
          <p:cNvPr id="12" name="Shape 9"/>
          <p:cNvSpPr/>
          <p:nvPr/>
        </p:nvSpPr>
        <p:spPr>
          <a:xfrm>
            <a:off x="2503335" y="2635835"/>
            <a:ext cx="1716565" cy="809244"/>
          </a:xfrm>
          <a:prstGeom prst="roundRect">
            <a:avLst>
              <a:gd name="adj" fmla="val 5085"/>
            </a:avLst>
          </a:prstGeom>
          <a:solidFill>
            <a:srgbClr val="FFFFFF"/>
          </a:solidFill>
          <a:ln w="12700">
            <a:solidFill>
              <a:srgbClr val="DAD7D0"/>
            </a:solidFill>
            <a:prstDash val="solid"/>
          </a:ln>
          <a:effectLst>
            <a:outerShdw blurRad="15240" dist="12700" dir="2700000" algn="bl" rotWithShape="0">
              <a:srgbClr val="000000">
                <a:alpha val="12000"/>
              </a:srgbClr>
            </a:outerShdw>
          </a:effectLst>
        </p:spPr>
        <p:txBody>
          <a:bodyPr/>
          <a:lstStyle/>
          <a:p>
            <a:endParaRPr lang="en-US" sz="1350"/>
          </a:p>
        </p:txBody>
      </p:sp>
      <p:sp>
        <p:nvSpPr>
          <p:cNvPr id="13" name="Text 10"/>
          <p:cNvSpPr/>
          <p:nvPr/>
        </p:nvSpPr>
        <p:spPr>
          <a:xfrm>
            <a:off x="2593963" y="2738705"/>
            <a:ext cx="1227582" cy="192024"/>
          </a:xfrm>
          <a:prstGeom prst="rect">
            <a:avLst/>
          </a:prstGeom>
          <a:noFill/>
          <a:ln/>
        </p:spPr>
        <p:txBody>
          <a:bodyPr wrap="square" lIns="0" tIns="0" rIns="0" bIns="0" rtlCol="0" anchor="ctr"/>
          <a:lstStyle/>
          <a:p>
            <a:r>
              <a:rPr lang="en-US" sz="1400" b="1">
                <a:solidFill>
                  <a:srgbClr val="102A30"/>
                </a:solidFill>
              </a:rPr>
              <a:t>Feature value</a:t>
            </a:r>
            <a:endParaRPr lang="en-US" sz="1400"/>
          </a:p>
        </p:txBody>
      </p:sp>
      <p:sp>
        <p:nvSpPr>
          <p:cNvPr id="14" name="Text 11"/>
          <p:cNvSpPr/>
          <p:nvPr/>
        </p:nvSpPr>
        <p:spPr>
          <a:xfrm>
            <a:off x="2615212" y="2999309"/>
            <a:ext cx="1227582" cy="370332"/>
          </a:xfrm>
          <a:prstGeom prst="rect">
            <a:avLst/>
          </a:prstGeom>
          <a:noFill/>
          <a:ln/>
        </p:spPr>
        <p:txBody>
          <a:bodyPr wrap="square" lIns="0" tIns="0" rIns="0" bIns="0" rtlCol="0" anchor="ctr">
            <a:normAutofit/>
          </a:bodyPr>
          <a:lstStyle/>
          <a:p>
            <a:r>
              <a:rPr lang="en-US" sz="1400">
                <a:solidFill>
                  <a:srgbClr val="6E777B"/>
                </a:solidFill>
              </a:rPr>
              <a:t>$250K / month</a:t>
            </a:r>
            <a:endParaRPr lang="en-US" sz="1400"/>
          </a:p>
        </p:txBody>
      </p:sp>
      <p:sp>
        <p:nvSpPr>
          <p:cNvPr id="15" name="Shape 12"/>
          <p:cNvSpPr/>
          <p:nvPr/>
        </p:nvSpPr>
        <p:spPr>
          <a:xfrm>
            <a:off x="4471747" y="2628977"/>
            <a:ext cx="1716565" cy="809244"/>
          </a:xfrm>
          <a:prstGeom prst="roundRect">
            <a:avLst>
              <a:gd name="adj" fmla="val 5085"/>
            </a:avLst>
          </a:prstGeom>
          <a:solidFill>
            <a:srgbClr val="FFFFFF"/>
          </a:solidFill>
          <a:ln w="12700">
            <a:solidFill>
              <a:srgbClr val="DAD7D0"/>
            </a:solidFill>
            <a:prstDash val="solid"/>
          </a:ln>
          <a:effectLst>
            <a:outerShdw blurRad="15240" dist="12700" dir="2700000" algn="bl" rotWithShape="0">
              <a:srgbClr val="000000">
                <a:alpha val="12000"/>
              </a:srgbClr>
            </a:outerShdw>
          </a:effectLst>
        </p:spPr>
        <p:txBody>
          <a:bodyPr/>
          <a:lstStyle/>
          <a:p>
            <a:endParaRPr lang="en-US" sz="1400"/>
          </a:p>
        </p:txBody>
      </p:sp>
      <p:sp>
        <p:nvSpPr>
          <p:cNvPr id="16" name="Text 13"/>
          <p:cNvSpPr/>
          <p:nvPr/>
        </p:nvSpPr>
        <p:spPr>
          <a:xfrm>
            <a:off x="4586455" y="2731847"/>
            <a:ext cx="1227582" cy="192024"/>
          </a:xfrm>
          <a:prstGeom prst="rect">
            <a:avLst/>
          </a:prstGeom>
          <a:noFill/>
          <a:ln/>
        </p:spPr>
        <p:txBody>
          <a:bodyPr wrap="square" lIns="0" tIns="0" rIns="0" bIns="0" rtlCol="0" anchor="ctr"/>
          <a:lstStyle/>
          <a:p>
            <a:r>
              <a:rPr lang="en-US" sz="1400" b="1">
                <a:solidFill>
                  <a:srgbClr val="102A30"/>
                </a:solidFill>
              </a:rPr>
              <a:t>Features</a:t>
            </a:r>
            <a:endParaRPr lang="en-US" sz="1400"/>
          </a:p>
        </p:txBody>
      </p:sp>
      <p:sp>
        <p:nvSpPr>
          <p:cNvPr id="17" name="Text 14"/>
          <p:cNvSpPr/>
          <p:nvPr/>
        </p:nvSpPr>
        <p:spPr>
          <a:xfrm>
            <a:off x="4586455" y="2992451"/>
            <a:ext cx="1227582" cy="370332"/>
          </a:xfrm>
          <a:prstGeom prst="rect">
            <a:avLst/>
          </a:prstGeom>
          <a:noFill/>
          <a:ln/>
        </p:spPr>
        <p:txBody>
          <a:bodyPr wrap="square" lIns="0" tIns="0" rIns="0" bIns="0" rtlCol="0" anchor="ctr">
            <a:normAutofit/>
          </a:bodyPr>
          <a:lstStyle/>
          <a:p>
            <a:r>
              <a:rPr lang="en-US" sz="1400">
                <a:solidFill>
                  <a:srgbClr val="6E777B"/>
                </a:solidFill>
              </a:rPr>
              <a:t>6</a:t>
            </a:r>
            <a:endParaRPr lang="en-US" sz="1400"/>
          </a:p>
        </p:txBody>
      </p:sp>
      <p:sp>
        <p:nvSpPr>
          <p:cNvPr id="18" name="Shape 15"/>
          <p:cNvSpPr/>
          <p:nvPr/>
        </p:nvSpPr>
        <p:spPr>
          <a:xfrm>
            <a:off x="4478274" y="3585115"/>
            <a:ext cx="1710038" cy="534924"/>
          </a:xfrm>
          <a:prstGeom prst="roundRect">
            <a:avLst>
              <a:gd name="adj" fmla="val 7692"/>
            </a:avLst>
          </a:prstGeom>
          <a:solidFill>
            <a:srgbClr val="F4A53D"/>
          </a:solidFill>
          <a:ln w="12700">
            <a:solidFill>
              <a:srgbClr val="F4A53D"/>
            </a:solidFill>
            <a:prstDash val="solid"/>
          </a:ln>
        </p:spPr>
        <p:txBody>
          <a:bodyPr/>
          <a:lstStyle/>
          <a:p>
            <a:endParaRPr lang="en-US" sz="1350"/>
          </a:p>
        </p:txBody>
      </p:sp>
      <p:sp>
        <p:nvSpPr>
          <p:cNvPr id="19" name="Text 16"/>
          <p:cNvSpPr/>
          <p:nvPr/>
        </p:nvSpPr>
        <p:spPr>
          <a:xfrm>
            <a:off x="4642866" y="3656313"/>
            <a:ext cx="1351026" cy="219456"/>
          </a:xfrm>
          <a:prstGeom prst="rect">
            <a:avLst/>
          </a:prstGeom>
          <a:noFill/>
          <a:ln/>
        </p:spPr>
        <p:txBody>
          <a:bodyPr wrap="square" lIns="0" tIns="0" rIns="0" bIns="0" rtlCol="0" anchor="ctr"/>
          <a:lstStyle/>
          <a:p>
            <a:pPr algn="ctr"/>
            <a:r>
              <a:rPr lang="en-US" sz="1650" b="1">
                <a:solidFill>
                  <a:srgbClr val="FFFFFF"/>
                </a:solidFill>
              </a:rPr>
              <a:t>$1.5M</a:t>
            </a:r>
            <a:endParaRPr lang="en-US" sz="1650"/>
          </a:p>
        </p:txBody>
      </p:sp>
      <p:sp>
        <p:nvSpPr>
          <p:cNvPr id="20" name="Text 17"/>
          <p:cNvSpPr/>
          <p:nvPr/>
        </p:nvSpPr>
        <p:spPr>
          <a:xfrm>
            <a:off x="4478274" y="3938855"/>
            <a:ext cx="1634932" cy="96012"/>
          </a:xfrm>
          <a:prstGeom prst="rect">
            <a:avLst/>
          </a:prstGeom>
          <a:noFill/>
          <a:ln/>
        </p:spPr>
        <p:txBody>
          <a:bodyPr wrap="square" lIns="0" tIns="0" rIns="0" bIns="0" rtlCol="0" anchor="ctr"/>
          <a:lstStyle/>
          <a:p>
            <a:pPr algn="ctr"/>
            <a:r>
              <a:rPr lang="en-US" sz="1000">
                <a:solidFill>
                  <a:srgbClr val="FFFFFF"/>
                </a:solidFill>
              </a:rPr>
              <a:t>Earlier value realization</a:t>
            </a:r>
            <a:endParaRPr lang="en-US" sz="1000"/>
          </a:p>
        </p:txBody>
      </p:sp>
      <p:sp>
        <p:nvSpPr>
          <p:cNvPr id="21" name="Text 18"/>
          <p:cNvSpPr/>
          <p:nvPr/>
        </p:nvSpPr>
        <p:spPr>
          <a:xfrm>
            <a:off x="534924" y="3588507"/>
            <a:ext cx="3748930" cy="534924"/>
          </a:xfrm>
          <a:prstGeom prst="rect">
            <a:avLst/>
          </a:prstGeom>
          <a:noFill/>
          <a:ln/>
        </p:spPr>
        <p:txBody>
          <a:bodyPr wrap="square" lIns="0" tIns="0" rIns="0" bIns="0" rtlCol="0" anchor="ctr"/>
          <a:lstStyle/>
          <a:p>
            <a:r>
              <a:rPr lang="en-US" sz="1200" b="1">
                <a:solidFill>
                  <a:srgbClr val="102A30"/>
                </a:solidFill>
              </a:rPr>
              <a:t>Use the value of time carefully: this is accelerated realization, not automatically incremental revenue.</a:t>
            </a:r>
            <a:endParaRPr lang="en-US" sz="1200"/>
          </a:p>
        </p:txBody>
      </p:sp>
      <p:sp>
        <p:nvSpPr>
          <p:cNvPr id="24" name="Rectangle 23">
            <a:extLst>
              <a:ext uri="{FF2B5EF4-FFF2-40B4-BE49-F238E27FC236}">
                <a16:creationId xmlns:a16="http://schemas.microsoft.com/office/drawing/2014/main" id="{64BC8A36-224E-4318-9C4F-69146B25DA8D}"/>
              </a:ext>
            </a:extLst>
          </p:cNvPr>
          <p:cNvSpPr/>
          <p:nvPr/>
        </p:nvSpPr>
        <p:spPr>
          <a:xfrm>
            <a:off x="8382000" y="4762500"/>
            <a:ext cx="304800" cy="3810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t"/>
          <a:lstStyle/>
          <a:p>
            <a:pPr algn="ctr"/>
            <a:endParaRPr lang="en-US"/>
          </a:p>
        </p:txBody>
      </p:sp>
      <p:sp>
        <p:nvSpPr>
          <p:cNvPr id="25" name="BP_PageNumber">
            <a:extLst>
              <a:ext uri="{FF2B5EF4-FFF2-40B4-BE49-F238E27FC236}">
                <a16:creationId xmlns:a16="http://schemas.microsoft.com/office/drawing/2014/main" id="{D25BC086-B0D1-4964-8594-493AAC481CA4}"/>
              </a:ext>
            </a:extLst>
          </p:cNvPr>
          <p:cNvSpPr/>
          <p:nvPr/>
        </p:nvSpPr>
        <p:spPr>
          <a:xfrm>
            <a:off x="8686800" y="4838700"/>
            <a:ext cx="457200" cy="3048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wrap="none" rtlCol="0" anchor="ctr" anchorCtr="0">
            <a:noAutofit/>
          </a:bodyPr>
          <a:lstStyle/>
          <a:p>
            <a:pPr algn="ctr"/>
            <a:r>
              <a:rPr lang="en-US" sz="800" b="1">
                <a:solidFill>
                  <a:srgbClr val="FFFFFF"/>
                </a:solidFill>
              </a:rPr>
              <a:t>11</a:t>
            </a:r>
          </a:p>
        </p:txBody>
      </p:sp>
    </p:spTree>
    <p:extLst>
      <p:ext uri="{BB962C8B-B14F-4D97-AF65-F5344CB8AC3E}">
        <p14:creationId xmlns:p14="http://schemas.microsoft.com/office/powerpoint/2010/main" val="1077724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2026-SAFeSummit-SanDiego-BreakoutSession-Speakers-MasterTemplate/slide-2.png"/>
          <p:cNvPicPr>
            <a:picLocks noChangeAspect="1"/>
          </p:cNvPicPr>
          <p:nvPr/>
        </p:nvPicPr>
        <p:blipFill>
          <a:blip r:embed="rId4"/>
          <a:stretch>
            <a:fillRect/>
          </a:stretch>
        </p:blipFill>
        <p:spPr>
          <a:xfrm>
            <a:off x="1" y="0"/>
            <a:ext cx="9143771" cy="5143500"/>
          </a:xfrm>
          <a:prstGeom prst="rect">
            <a:avLst/>
          </a:prstGeom>
        </p:spPr>
      </p:pic>
      <p:sp>
        <p:nvSpPr>
          <p:cNvPr id="3" name="Shape 0"/>
          <p:cNvSpPr/>
          <p:nvPr/>
        </p:nvSpPr>
        <p:spPr>
          <a:xfrm>
            <a:off x="356616" y="879761"/>
            <a:ext cx="6549390" cy="3806190"/>
          </a:xfrm>
          <a:prstGeom prst="rect">
            <a:avLst/>
          </a:prstGeom>
          <a:solidFill>
            <a:srgbClr val="F4F1EA"/>
          </a:solidFill>
          <a:ln w="12700">
            <a:solidFill>
              <a:srgbClr val="F4F1EA"/>
            </a:solidFill>
            <a:prstDash val="solid"/>
          </a:ln>
        </p:spPr>
        <p:txBody>
          <a:bodyPr/>
          <a:lstStyle/>
          <a:p>
            <a:endParaRPr lang="en-US" sz="1350"/>
          </a:p>
        </p:txBody>
      </p:sp>
      <p:sp>
        <p:nvSpPr>
          <p:cNvPr id="4" name="Text 1"/>
          <p:cNvSpPr/>
          <p:nvPr/>
        </p:nvSpPr>
        <p:spPr>
          <a:xfrm>
            <a:off x="466343" y="384048"/>
            <a:ext cx="6987401" cy="356616"/>
          </a:xfrm>
          <a:prstGeom prst="rect">
            <a:avLst/>
          </a:prstGeom>
          <a:noFill/>
          <a:ln/>
        </p:spPr>
        <p:txBody>
          <a:bodyPr wrap="square" lIns="0" tIns="0" rIns="0" bIns="0" rtlCol="0" anchor="ctr"/>
          <a:lstStyle/>
          <a:p>
            <a:r>
              <a:rPr lang="en-US" sz="1875" b="1">
                <a:solidFill>
                  <a:srgbClr val="102A30"/>
                </a:solidFill>
                <a:latin typeface="Arial" pitchFamily="34" charset="0"/>
                <a:ea typeface="Arial" pitchFamily="34" charset="-122"/>
                <a:cs typeface="Arial" pitchFamily="34" charset="-120"/>
              </a:rPr>
              <a:t>3. </a:t>
            </a:r>
            <a:r>
              <a:rPr lang="en-US" sz="2000" b="1"/>
              <a:t>Efficiency + Unplanned Work → Recovered Capacity</a:t>
            </a:r>
            <a:endParaRPr lang="en-US" sz="1875" b="1"/>
          </a:p>
        </p:txBody>
      </p:sp>
      <p:sp>
        <p:nvSpPr>
          <p:cNvPr id="5" name="Shape 2"/>
          <p:cNvSpPr/>
          <p:nvPr/>
        </p:nvSpPr>
        <p:spPr>
          <a:xfrm>
            <a:off x="466344" y="1003205"/>
            <a:ext cx="720090" cy="0"/>
          </a:xfrm>
          <a:prstGeom prst="line">
            <a:avLst/>
          </a:prstGeom>
          <a:noFill/>
          <a:ln w="38100">
            <a:solidFill>
              <a:srgbClr val="6D5BC0"/>
            </a:solidFill>
            <a:prstDash val="solid"/>
          </a:ln>
        </p:spPr>
        <p:txBody>
          <a:bodyPr/>
          <a:lstStyle/>
          <a:p>
            <a:endParaRPr lang="en-US" sz="1350"/>
          </a:p>
        </p:txBody>
      </p:sp>
      <p:sp>
        <p:nvSpPr>
          <p:cNvPr id="6" name="Text 3"/>
          <p:cNvSpPr/>
          <p:nvPr/>
        </p:nvSpPr>
        <p:spPr>
          <a:xfrm>
            <a:off x="466344" y="1145306"/>
            <a:ext cx="6170430" cy="228232"/>
          </a:xfrm>
          <a:prstGeom prst="rect">
            <a:avLst/>
          </a:prstGeom>
          <a:noFill/>
          <a:ln/>
        </p:spPr>
        <p:txBody>
          <a:bodyPr wrap="square" lIns="0" tIns="0" rIns="0" bIns="0" rtlCol="0" anchor="ctr"/>
          <a:lstStyle/>
          <a:p>
            <a:r>
              <a:rPr lang="en-US" sz="1100" b="1" kern="0" spc="90">
                <a:solidFill>
                  <a:srgbClr val="6D5BC0"/>
                </a:solidFill>
              </a:rPr>
              <a:t>TWO WAYS TO EXPOSE CAPACITY CONSUMED BY FRICTION</a:t>
            </a:r>
          </a:p>
        </p:txBody>
      </p:sp>
      <p:sp>
        <p:nvSpPr>
          <p:cNvPr id="7" name="Shape 4"/>
          <p:cNvSpPr/>
          <p:nvPr/>
        </p:nvSpPr>
        <p:spPr>
          <a:xfrm>
            <a:off x="521208" y="1510697"/>
            <a:ext cx="2846070" cy="1680210"/>
          </a:xfrm>
          <a:prstGeom prst="roundRect">
            <a:avLst>
              <a:gd name="adj" fmla="val 2449"/>
            </a:avLst>
          </a:prstGeom>
          <a:solidFill>
            <a:srgbClr val="FFFFFF"/>
          </a:solidFill>
          <a:ln w="12700">
            <a:solidFill>
              <a:srgbClr val="DAD7D0"/>
            </a:solidFill>
            <a:prstDash val="solid"/>
          </a:ln>
          <a:effectLst>
            <a:outerShdw blurRad="15240" dist="12700" dir="2700000" algn="bl" rotWithShape="0">
              <a:srgbClr val="000000">
                <a:alpha val="12000"/>
              </a:srgbClr>
            </a:outerShdw>
          </a:effectLst>
        </p:spPr>
        <p:txBody>
          <a:bodyPr/>
          <a:lstStyle/>
          <a:p>
            <a:endParaRPr lang="en-US" sz="1350"/>
          </a:p>
        </p:txBody>
      </p:sp>
      <p:sp>
        <p:nvSpPr>
          <p:cNvPr id="8" name="Text 5"/>
          <p:cNvSpPr/>
          <p:nvPr/>
        </p:nvSpPr>
        <p:spPr>
          <a:xfrm>
            <a:off x="644652" y="1606709"/>
            <a:ext cx="2722626" cy="226314"/>
          </a:xfrm>
          <a:prstGeom prst="rect">
            <a:avLst/>
          </a:prstGeom>
          <a:noFill/>
          <a:ln/>
        </p:spPr>
        <p:txBody>
          <a:bodyPr wrap="square" lIns="0" tIns="0" rIns="0" bIns="0" rtlCol="0" anchor="ctr"/>
          <a:lstStyle/>
          <a:p>
            <a:r>
              <a:rPr lang="en-US" sz="1400" b="1"/>
              <a:t>Equivalent Recovered Capacity</a:t>
            </a:r>
          </a:p>
        </p:txBody>
      </p:sp>
      <p:sp>
        <p:nvSpPr>
          <p:cNvPr id="9" name="Text 6"/>
          <p:cNvSpPr/>
          <p:nvPr/>
        </p:nvSpPr>
        <p:spPr>
          <a:xfrm>
            <a:off x="644652" y="1867313"/>
            <a:ext cx="2599182" cy="1241298"/>
          </a:xfrm>
          <a:prstGeom prst="rect">
            <a:avLst/>
          </a:prstGeom>
          <a:noFill/>
          <a:ln/>
        </p:spPr>
        <p:txBody>
          <a:bodyPr wrap="square" lIns="0" tIns="0" rIns="0" bIns="0" rtlCol="0" anchor="ctr">
            <a:normAutofit/>
          </a:bodyPr>
          <a:lstStyle/>
          <a:p>
            <a:r>
              <a:rPr lang="en-US" sz="1100">
                <a:solidFill>
                  <a:srgbClr val="6E777B"/>
                </a:solidFill>
              </a:rPr>
              <a:t>((Current Efficiency − Baseline Efficiency) / 100) × Engineering Spend</a:t>
            </a:r>
            <a:endParaRPr lang="en-US" sz="1100"/>
          </a:p>
          <a:p>
            <a:endParaRPr lang="en-US" sz="1100"/>
          </a:p>
          <a:p>
            <a:r>
              <a:rPr lang="en-US" sz="1100">
                <a:solidFill>
                  <a:srgbClr val="6E777B"/>
                </a:solidFill>
              </a:rPr>
              <a:t>25% → 40% efficiency</a:t>
            </a:r>
            <a:endParaRPr lang="en-US" sz="1100"/>
          </a:p>
          <a:p>
            <a:r>
              <a:rPr lang="en-US" sz="1100">
                <a:solidFill>
                  <a:srgbClr val="6E777B"/>
                </a:solidFill>
              </a:rPr>
              <a:t>15% gain × $15M engineering spend = $2.25M</a:t>
            </a:r>
            <a:endParaRPr lang="en-US" sz="1100"/>
          </a:p>
        </p:txBody>
      </p:sp>
      <p:sp>
        <p:nvSpPr>
          <p:cNvPr id="10" name="Shape 7"/>
          <p:cNvSpPr/>
          <p:nvPr/>
        </p:nvSpPr>
        <p:spPr>
          <a:xfrm>
            <a:off x="706374" y="3376073"/>
            <a:ext cx="2468880" cy="534924"/>
          </a:xfrm>
          <a:prstGeom prst="roundRect">
            <a:avLst>
              <a:gd name="adj" fmla="val 7692"/>
            </a:avLst>
          </a:prstGeom>
          <a:solidFill>
            <a:srgbClr val="81C8CC"/>
          </a:solidFill>
          <a:ln w="12700">
            <a:solidFill>
              <a:srgbClr val="81C8CC"/>
            </a:solidFill>
            <a:prstDash val="solid"/>
          </a:ln>
        </p:spPr>
        <p:txBody>
          <a:bodyPr/>
          <a:lstStyle/>
          <a:p>
            <a:endParaRPr lang="en-US" sz="1350"/>
          </a:p>
        </p:txBody>
      </p:sp>
      <p:sp>
        <p:nvSpPr>
          <p:cNvPr id="11" name="Text 8"/>
          <p:cNvSpPr/>
          <p:nvPr/>
        </p:nvSpPr>
        <p:spPr>
          <a:xfrm>
            <a:off x="802386" y="3451511"/>
            <a:ext cx="2276856" cy="219456"/>
          </a:xfrm>
          <a:prstGeom prst="rect">
            <a:avLst/>
          </a:prstGeom>
          <a:noFill/>
          <a:ln/>
        </p:spPr>
        <p:txBody>
          <a:bodyPr wrap="square" lIns="0" tIns="0" rIns="0" bIns="0" rtlCol="0" anchor="ctr"/>
          <a:lstStyle/>
          <a:p>
            <a:pPr algn="ctr"/>
            <a:r>
              <a:rPr lang="en-US" sz="1650" b="1">
                <a:solidFill>
                  <a:srgbClr val="FFFFFF"/>
                </a:solidFill>
              </a:rPr>
              <a:t>$2.25M</a:t>
            </a:r>
            <a:endParaRPr lang="en-US" sz="1650"/>
          </a:p>
        </p:txBody>
      </p:sp>
      <p:sp>
        <p:nvSpPr>
          <p:cNvPr id="12" name="Text 9"/>
          <p:cNvSpPr/>
          <p:nvPr/>
        </p:nvSpPr>
        <p:spPr>
          <a:xfrm>
            <a:off x="761238" y="3705257"/>
            <a:ext cx="2359152" cy="123444"/>
          </a:xfrm>
          <a:prstGeom prst="rect">
            <a:avLst/>
          </a:prstGeom>
          <a:noFill/>
          <a:ln/>
        </p:spPr>
        <p:txBody>
          <a:bodyPr wrap="square" lIns="0" tIns="0" rIns="0" bIns="0" rtlCol="0" anchor="ctr"/>
          <a:lstStyle/>
          <a:p>
            <a:pPr algn="ctr"/>
            <a:r>
              <a:rPr lang="en-US" sz="1100">
                <a:solidFill>
                  <a:srgbClr val="FFFFFF"/>
                </a:solidFill>
              </a:rPr>
              <a:t>Equivalent Capacity</a:t>
            </a:r>
            <a:endParaRPr lang="en-US" sz="1100"/>
          </a:p>
        </p:txBody>
      </p:sp>
      <p:sp>
        <p:nvSpPr>
          <p:cNvPr id="13" name="Shape 10"/>
          <p:cNvSpPr/>
          <p:nvPr/>
        </p:nvSpPr>
        <p:spPr>
          <a:xfrm>
            <a:off x="3566160" y="1510697"/>
            <a:ext cx="2846070" cy="1680210"/>
          </a:xfrm>
          <a:prstGeom prst="roundRect">
            <a:avLst>
              <a:gd name="adj" fmla="val 2449"/>
            </a:avLst>
          </a:prstGeom>
          <a:solidFill>
            <a:srgbClr val="FFFFFF"/>
          </a:solidFill>
          <a:ln w="12700">
            <a:solidFill>
              <a:srgbClr val="DAD7D0"/>
            </a:solidFill>
            <a:prstDash val="solid"/>
          </a:ln>
          <a:effectLst>
            <a:outerShdw blurRad="15240" dist="12700" dir="2700000" algn="bl" rotWithShape="0">
              <a:srgbClr val="000000">
                <a:alpha val="12000"/>
              </a:srgbClr>
            </a:outerShdw>
          </a:effectLst>
        </p:spPr>
        <p:txBody>
          <a:bodyPr/>
          <a:lstStyle/>
          <a:p>
            <a:endParaRPr lang="en-US" sz="1350"/>
          </a:p>
        </p:txBody>
      </p:sp>
      <p:sp>
        <p:nvSpPr>
          <p:cNvPr id="14" name="Text 11"/>
          <p:cNvSpPr/>
          <p:nvPr/>
        </p:nvSpPr>
        <p:spPr>
          <a:xfrm>
            <a:off x="3689604" y="1606709"/>
            <a:ext cx="2722626" cy="226314"/>
          </a:xfrm>
          <a:prstGeom prst="rect">
            <a:avLst/>
          </a:prstGeom>
          <a:noFill/>
          <a:ln/>
        </p:spPr>
        <p:txBody>
          <a:bodyPr wrap="square" lIns="0" tIns="0" rIns="0" bIns="0" rtlCol="0" anchor="ctr"/>
          <a:lstStyle/>
          <a:p>
            <a:r>
              <a:rPr lang="en-US" sz="1400" b="1">
                <a:solidFill>
                  <a:srgbClr val="102A30"/>
                </a:solidFill>
              </a:rPr>
              <a:t>Reduction in Unplanned Work</a:t>
            </a:r>
            <a:endParaRPr lang="en-US" sz="1400"/>
          </a:p>
        </p:txBody>
      </p:sp>
      <p:sp>
        <p:nvSpPr>
          <p:cNvPr id="15" name="Text 12"/>
          <p:cNvSpPr/>
          <p:nvPr/>
        </p:nvSpPr>
        <p:spPr>
          <a:xfrm>
            <a:off x="3689604" y="1884864"/>
            <a:ext cx="2599182" cy="1124712"/>
          </a:xfrm>
          <a:prstGeom prst="rect">
            <a:avLst/>
          </a:prstGeom>
          <a:noFill/>
          <a:ln/>
        </p:spPr>
        <p:txBody>
          <a:bodyPr wrap="square" lIns="0" tIns="0" rIns="0" bIns="0" rtlCol="0" anchor="ctr">
            <a:normAutofit/>
          </a:bodyPr>
          <a:lstStyle/>
          <a:p>
            <a:r>
              <a:rPr lang="en-US" sz="1100">
                <a:solidFill>
                  <a:srgbClr val="6E777B"/>
                </a:solidFill>
              </a:rPr>
              <a:t>(Baseline Unplanned Work% − Current Unplanned Work%) × Engineering Spend</a:t>
            </a:r>
            <a:endParaRPr lang="en-US" sz="1100"/>
          </a:p>
          <a:p>
            <a:endParaRPr lang="en-US" sz="1100"/>
          </a:p>
          <a:p>
            <a:r>
              <a:rPr lang="en-US" sz="1100">
                <a:solidFill>
                  <a:srgbClr val="6E777B"/>
                </a:solidFill>
              </a:rPr>
              <a:t>30% → 20% unplanned work</a:t>
            </a:r>
            <a:endParaRPr lang="en-US" sz="1100"/>
          </a:p>
          <a:p>
            <a:r>
              <a:rPr lang="en-US" sz="1100">
                <a:solidFill>
                  <a:srgbClr val="6E777B"/>
                </a:solidFill>
              </a:rPr>
              <a:t>10% reduction × $15M = $1.5M</a:t>
            </a:r>
            <a:endParaRPr lang="en-US" sz="1100"/>
          </a:p>
        </p:txBody>
      </p:sp>
      <p:sp>
        <p:nvSpPr>
          <p:cNvPr id="16" name="Shape 13"/>
          <p:cNvSpPr/>
          <p:nvPr/>
        </p:nvSpPr>
        <p:spPr>
          <a:xfrm>
            <a:off x="3751326" y="3376073"/>
            <a:ext cx="2468880" cy="534924"/>
          </a:xfrm>
          <a:prstGeom prst="roundRect">
            <a:avLst>
              <a:gd name="adj" fmla="val 7692"/>
            </a:avLst>
          </a:prstGeom>
          <a:solidFill>
            <a:srgbClr val="0A3A43"/>
          </a:solidFill>
          <a:ln w="12700">
            <a:solidFill>
              <a:srgbClr val="0A3A43"/>
            </a:solidFill>
            <a:prstDash val="solid"/>
          </a:ln>
        </p:spPr>
        <p:txBody>
          <a:bodyPr/>
          <a:lstStyle/>
          <a:p>
            <a:endParaRPr lang="en-US" sz="1350"/>
          </a:p>
        </p:txBody>
      </p:sp>
      <p:sp>
        <p:nvSpPr>
          <p:cNvPr id="17" name="Text 14"/>
          <p:cNvSpPr/>
          <p:nvPr/>
        </p:nvSpPr>
        <p:spPr>
          <a:xfrm>
            <a:off x="3847338" y="3451511"/>
            <a:ext cx="2276856" cy="219456"/>
          </a:xfrm>
          <a:prstGeom prst="rect">
            <a:avLst/>
          </a:prstGeom>
          <a:noFill/>
          <a:ln/>
        </p:spPr>
        <p:txBody>
          <a:bodyPr wrap="square" lIns="0" tIns="0" rIns="0" bIns="0" rtlCol="0" anchor="ctr"/>
          <a:lstStyle/>
          <a:p>
            <a:pPr algn="ctr"/>
            <a:r>
              <a:rPr lang="en-US" sz="1650" b="1">
                <a:solidFill>
                  <a:srgbClr val="FFFFFF"/>
                </a:solidFill>
              </a:rPr>
              <a:t>$1.50M</a:t>
            </a:r>
            <a:endParaRPr lang="en-US" sz="1650"/>
          </a:p>
        </p:txBody>
      </p:sp>
      <p:sp>
        <p:nvSpPr>
          <p:cNvPr id="18" name="Text 15"/>
          <p:cNvSpPr/>
          <p:nvPr/>
        </p:nvSpPr>
        <p:spPr>
          <a:xfrm>
            <a:off x="3806190" y="3705257"/>
            <a:ext cx="2359152" cy="123444"/>
          </a:xfrm>
          <a:prstGeom prst="rect">
            <a:avLst/>
          </a:prstGeom>
          <a:noFill/>
          <a:ln/>
        </p:spPr>
        <p:txBody>
          <a:bodyPr wrap="square" lIns="0" tIns="0" rIns="0" bIns="0" rtlCol="0" anchor="ctr"/>
          <a:lstStyle/>
          <a:p>
            <a:pPr algn="ctr"/>
            <a:r>
              <a:rPr lang="en-US" sz="1100">
                <a:solidFill>
                  <a:srgbClr val="FFFFFF"/>
                </a:solidFill>
              </a:rPr>
              <a:t>Reduced unplanned-work burden</a:t>
            </a:r>
            <a:endParaRPr lang="en-US" sz="1100"/>
          </a:p>
        </p:txBody>
      </p:sp>
      <p:sp>
        <p:nvSpPr>
          <p:cNvPr id="19" name="Text 16"/>
          <p:cNvSpPr/>
          <p:nvPr/>
        </p:nvSpPr>
        <p:spPr>
          <a:xfrm>
            <a:off x="534924" y="4092734"/>
            <a:ext cx="5795010" cy="411480"/>
          </a:xfrm>
          <a:prstGeom prst="rect">
            <a:avLst/>
          </a:prstGeom>
          <a:noFill/>
          <a:ln/>
        </p:spPr>
        <p:txBody>
          <a:bodyPr wrap="square" lIns="0" tIns="0" rIns="0" bIns="0" rtlCol="0" anchor="ctr"/>
          <a:lstStyle/>
          <a:p>
            <a:r>
              <a:rPr lang="en-US" sz="1200" b="1">
                <a:solidFill>
                  <a:srgbClr val="102A30"/>
                </a:solidFill>
              </a:rPr>
              <a:t>These measures tell a story executives recognize: “We recovered capacity that was previously consumed by friction rather than value creation.”</a:t>
            </a:r>
            <a:endParaRPr lang="en-US" sz="1200"/>
          </a:p>
        </p:txBody>
      </p:sp>
      <p:sp>
        <p:nvSpPr>
          <p:cNvPr id="23" name="Rectangle 22">
            <a:extLst>
              <a:ext uri="{FF2B5EF4-FFF2-40B4-BE49-F238E27FC236}">
                <a16:creationId xmlns:a16="http://schemas.microsoft.com/office/drawing/2014/main" id="{67532AB4-8E17-4B07-9199-FBF3FCA94629}"/>
              </a:ext>
            </a:extLst>
          </p:cNvPr>
          <p:cNvSpPr/>
          <p:nvPr/>
        </p:nvSpPr>
        <p:spPr>
          <a:xfrm>
            <a:off x="8382000" y="4762500"/>
            <a:ext cx="304800" cy="3810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t"/>
          <a:lstStyle/>
          <a:p>
            <a:pPr algn="ctr"/>
            <a:endParaRPr lang="en-US"/>
          </a:p>
        </p:txBody>
      </p:sp>
      <p:sp>
        <p:nvSpPr>
          <p:cNvPr id="24" name="BP_PageNumber">
            <a:extLst>
              <a:ext uri="{FF2B5EF4-FFF2-40B4-BE49-F238E27FC236}">
                <a16:creationId xmlns:a16="http://schemas.microsoft.com/office/drawing/2014/main" id="{B8D45904-D8A6-4BEA-A58E-07D4D999A28B}"/>
              </a:ext>
            </a:extLst>
          </p:cNvPr>
          <p:cNvSpPr/>
          <p:nvPr/>
        </p:nvSpPr>
        <p:spPr>
          <a:xfrm>
            <a:off x="8686800" y="4838700"/>
            <a:ext cx="457200" cy="3048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wrap="none" rtlCol="0" anchor="ctr" anchorCtr="0">
            <a:noAutofit/>
          </a:bodyPr>
          <a:lstStyle/>
          <a:p>
            <a:pPr algn="ctr"/>
            <a:r>
              <a:rPr lang="en-US" sz="800" b="1">
                <a:solidFill>
                  <a:srgbClr val="FFFFFF"/>
                </a:solidFill>
              </a:rPr>
              <a:t>12</a:t>
            </a:r>
          </a:p>
        </p:txBody>
      </p:sp>
    </p:spTree>
    <p:extLst>
      <p:ext uri="{BB962C8B-B14F-4D97-AF65-F5344CB8AC3E}">
        <p14:creationId xmlns:p14="http://schemas.microsoft.com/office/powerpoint/2010/main" val="2042153507"/>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2026-SAFeSummit-SanDiego-BreakoutSession-Speakers-MasterTemplate/slide-2.png"/>
          <p:cNvPicPr>
            <a:picLocks noChangeAspect="1"/>
          </p:cNvPicPr>
          <p:nvPr/>
        </p:nvPicPr>
        <p:blipFill>
          <a:blip r:embed="rId4"/>
          <a:stretch>
            <a:fillRect/>
          </a:stretch>
        </p:blipFill>
        <p:spPr>
          <a:xfrm>
            <a:off x="1" y="0"/>
            <a:ext cx="9143771" cy="5143500"/>
          </a:xfrm>
          <a:prstGeom prst="rect">
            <a:avLst/>
          </a:prstGeom>
        </p:spPr>
      </p:pic>
      <p:sp>
        <p:nvSpPr>
          <p:cNvPr id="3" name="Shape 0"/>
          <p:cNvSpPr/>
          <p:nvPr/>
        </p:nvSpPr>
        <p:spPr>
          <a:xfrm>
            <a:off x="356616" y="925941"/>
            <a:ext cx="6549390" cy="3806190"/>
          </a:xfrm>
          <a:prstGeom prst="rect">
            <a:avLst/>
          </a:prstGeom>
          <a:solidFill>
            <a:srgbClr val="F4F1EA"/>
          </a:solidFill>
          <a:ln w="12700">
            <a:solidFill>
              <a:srgbClr val="F4F1EA"/>
            </a:solidFill>
            <a:prstDash val="solid"/>
          </a:ln>
        </p:spPr>
        <p:txBody>
          <a:bodyPr/>
          <a:lstStyle/>
          <a:p>
            <a:endParaRPr lang="en-US" sz="1350"/>
          </a:p>
        </p:txBody>
      </p:sp>
      <p:sp>
        <p:nvSpPr>
          <p:cNvPr id="4" name="Text 1"/>
          <p:cNvSpPr/>
          <p:nvPr/>
        </p:nvSpPr>
        <p:spPr>
          <a:xfrm>
            <a:off x="466344" y="384048"/>
            <a:ext cx="6412230" cy="356616"/>
          </a:xfrm>
          <a:prstGeom prst="rect">
            <a:avLst/>
          </a:prstGeom>
          <a:noFill/>
          <a:ln/>
        </p:spPr>
        <p:txBody>
          <a:bodyPr wrap="square" lIns="0" tIns="0" rIns="0" bIns="0" rtlCol="0" anchor="ctr"/>
          <a:lstStyle/>
          <a:p>
            <a:r>
              <a:rPr lang="en-US" sz="1875" b="1">
                <a:solidFill>
                  <a:srgbClr val="102A30"/>
                </a:solidFill>
                <a:latin typeface="Arial" pitchFamily="34" charset="0"/>
                <a:ea typeface="Arial" pitchFamily="34" charset="-122"/>
                <a:cs typeface="Arial" pitchFamily="34" charset="-120"/>
              </a:rPr>
              <a:t>4. Blocked Time + Quality → Hidden Capacity &amp; Avoidance</a:t>
            </a:r>
            <a:endParaRPr lang="en-US" sz="1875"/>
          </a:p>
        </p:txBody>
      </p:sp>
      <p:sp>
        <p:nvSpPr>
          <p:cNvPr id="5" name="Shape 2"/>
          <p:cNvSpPr/>
          <p:nvPr/>
        </p:nvSpPr>
        <p:spPr>
          <a:xfrm>
            <a:off x="466344" y="1196869"/>
            <a:ext cx="720090" cy="0"/>
          </a:xfrm>
          <a:prstGeom prst="line">
            <a:avLst/>
          </a:prstGeom>
          <a:noFill/>
          <a:ln w="38100">
            <a:solidFill>
              <a:srgbClr val="6D5BC0"/>
            </a:solidFill>
            <a:prstDash val="solid"/>
          </a:ln>
        </p:spPr>
        <p:txBody>
          <a:bodyPr/>
          <a:lstStyle/>
          <a:p>
            <a:endParaRPr lang="en-US" sz="1350"/>
          </a:p>
        </p:txBody>
      </p:sp>
      <p:sp>
        <p:nvSpPr>
          <p:cNvPr id="6" name="Shape 3"/>
          <p:cNvSpPr/>
          <p:nvPr/>
        </p:nvSpPr>
        <p:spPr>
          <a:xfrm>
            <a:off x="514350" y="1392285"/>
            <a:ext cx="2846070" cy="1817370"/>
          </a:xfrm>
          <a:prstGeom prst="roundRect">
            <a:avLst>
              <a:gd name="adj" fmla="val 2264"/>
            </a:avLst>
          </a:prstGeom>
          <a:solidFill>
            <a:srgbClr val="FFFFFF"/>
          </a:solidFill>
          <a:ln w="12700">
            <a:solidFill>
              <a:srgbClr val="DAD7D0"/>
            </a:solidFill>
            <a:prstDash val="solid"/>
          </a:ln>
          <a:effectLst>
            <a:outerShdw blurRad="15240" dist="12700" dir="2700000" algn="bl" rotWithShape="0">
              <a:srgbClr val="000000">
                <a:alpha val="12000"/>
              </a:srgbClr>
            </a:outerShdw>
          </a:effectLst>
        </p:spPr>
        <p:txBody>
          <a:bodyPr/>
          <a:lstStyle/>
          <a:p>
            <a:endParaRPr lang="en-US" sz="1350"/>
          </a:p>
        </p:txBody>
      </p:sp>
      <p:sp>
        <p:nvSpPr>
          <p:cNvPr id="7" name="Text 4"/>
          <p:cNvSpPr/>
          <p:nvPr/>
        </p:nvSpPr>
        <p:spPr>
          <a:xfrm>
            <a:off x="637794" y="1534673"/>
            <a:ext cx="2599182" cy="192024"/>
          </a:xfrm>
          <a:prstGeom prst="rect">
            <a:avLst/>
          </a:prstGeom>
          <a:noFill/>
          <a:ln/>
        </p:spPr>
        <p:txBody>
          <a:bodyPr wrap="square" lIns="0" tIns="0" rIns="0" bIns="0" rtlCol="0" anchor="ctr"/>
          <a:lstStyle/>
          <a:p>
            <a:r>
              <a:rPr lang="en-US" sz="1400" b="1">
                <a:solidFill>
                  <a:srgbClr val="102A30"/>
                </a:solidFill>
              </a:rPr>
              <a:t>Productivity Recovery</a:t>
            </a:r>
            <a:endParaRPr lang="en-US" sz="1400"/>
          </a:p>
        </p:txBody>
      </p:sp>
      <p:sp>
        <p:nvSpPr>
          <p:cNvPr id="8" name="Text 5"/>
          <p:cNvSpPr/>
          <p:nvPr/>
        </p:nvSpPr>
        <p:spPr>
          <a:xfrm>
            <a:off x="637794" y="1748901"/>
            <a:ext cx="2599182" cy="1378458"/>
          </a:xfrm>
          <a:prstGeom prst="rect">
            <a:avLst/>
          </a:prstGeom>
          <a:noFill/>
          <a:ln/>
        </p:spPr>
        <p:txBody>
          <a:bodyPr wrap="square" lIns="0" tIns="0" rIns="0" bIns="0" rtlCol="0" anchor="ctr">
            <a:normAutofit/>
          </a:bodyPr>
          <a:lstStyle/>
          <a:p>
            <a:r>
              <a:rPr lang="en-US" sz="1100">
                <a:solidFill>
                  <a:srgbClr val="6E777B"/>
                </a:solidFill>
              </a:rPr>
              <a:t>Blocked Hours Reduced per PI × Fully Loaded Hourly Cost × PIs per Year</a:t>
            </a:r>
            <a:endParaRPr lang="en-US" sz="1100"/>
          </a:p>
          <a:p>
            <a:endParaRPr lang="en-US" sz="1100"/>
          </a:p>
          <a:p>
            <a:r>
              <a:rPr lang="en-US" sz="1100">
                <a:solidFill>
                  <a:srgbClr val="6E777B"/>
                </a:solidFill>
              </a:rPr>
              <a:t>800 hours × $100/hour × 5 PIs = $400K</a:t>
            </a:r>
            <a:endParaRPr lang="en-US" sz="1100"/>
          </a:p>
        </p:txBody>
      </p:sp>
      <p:sp>
        <p:nvSpPr>
          <p:cNvPr id="9" name="Shape 6"/>
          <p:cNvSpPr/>
          <p:nvPr/>
        </p:nvSpPr>
        <p:spPr>
          <a:xfrm>
            <a:off x="706374" y="3360531"/>
            <a:ext cx="2468880" cy="534924"/>
          </a:xfrm>
          <a:prstGeom prst="roundRect">
            <a:avLst>
              <a:gd name="adj" fmla="val 7692"/>
            </a:avLst>
          </a:prstGeom>
          <a:solidFill>
            <a:srgbClr val="0A3A43"/>
          </a:solidFill>
          <a:ln w="12700">
            <a:solidFill>
              <a:srgbClr val="0A3A43"/>
            </a:solidFill>
            <a:prstDash val="solid"/>
          </a:ln>
        </p:spPr>
        <p:txBody>
          <a:bodyPr/>
          <a:lstStyle/>
          <a:p>
            <a:endParaRPr lang="en-US" sz="1350"/>
          </a:p>
        </p:txBody>
      </p:sp>
      <p:sp>
        <p:nvSpPr>
          <p:cNvPr id="10" name="Text 7"/>
          <p:cNvSpPr/>
          <p:nvPr/>
        </p:nvSpPr>
        <p:spPr>
          <a:xfrm>
            <a:off x="802386" y="3435969"/>
            <a:ext cx="2276856" cy="219456"/>
          </a:xfrm>
          <a:prstGeom prst="rect">
            <a:avLst/>
          </a:prstGeom>
          <a:noFill/>
          <a:ln/>
        </p:spPr>
        <p:txBody>
          <a:bodyPr wrap="square" lIns="0" tIns="0" rIns="0" bIns="0" rtlCol="0" anchor="ctr"/>
          <a:lstStyle/>
          <a:p>
            <a:pPr algn="ctr"/>
            <a:r>
              <a:rPr lang="en-US" sz="1650" b="1">
                <a:solidFill>
                  <a:srgbClr val="FFFFFF"/>
                </a:solidFill>
              </a:rPr>
              <a:t>$400K</a:t>
            </a:r>
            <a:endParaRPr lang="en-US" sz="1650"/>
          </a:p>
        </p:txBody>
      </p:sp>
      <p:sp>
        <p:nvSpPr>
          <p:cNvPr id="11" name="Text 8"/>
          <p:cNvSpPr/>
          <p:nvPr/>
        </p:nvSpPr>
        <p:spPr>
          <a:xfrm>
            <a:off x="761238" y="3689715"/>
            <a:ext cx="2359152" cy="123444"/>
          </a:xfrm>
          <a:prstGeom prst="rect">
            <a:avLst/>
          </a:prstGeom>
          <a:noFill/>
          <a:ln/>
        </p:spPr>
        <p:txBody>
          <a:bodyPr wrap="square" lIns="0" tIns="0" rIns="0" bIns="0" rtlCol="0" anchor="ctr"/>
          <a:lstStyle/>
          <a:p>
            <a:pPr algn="ctr"/>
            <a:r>
              <a:rPr lang="en-US" sz="1000">
                <a:solidFill>
                  <a:srgbClr val="FFFFFF"/>
                </a:solidFill>
              </a:rPr>
              <a:t>Productivity recovery</a:t>
            </a:r>
            <a:endParaRPr lang="en-US" sz="1000"/>
          </a:p>
        </p:txBody>
      </p:sp>
      <p:sp>
        <p:nvSpPr>
          <p:cNvPr id="12" name="Shape 9"/>
          <p:cNvSpPr/>
          <p:nvPr/>
        </p:nvSpPr>
        <p:spPr>
          <a:xfrm>
            <a:off x="3566160" y="1392285"/>
            <a:ext cx="2846070" cy="1817370"/>
          </a:xfrm>
          <a:prstGeom prst="roundRect">
            <a:avLst>
              <a:gd name="adj" fmla="val 2264"/>
            </a:avLst>
          </a:prstGeom>
          <a:solidFill>
            <a:srgbClr val="FFFFFF"/>
          </a:solidFill>
          <a:ln w="12700">
            <a:solidFill>
              <a:srgbClr val="DAD7D0"/>
            </a:solidFill>
            <a:prstDash val="solid"/>
          </a:ln>
          <a:effectLst>
            <a:outerShdw blurRad="15240" dist="12700" dir="2700000" algn="bl" rotWithShape="0">
              <a:srgbClr val="000000">
                <a:alpha val="12000"/>
              </a:srgbClr>
            </a:outerShdw>
          </a:effectLst>
        </p:spPr>
        <p:txBody>
          <a:bodyPr/>
          <a:lstStyle/>
          <a:p>
            <a:endParaRPr lang="en-US" sz="1350"/>
          </a:p>
        </p:txBody>
      </p:sp>
      <p:sp>
        <p:nvSpPr>
          <p:cNvPr id="13" name="Text 10"/>
          <p:cNvSpPr/>
          <p:nvPr/>
        </p:nvSpPr>
        <p:spPr>
          <a:xfrm>
            <a:off x="3689604" y="1488296"/>
            <a:ext cx="2599182" cy="358971"/>
          </a:xfrm>
          <a:prstGeom prst="rect">
            <a:avLst/>
          </a:prstGeom>
          <a:noFill/>
          <a:ln/>
        </p:spPr>
        <p:txBody>
          <a:bodyPr wrap="square" lIns="0" tIns="0" rIns="0" bIns="0" rtlCol="0" anchor="ctr"/>
          <a:lstStyle/>
          <a:p>
            <a:r>
              <a:rPr lang="en-US" sz="1400" b="1">
                <a:solidFill>
                  <a:srgbClr val="102A30"/>
                </a:solidFill>
              </a:rPr>
              <a:t>Estimated Quality Cost Avoidance</a:t>
            </a:r>
            <a:endParaRPr lang="en-US" sz="1400"/>
          </a:p>
        </p:txBody>
      </p:sp>
      <p:sp>
        <p:nvSpPr>
          <p:cNvPr id="14" name="Text 11"/>
          <p:cNvSpPr/>
          <p:nvPr/>
        </p:nvSpPr>
        <p:spPr>
          <a:xfrm>
            <a:off x="3689604" y="1748901"/>
            <a:ext cx="2599182" cy="1378458"/>
          </a:xfrm>
          <a:prstGeom prst="rect">
            <a:avLst/>
          </a:prstGeom>
          <a:noFill/>
          <a:ln/>
        </p:spPr>
        <p:txBody>
          <a:bodyPr wrap="square" lIns="0" tIns="0" rIns="0" bIns="0" rtlCol="0" anchor="ctr">
            <a:normAutofit/>
          </a:bodyPr>
          <a:lstStyle/>
          <a:p>
            <a:r>
              <a:rPr lang="en-US" sz="1100">
                <a:solidFill>
                  <a:srgbClr val="6E777B"/>
                </a:solidFill>
              </a:rPr>
              <a:t>(Baseline Defects − Current Defects) × Incident Cost</a:t>
            </a:r>
            <a:endParaRPr lang="en-US" sz="1100"/>
          </a:p>
          <a:p>
            <a:endParaRPr lang="en-US" sz="1100"/>
          </a:p>
          <a:p>
            <a:r>
              <a:rPr lang="en-US" sz="1100">
                <a:solidFill>
                  <a:srgbClr val="6E777B"/>
                </a:solidFill>
              </a:rPr>
              <a:t>30 fewer incidents × $15K average incident cost = $450K</a:t>
            </a:r>
            <a:endParaRPr lang="en-US" sz="1100"/>
          </a:p>
        </p:txBody>
      </p:sp>
      <p:sp>
        <p:nvSpPr>
          <p:cNvPr id="15" name="Shape 12"/>
          <p:cNvSpPr/>
          <p:nvPr/>
        </p:nvSpPr>
        <p:spPr>
          <a:xfrm>
            <a:off x="3758184" y="3360531"/>
            <a:ext cx="2468880" cy="534924"/>
          </a:xfrm>
          <a:prstGeom prst="roundRect">
            <a:avLst>
              <a:gd name="adj" fmla="val 7692"/>
            </a:avLst>
          </a:prstGeom>
          <a:solidFill>
            <a:srgbClr val="B45AC9"/>
          </a:solidFill>
          <a:ln w="12700">
            <a:solidFill>
              <a:srgbClr val="B45AC9"/>
            </a:solidFill>
            <a:prstDash val="solid"/>
          </a:ln>
        </p:spPr>
        <p:txBody>
          <a:bodyPr/>
          <a:lstStyle/>
          <a:p>
            <a:endParaRPr lang="en-US" sz="1350"/>
          </a:p>
        </p:txBody>
      </p:sp>
      <p:sp>
        <p:nvSpPr>
          <p:cNvPr id="16" name="Text 13"/>
          <p:cNvSpPr/>
          <p:nvPr/>
        </p:nvSpPr>
        <p:spPr>
          <a:xfrm>
            <a:off x="3854196" y="3435969"/>
            <a:ext cx="2276856" cy="219456"/>
          </a:xfrm>
          <a:prstGeom prst="rect">
            <a:avLst/>
          </a:prstGeom>
          <a:noFill/>
          <a:ln/>
        </p:spPr>
        <p:txBody>
          <a:bodyPr wrap="square" lIns="0" tIns="0" rIns="0" bIns="0" rtlCol="0" anchor="ctr"/>
          <a:lstStyle/>
          <a:p>
            <a:pPr algn="ctr"/>
            <a:r>
              <a:rPr lang="en-US" sz="1650" b="1">
                <a:solidFill>
                  <a:srgbClr val="FFFFFF"/>
                </a:solidFill>
              </a:rPr>
              <a:t>$450K</a:t>
            </a:r>
            <a:endParaRPr lang="en-US" sz="1650"/>
          </a:p>
        </p:txBody>
      </p:sp>
      <p:sp>
        <p:nvSpPr>
          <p:cNvPr id="17" name="Text 14"/>
          <p:cNvSpPr/>
          <p:nvPr/>
        </p:nvSpPr>
        <p:spPr>
          <a:xfrm>
            <a:off x="3813048" y="3689715"/>
            <a:ext cx="2359152" cy="123444"/>
          </a:xfrm>
          <a:prstGeom prst="rect">
            <a:avLst/>
          </a:prstGeom>
          <a:noFill/>
          <a:ln/>
        </p:spPr>
        <p:txBody>
          <a:bodyPr wrap="square" lIns="0" tIns="0" rIns="0" bIns="0" rtlCol="0" anchor="ctr"/>
          <a:lstStyle/>
          <a:p>
            <a:pPr algn="ctr"/>
            <a:r>
              <a:rPr lang="en-US" sz="1000">
                <a:solidFill>
                  <a:srgbClr val="FFFFFF"/>
                </a:solidFill>
              </a:rPr>
              <a:t>Quality cost avoidance</a:t>
            </a:r>
            <a:endParaRPr lang="en-US" sz="1000"/>
          </a:p>
        </p:txBody>
      </p:sp>
      <p:sp>
        <p:nvSpPr>
          <p:cNvPr id="18" name="Text 15"/>
          <p:cNvSpPr/>
          <p:nvPr/>
        </p:nvSpPr>
        <p:spPr>
          <a:xfrm>
            <a:off x="534924" y="4152851"/>
            <a:ext cx="5795010" cy="377190"/>
          </a:xfrm>
          <a:prstGeom prst="rect">
            <a:avLst/>
          </a:prstGeom>
          <a:noFill/>
          <a:ln/>
        </p:spPr>
        <p:txBody>
          <a:bodyPr wrap="square" lIns="0" tIns="0" rIns="0" bIns="0" rtlCol="0" anchor="ctr"/>
          <a:lstStyle/>
          <a:p>
            <a:r>
              <a:rPr lang="en-US" sz="1200" b="1">
                <a:solidFill>
                  <a:srgbClr val="102A30"/>
                </a:solidFill>
              </a:rPr>
              <a:t>Blocked work and defect work are both economic leakage. The model makes that leakage visible because it is often invisible in the P&amp;L.</a:t>
            </a:r>
            <a:endParaRPr lang="en-US" sz="1200"/>
          </a:p>
        </p:txBody>
      </p:sp>
      <p:sp>
        <p:nvSpPr>
          <p:cNvPr id="22" name="Rectangle 21">
            <a:extLst>
              <a:ext uri="{FF2B5EF4-FFF2-40B4-BE49-F238E27FC236}">
                <a16:creationId xmlns:a16="http://schemas.microsoft.com/office/drawing/2014/main" id="{BE05C21F-102C-4FEB-AD87-1A1977382B09}"/>
              </a:ext>
            </a:extLst>
          </p:cNvPr>
          <p:cNvSpPr/>
          <p:nvPr/>
        </p:nvSpPr>
        <p:spPr>
          <a:xfrm>
            <a:off x="8382000" y="4762500"/>
            <a:ext cx="304800" cy="3810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t"/>
          <a:lstStyle/>
          <a:p>
            <a:pPr algn="ctr"/>
            <a:endParaRPr lang="en-US"/>
          </a:p>
        </p:txBody>
      </p:sp>
      <p:sp>
        <p:nvSpPr>
          <p:cNvPr id="23" name="BP_PageNumber">
            <a:extLst>
              <a:ext uri="{FF2B5EF4-FFF2-40B4-BE49-F238E27FC236}">
                <a16:creationId xmlns:a16="http://schemas.microsoft.com/office/drawing/2014/main" id="{5A54269B-6FBD-451D-BD4B-8BACD966557B}"/>
              </a:ext>
            </a:extLst>
          </p:cNvPr>
          <p:cNvSpPr/>
          <p:nvPr/>
        </p:nvSpPr>
        <p:spPr>
          <a:xfrm>
            <a:off x="8686800" y="4838700"/>
            <a:ext cx="457200" cy="3048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wrap="none" rtlCol="0" anchor="ctr" anchorCtr="0">
            <a:noAutofit/>
          </a:bodyPr>
          <a:lstStyle/>
          <a:p>
            <a:pPr algn="ctr"/>
            <a:r>
              <a:rPr lang="en-US" sz="800" b="1">
                <a:solidFill>
                  <a:srgbClr val="FFFFFF"/>
                </a:solidFill>
              </a:rPr>
              <a:t>13</a:t>
            </a:r>
          </a:p>
        </p:txBody>
      </p:sp>
    </p:spTree>
    <p:extLst>
      <p:ext uri="{BB962C8B-B14F-4D97-AF65-F5344CB8AC3E}">
        <p14:creationId xmlns:p14="http://schemas.microsoft.com/office/powerpoint/2010/main" val="641562703"/>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2026-SAFeSummit-SanDiego-BreakoutSession-Speakers-MasterTemplate/slide-11.png"/>
          <p:cNvPicPr>
            <a:picLocks noChangeAspect="1"/>
          </p:cNvPicPr>
          <p:nvPr/>
        </p:nvPicPr>
        <p:blipFill>
          <a:blip r:embed="rId3"/>
          <a:stretch>
            <a:fillRect/>
          </a:stretch>
        </p:blipFill>
        <p:spPr>
          <a:xfrm>
            <a:off x="229" y="20574"/>
            <a:ext cx="9143771" cy="5143500"/>
          </a:xfrm>
          <a:prstGeom prst="rect">
            <a:avLst/>
          </a:prstGeom>
        </p:spPr>
      </p:pic>
      <p:sp>
        <p:nvSpPr>
          <p:cNvPr id="3" name="Shape 0"/>
          <p:cNvSpPr/>
          <p:nvPr/>
        </p:nvSpPr>
        <p:spPr>
          <a:xfrm>
            <a:off x="377190" y="329184"/>
            <a:ext cx="8231886" cy="4354830"/>
          </a:xfrm>
          <a:prstGeom prst="rect">
            <a:avLst/>
          </a:prstGeom>
          <a:solidFill>
            <a:srgbClr val="0A3A43"/>
          </a:solidFill>
          <a:ln w="12700">
            <a:solidFill>
              <a:srgbClr val="0A3A43"/>
            </a:solidFill>
            <a:prstDash val="solid"/>
          </a:ln>
        </p:spPr>
        <p:txBody>
          <a:bodyPr/>
          <a:lstStyle/>
          <a:p>
            <a:endParaRPr lang="en-US" sz="1350"/>
          </a:p>
        </p:txBody>
      </p:sp>
      <p:sp>
        <p:nvSpPr>
          <p:cNvPr id="4" name="Text 1"/>
          <p:cNvSpPr/>
          <p:nvPr/>
        </p:nvSpPr>
        <p:spPr>
          <a:xfrm>
            <a:off x="534924" y="452628"/>
            <a:ext cx="7475220" cy="445770"/>
          </a:xfrm>
          <a:prstGeom prst="rect">
            <a:avLst/>
          </a:prstGeom>
          <a:noFill/>
          <a:ln/>
        </p:spPr>
        <p:txBody>
          <a:bodyPr wrap="square" lIns="0" tIns="0" rIns="0" bIns="0" rtlCol="0" anchor="ctr"/>
          <a:lstStyle/>
          <a:p>
            <a:r>
              <a:rPr lang="en-US" sz="2100" b="1">
                <a:solidFill>
                  <a:srgbClr val="FFFFFF"/>
                </a:solidFill>
              </a:rPr>
              <a:t>5. Predictability → Investment &amp; Decision Confidence</a:t>
            </a:r>
            <a:endParaRPr lang="en-US" sz="2100"/>
          </a:p>
        </p:txBody>
      </p:sp>
      <p:sp>
        <p:nvSpPr>
          <p:cNvPr id="5" name="Shape 2"/>
          <p:cNvSpPr/>
          <p:nvPr/>
        </p:nvSpPr>
        <p:spPr>
          <a:xfrm>
            <a:off x="541782" y="973836"/>
            <a:ext cx="788670" cy="0"/>
          </a:xfrm>
          <a:prstGeom prst="line">
            <a:avLst/>
          </a:prstGeom>
          <a:noFill/>
          <a:ln w="50800">
            <a:solidFill>
              <a:srgbClr val="81C8CC"/>
            </a:solidFill>
            <a:prstDash val="solid"/>
          </a:ln>
        </p:spPr>
        <p:txBody>
          <a:bodyPr/>
          <a:lstStyle/>
          <a:p>
            <a:endParaRPr lang="en-US" sz="1350"/>
          </a:p>
        </p:txBody>
      </p:sp>
      <p:sp>
        <p:nvSpPr>
          <p:cNvPr id="6" name="Text 3"/>
          <p:cNvSpPr/>
          <p:nvPr/>
        </p:nvSpPr>
        <p:spPr>
          <a:xfrm>
            <a:off x="562356" y="1275588"/>
            <a:ext cx="5143500" cy="329184"/>
          </a:xfrm>
          <a:prstGeom prst="rect">
            <a:avLst/>
          </a:prstGeom>
          <a:noFill/>
          <a:ln/>
        </p:spPr>
        <p:txBody>
          <a:bodyPr wrap="square" lIns="0" tIns="0" rIns="0" bIns="0" rtlCol="0" anchor="ctr"/>
          <a:lstStyle/>
          <a:p>
            <a:r>
              <a:rPr lang="en-US" sz="1650" b="1">
                <a:solidFill>
                  <a:srgbClr val="FFFFFF"/>
                </a:solidFill>
              </a:rPr>
              <a:t>Predictability is not just a delivery metric.</a:t>
            </a:r>
            <a:endParaRPr lang="en-US" sz="1650"/>
          </a:p>
        </p:txBody>
      </p:sp>
      <p:sp>
        <p:nvSpPr>
          <p:cNvPr id="7" name="Text 4"/>
          <p:cNvSpPr/>
          <p:nvPr/>
        </p:nvSpPr>
        <p:spPr>
          <a:xfrm>
            <a:off x="562356" y="1632204"/>
            <a:ext cx="5246370" cy="480060"/>
          </a:xfrm>
          <a:prstGeom prst="rect">
            <a:avLst/>
          </a:prstGeom>
          <a:noFill/>
          <a:ln/>
        </p:spPr>
        <p:txBody>
          <a:bodyPr wrap="square" lIns="0" tIns="0" rIns="0" bIns="0" rtlCol="0" anchor="ctr"/>
          <a:lstStyle/>
          <a:p>
            <a:r>
              <a:rPr lang="en-US" sz="1275">
                <a:solidFill>
                  <a:srgbClr val="E8F2F3"/>
                </a:solidFill>
              </a:rPr>
              <a:t>It tells leaders how much confidence to place in delivery-based investment decisions.</a:t>
            </a:r>
            <a:endParaRPr lang="en-US" sz="1275"/>
          </a:p>
        </p:txBody>
      </p:sp>
      <p:sp>
        <p:nvSpPr>
          <p:cNvPr id="8" name="Shape 5"/>
          <p:cNvSpPr/>
          <p:nvPr/>
        </p:nvSpPr>
        <p:spPr>
          <a:xfrm>
            <a:off x="569214" y="2345436"/>
            <a:ext cx="4972050" cy="493776"/>
          </a:xfrm>
          <a:prstGeom prst="roundRect">
            <a:avLst>
              <a:gd name="adj" fmla="val 8333"/>
            </a:avLst>
          </a:prstGeom>
          <a:solidFill>
            <a:srgbClr val="114950"/>
          </a:solidFill>
          <a:ln w="12700">
            <a:solidFill>
              <a:srgbClr val="2B626B"/>
            </a:solidFill>
            <a:prstDash val="solid"/>
          </a:ln>
        </p:spPr>
        <p:txBody>
          <a:bodyPr/>
          <a:lstStyle/>
          <a:p>
            <a:endParaRPr lang="en-US" sz="1350"/>
          </a:p>
        </p:txBody>
      </p:sp>
      <p:sp>
        <p:nvSpPr>
          <p:cNvPr id="9" name="Text 6"/>
          <p:cNvSpPr/>
          <p:nvPr/>
        </p:nvSpPr>
        <p:spPr>
          <a:xfrm>
            <a:off x="692658" y="2411952"/>
            <a:ext cx="4725162" cy="192024"/>
          </a:xfrm>
          <a:prstGeom prst="rect">
            <a:avLst/>
          </a:prstGeom>
          <a:noFill/>
          <a:ln/>
        </p:spPr>
        <p:txBody>
          <a:bodyPr wrap="square" lIns="0" tIns="0" rIns="0" bIns="0" rtlCol="0" anchor="ctr"/>
          <a:lstStyle/>
          <a:p>
            <a:r>
              <a:rPr lang="en-US" sz="1400" b="1">
                <a:solidFill>
                  <a:srgbClr val="81C8CC"/>
                </a:solidFill>
              </a:rPr>
              <a:t>Higher predictability</a:t>
            </a:r>
            <a:endParaRPr lang="en-US" sz="1400"/>
          </a:p>
        </p:txBody>
      </p:sp>
      <p:sp>
        <p:nvSpPr>
          <p:cNvPr id="10" name="Text 7"/>
          <p:cNvSpPr/>
          <p:nvPr/>
        </p:nvSpPr>
        <p:spPr>
          <a:xfrm>
            <a:off x="692658" y="2672556"/>
            <a:ext cx="4725162" cy="54864"/>
          </a:xfrm>
          <a:prstGeom prst="rect">
            <a:avLst/>
          </a:prstGeom>
          <a:noFill/>
          <a:ln/>
        </p:spPr>
        <p:txBody>
          <a:bodyPr wrap="square" lIns="0" tIns="0" rIns="0" bIns="0" rtlCol="0" anchor="ctr">
            <a:noAutofit/>
          </a:bodyPr>
          <a:lstStyle/>
          <a:p>
            <a:r>
              <a:rPr lang="en-US" sz="1100">
                <a:solidFill>
                  <a:srgbClr val="EAF2F3"/>
                </a:solidFill>
              </a:rPr>
              <a:t>More confidence in planning, sequencing and portfolio commitments</a:t>
            </a:r>
            <a:endParaRPr lang="en-US" sz="1100"/>
          </a:p>
        </p:txBody>
      </p:sp>
      <p:sp>
        <p:nvSpPr>
          <p:cNvPr id="11" name="Shape 8"/>
          <p:cNvSpPr/>
          <p:nvPr/>
        </p:nvSpPr>
        <p:spPr>
          <a:xfrm>
            <a:off x="569214" y="2976372"/>
            <a:ext cx="4972050" cy="493776"/>
          </a:xfrm>
          <a:prstGeom prst="roundRect">
            <a:avLst>
              <a:gd name="adj" fmla="val 8333"/>
            </a:avLst>
          </a:prstGeom>
          <a:solidFill>
            <a:srgbClr val="114950"/>
          </a:solidFill>
          <a:ln w="12700">
            <a:solidFill>
              <a:srgbClr val="2B626B"/>
            </a:solidFill>
            <a:prstDash val="solid"/>
          </a:ln>
        </p:spPr>
        <p:txBody>
          <a:bodyPr/>
          <a:lstStyle/>
          <a:p>
            <a:endParaRPr lang="en-US" sz="1350"/>
          </a:p>
        </p:txBody>
      </p:sp>
      <p:sp>
        <p:nvSpPr>
          <p:cNvPr id="12" name="Text 9"/>
          <p:cNvSpPr/>
          <p:nvPr/>
        </p:nvSpPr>
        <p:spPr>
          <a:xfrm>
            <a:off x="692658" y="3042888"/>
            <a:ext cx="4725162" cy="192024"/>
          </a:xfrm>
          <a:prstGeom prst="rect">
            <a:avLst/>
          </a:prstGeom>
          <a:noFill/>
          <a:ln/>
        </p:spPr>
        <p:txBody>
          <a:bodyPr wrap="square" lIns="0" tIns="0" rIns="0" bIns="0" rtlCol="0" anchor="ctr"/>
          <a:lstStyle/>
          <a:p>
            <a:r>
              <a:rPr lang="en-US" sz="1400" b="1">
                <a:solidFill>
                  <a:srgbClr val="81C8CC"/>
                </a:solidFill>
              </a:rPr>
              <a:t>Lower variance</a:t>
            </a:r>
            <a:endParaRPr lang="en-US" sz="1400"/>
          </a:p>
        </p:txBody>
      </p:sp>
      <p:sp>
        <p:nvSpPr>
          <p:cNvPr id="13" name="Text 10"/>
          <p:cNvSpPr/>
          <p:nvPr/>
        </p:nvSpPr>
        <p:spPr>
          <a:xfrm>
            <a:off x="692658" y="3303492"/>
            <a:ext cx="4725162" cy="54864"/>
          </a:xfrm>
          <a:prstGeom prst="rect">
            <a:avLst/>
          </a:prstGeom>
          <a:noFill/>
          <a:ln/>
        </p:spPr>
        <p:txBody>
          <a:bodyPr wrap="square" lIns="0" tIns="0" rIns="0" bIns="0" rtlCol="0" anchor="ctr">
            <a:noAutofit/>
          </a:bodyPr>
          <a:lstStyle/>
          <a:p>
            <a:r>
              <a:rPr lang="en-US" sz="1100">
                <a:solidFill>
                  <a:srgbClr val="EAF2F3"/>
                </a:solidFill>
              </a:rPr>
              <a:t>Less contingency and less portfolio churn</a:t>
            </a:r>
            <a:endParaRPr lang="en-US" sz="1100"/>
          </a:p>
        </p:txBody>
      </p:sp>
      <p:sp>
        <p:nvSpPr>
          <p:cNvPr id="14" name="Shape 11"/>
          <p:cNvSpPr/>
          <p:nvPr/>
        </p:nvSpPr>
        <p:spPr>
          <a:xfrm>
            <a:off x="569214" y="3607308"/>
            <a:ext cx="4972050" cy="493776"/>
          </a:xfrm>
          <a:prstGeom prst="roundRect">
            <a:avLst>
              <a:gd name="adj" fmla="val 8333"/>
            </a:avLst>
          </a:prstGeom>
          <a:solidFill>
            <a:srgbClr val="114950"/>
          </a:solidFill>
          <a:ln w="12700">
            <a:solidFill>
              <a:srgbClr val="2B626B"/>
            </a:solidFill>
            <a:prstDash val="solid"/>
          </a:ln>
        </p:spPr>
        <p:txBody>
          <a:bodyPr/>
          <a:lstStyle/>
          <a:p>
            <a:endParaRPr lang="en-US" sz="1100"/>
          </a:p>
        </p:txBody>
      </p:sp>
      <p:sp>
        <p:nvSpPr>
          <p:cNvPr id="15" name="Text 12"/>
          <p:cNvSpPr/>
          <p:nvPr/>
        </p:nvSpPr>
        <p:spPr>
          <a:xfrm>
            <a:off x="692658" y="3673824"/>
            <a:ext cx="4725162" cy="192024"/>
          </a:xfrm>
          <a:prstGeom prst="rect">
            <a:avLst/>
          </a:prstGeom>
          <a:noFill/>
          <a:ln/>
        </p:spPr>
        <p:txBody>
          <a:bodyPr wrap="square" lIns="0" tIns="0" rIns="0" bIns="0" rtlCol="0" anchor="ctr"/>
          <a:lstStyle/>
          <a:p>
            <a:r>
              <a:rPr lang="en-US" sz="1400" b="1">
                <a:solidFill>
                  <a:srgbClr val="81C8CC"/>
                </a:solidFill>
              </a:rPr>
              <a:t>Better signals</a:t>
            </a:r>
            <a:endParaRPr lang="en-US" sz="1400"/>
          </a:p>
        </p:txBody>
      </p:sp>
      <p:sp>
        <p:nvSpPr>
          <p:cNvPr id="16" name="Text 13"/>
          <p:cNvSpPr/>
          <p:nvPr/>
        </p:nvSpPr>
        <p:spPr>
          <a:xfrm>
            <a:off x="692658" y="3934428"/>
            <a:ext cx="4725162" cy="54864"/>
          </a:xfrm>
          <a:prstGeom prst="rect">
            <a:avLst/>
          </a:prstGeom>
          <a:noFill/>
          <a:ln/>
        </p:spPr>
        <p:txBody>
          <a:bodyPr wrap="square" lIns="0" tIns="0" rIns="0" bIns="0" rtlCol="0" anchor="ctr">
            <a:noAutofit/>
          </a:bodyPr>
          <a:lstStyle/>
          <a:p>
            <a:r>
              <a:rPr lang="en-US" sz="1100">
                <a:solidFill>
                  <a:srgbClr val="EAF2F3"/>
                </a:solidFill>
              </a:rPr>
              <a:t>Stronger basis for where to invest, stop, or accelerate</a:t>
            </a:r>
            <a:endParaRPr lang="en-US" sz="1100"/>
          </a:p>
        </p:txBody>
      </p:sp>
      <p:sp>
        <p:nvSpPr>
          <p:cNvPr id="17" name="Shape 14"/>
          <p:cNvSpPr/>
          <p:nvPr/>
        </p:nvSpPr>
        <p:spPr>
          <a:xfrm>
            <a:off x="5932170" y="1275588"/>
            <a:ext cx="2599182" cy="2194560"/>
          </a:xfrm>
          <a:prstGeom prst="roundRect">
            <a:avLst>
              <a:gd name="adj" fmla="val 2000"/>
            </a:avLst>
          </a:prstGeom>
          <a:solidFill>
            <a:srgbClr val="13434B"/>
          </a:solidFill>
          <a:ln w="12700">
            <a:solidFill>
              <a:srgbClr val="2A636B"/>
            </a:solidFill>
            <a:prstDash val="solid"/>
          </a:ln>
        </p:spPr>
        <p:txBody>
          <a:bodyPr/>
          <a:lstStyle/>
          <a:p>
            <a:endParaRPr lang="en-US" sz="1350"/>
          </a:p>
        </p:txBody>
      </p:sp>
      <p:sp>
        <p:nvSpPr>
          <p:cNvPr id="18" name="Text 15"/>
          <p:cNvSpPr/>
          <p:nvPr/>
        </p:nvSpPr>
        <p:spPr>
          <a:xfrm>
            <a:off x="6086957" y="1659636"/>
            <a:ext cx="2311146" cy="445770"/>
          </a:xfrm>
          <a:prstGeom prst="rect">
            <a:avLst/>
          </a:prstGeom>
          <a:noFill/>
          <a:ln/>
        </p:spPr>
        <p:txBody>
          <a:bodyPr wrap="square" lIns="0" tIns="0" rIns="0" bIns="0" rtlCol="0" anchor="ctr"/>
          <a:lstStyle/>
          <a:p>
            <a:pPr algn="ctr"/>
            <a:r>
              <a:rPr lang="en-US" b="1">
                <a:solidFill>
                  <a:srgbClr val="F4A53D"/>
                </a:solidFill>
              </a:rPr>
              <a:t>Decision quality</a:t>
            </a:r>
            <a:endParaRPr lang="en-US"/>
          </a:p>
        </p:txBody>
      </p:sp>
      <p:sp>
        <p:nvSpPr>
          <p:cNvPr id="19" name="Text 16"/>
          <p:cNvSpPr/>
          <p:nvPr/>
        </p:nvSpPr>
        <p:spPr>
          <a:xfrm>
            <a:off x="6080099" y="2318004"/>
            <a:ext cx="2311146" cy="1152144"/>
          </a:xfrm>
          <a:prstGeom prst="rect">
            <a:avLst/>
          </a:prstGeom>
          <a:noFill/>
          <a:ln/>
        </p:spPr>
        <p:txBody>
          <a:bodyPr wrap="square" lIns="0" tIns="0" rIns="0" bIns="0" rtlCol="0" anchor="ctr"/>
          <a:lstStyle/>
          <a:p>
            <a:pPr algn="ctr"/>
            <a:r>
              <a:rPr lang="en-US" sz="1400">
                <a:solidFill>
                  <a:schemeClr val="bg1"/>
                </a:solidFill>
              </a:rPr>
              <a:t>Better signals → better portfolio choices</a:t>
            </a:r>
          </a:p>
        </p:txBody>
      </p:sp>
      <p:sp>
        <p:nvSpPr>
          <p:cNvPr id="23" name="Rectangle 22">
            <a:extLst>
              <a:ext uri="{FF2B5EF4-FFF2-40B4-BE49-F238E27FC236}">
                <a16:creationId xmlns:a16="http://schemas.microsoft.com/office/drawing/2014/main" id="{20749EF0-05D4-4CA2-A93C-C29237738001}"/>
              </a:ext>
            </a:extLst>
          </p:cNvPr>
          <p:cNvSpPr/>
          <p:nvPr/>
        </p:nvSpPr>
        <p:spPr>
          <a:xfrm>
            <a:off x="8382000" y="4814316"/>
            <a:ext cx="304800" cy="329184"/>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t"/>
          <a:lstStyle/>
          <a:p>
            <a:pPr algn="ctr"/>
            <a:endParaRPr lang="en-US"/>
          </a:p>
        </p:txBody>
      </p:sp>
      <p:sp>
        <p:nvSpPr>
          <p:cNvPr id="24" name="BP_PageNumber">
            <a:extLst>
              <a:ext uri="{FF2B5EF4-FFF2-40B4-BE49-F238E27FC236}">
                <a16:creationId xmlns:a16="http://schemas.microsoft.com/office/drawing/2014/main" id="{7F9C1134-E95C-482B-9065-39D5520FF5EF}"/>
              </a:ext>
            </a:extLst>
          </p:cNvPr>
          <p:cNvSpPr/>
          <p:nvPr/>
        </p:nvSpPr>
        <p:spPr>
          <a:xfrm>
            <a:off x="8686800" y="4838700"/>
            <a:ext cx="457200" cy="3048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wrap="none" rtlCol="0" anchor="ctr" anchorCtr="0">
            <a:noAutofit/>
          </a:bodyPr>
          <a:lstStyle/>
          <a:p>
            <a:pPr algn="ctr"/>
            <a:r>
              <a:rPr lang="en-US" sz="800" b="1">
                <a:solidFill>
                  <a:srgbClr val="FFFFFF"/>
                </a:solidFill>
              </a:rPr>
              <a:t>14</a:t>
            </a:r>
          </a:p>
        </p:txBody>
      </p:sp>
    </p:spTree>
    <p:extLst>
      <p:ext uri="{BB962C8B-B14F-4D97-AF65-F5344CB8AC3E}">
        <p14:creationId xmlns:p14="http://schemas.microsoft.com/office/powerpoint/2010/main" val="31040768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2026-SAFeSummit-SanDiego-BreakoutSession-Speakers-MasterTemplate/slide-2.png"/>
          <p:cNvPicPr>
            <a:picLocks noChangeAspect="1"/>
          </p:cNvPicPr>
          <p:nvPr/>
        </p:nvPicPr>
        <p:blipFill>
          <a:blip r:embed="rId3"/>
          <a:stretch>
            <a:fillRect/>
          </a:stretch>
        </p:blipFill>
        <p:spPr>
          <a:xfrm>
            <a:off x="1" y="0"/>
            <a:ext cx="9143771" cy="5143500"/>
          </a:xfrm>
          <a:prstGeom prst="rect">
            <a:avLst/>
          </a:prstGeom>
        </p:spPr>
      </p:pic>
      <p:sp>
        <p:nvSpPr>
          <p:cNvPr id="3" name="Shape 0"/>
          <p:cNvSpPr/>
          <p:nvPr/>
        </p:nvSpPr>
        <p:spPr>
          <a:xfrm>
            <a:off x="356616" y="685800"/>
            <a:ext cx="6549390" cy="3806190"/>
          </a:xfrm>
          <a:prstGeom prst="rect">
            <a:avLst/>
          </a:prstGeom>
          <a:solidFill>
            <a:srgbClr val="F4F1EA"/>
          </a:solidFill>
          <a:ln w="12700">
            <a:solidFill>
              <a:srgbClr val="F4F1EA"/>
            </a:solidFill>
            <a:prstDash val="solid"/>
          </a:ln>
        </p:spPr>
        <p:txBody>
          <a:bodyPr/>
          <a:lstStyle/>
          <a:p>
            <a:endParaRPr lang="en-US" sz="1350"/>
          </a:p>
        </p:txBody>
      </p:sp>
      <p:sp>
        <p:nvSpPr>
          <p:cNvPr id="4" name="Text 1"/>
          <p:cNvSpPr/>
          <p:nvPr/>
        </p:nvSpPr>
        <p:spPr>
          <a:xfrm>
            <a:off x="466344" y="384048"/>
            <a:ext cx="6412230" cy="356616"/>
          </a:xfrm>
          <a:prstGeom prst="rect">
            <a:avLst/>
          </a:prstGeom>
          <a:noFill/>
          <a:ln/>
        </p:spPr>
        <p:txBody>
          <a:bodyPr wrap="square" lIns="0" tIns="0" rIns="0" bIns="0" rtlCol="0" anchor="ctr"/>
          <a:lstStyle/>
          <a:p>
            <a:r>
              <a:rPr lang="en-US" sz="1875" b="1">
                <a:solidFill>
                  <a:srgbClr val="102A30"/>
                </a:solidFill>
                <a:latin typeface="Arial" pitchFamily="34" charset="0"/>
                <a:ea typeface="Arial" pitchFamily="34" charset="-122"/>
                <a:cs typeface="Arial" pitchFamily="34" charset="-120"/>
              </a:rPr>
              <a:t>Read the dashboard like an executive</a:t>
            </a:r>
            <a:endParaRPr lang="en-US" sz="1875"/>
          </a:p>
        </p:txBody>
      </p:sp>
      <p:sp>
        <p:nvSpPr>
          <p:cNvPr id="5" name="Shape 2"/>
          <p:cNvSpPr/>
          <p:nvPr/>
        </p:nvSpPr>
        <p:spPr>
          <a:xfrm>
            <a:off x="466344" y="809244"/>
            <a:ext cx="720090" cy="0"/>
          </a:xfrm>
          <a:prstGeom prst="line">
            <a:avLst/>
          </a:prstGeom>
          <a:noFill/>
          <a:ln w="38100">
            <a:solidFill>
              <a:srgbClr val="6D5BC0"/>
            </a:solidFill>
            <a:prstDash val="solid"/>
          </a:ln>
        </p:spPr>
        <p:txBody>
          <a:bodyPr/>
          <a:lstStyle/>
          <a:p>
            <a:endParaRPr lang="en-US" sz="1350"/>
          </a:p>
        </p:txBody>
      </p:sp>
      <p:sp>
        <p:nvSpPr>
          <p:cNvPr id="6" name="Text 3"/>
          <p:cNvSpPr/>
          <p:nvPr/>
        </p:nvSpPr>
        <p:spPr>
          <a:xfrm>
            <a:off x="466344" y="1004088"/>
            <a:ext cx="6340037" cy="196060"/>
          </a:xfrm>
          <a:prstGeom prst="rect">
            <a:avLst/>
          </a:prstGeom>
          <a:noFill/>
          <a:ln/>
        </p:spPr>
        <p:txBody>
          <a:bodyPr wrap="square" lIns="0" tIns="0" rIns="0" bIns="0" rtlCol="0" anchor="ctr"/>
          <a:lstStyle/>
          <a:p>
            <a:r>
              <a:rPr lang="en-US" sz="1400" b="1" kern="0" spc="90">
                <a:solidFill>
                  <a:srgbClr val="6D5BC0"/>
                </a:solidFill>
              </a:rPr>
              <a:t>FOUR QUESTIONS</a:t>
            </a:r>
            <a:endParaRPr lang="en-US" sz="1400"/>
          </a:p>
        </p:txBody>
      </p:sp>
      <p:sp>
        <p:nvSpPr>
          <p:cNvPr id="7" name="Shape 4"/>
          <p:cNvSpPr/>
          <p:nvPr/>
        </p:nvSpPr>
        <p:spPr>
          <a:xfrm>
            <a:off x="514350" y="1337309"/>
            <a:ext cx="2777490" cy="1245869"/>
          </a:xfrm>
          <a:prstGeom prst="roundRect">
            <a:avLst>
              <a:gd name="adj" fmla="val 2581"/>
            </a:avLst>
          </a:prstGeom>
          <a:solidFill>
            <a:srgbClr val="FFFFFF"/>
          </a:solidFill>
          <a:ln w="12700">
            <a:solidFill>
              <a:srgbClr val="DAD7D0"/>
            </a:solidFill>
            <a:prstDash val="solid"/>
          </a:ln>
        </p:spPr>
        <p:txBody>
          <a:bodyPr/>
          <a:lstStyle/>
          <a:p>
            <a:endParaRPr lang="en-US" sz="1350"/>
          </a:p>
        </p:txBody>
      </p:sp>
      <p:sp>
        <p:nvSpPr>
          <p:cNvPr id="8" name="Shape 5"/>
          <p:cNvSpPr/>
          <p:nvPr/>
        </p:nvSpPr>
        <p:spPr>
          <a:xfrm>
            <a:off x="651510" y="1488186"/>
            <a:ext cx="329184" cy="329184"/>
          </a:xfrm>
          <a:prstGeom prst="ellipse">
            <a:avLst/>
          </a:prstGeom>
          <a:solidFill>
            <a:srgbClr val="6D5BC0"/>
          </a:solidFill>
          <a:ln w="12700">
            <a:solidFill>
              <a:srgbClr val="6D5BC0"/>
            </a:solidFill>
            <a:prstDash val="solid"/>
          </a:ln>
        </p:spPr>
        <p:txBody>
          <a:bodyPr/>
          <a:lstStyle/>
          <a:p>
            <a:endParaRPr lang="en-US" sz="1600"/>
          </a:p>
        </p:txBody>
      </p:sp>
      <p:sp>
        <p:nvSpPr>
          <p:cNvPr id="9" name="Text 6"/>
          <p:cNvSpPr/>
          <p:nvPr/>
        </p:nvSpPr>
        <p:spPr>
          <a:xfrm>
            <a:off x="747522" y="1599978"/>
            <a:ext cx="137160" cy="109728"/>
          </a:xfrm>
          <a:prstGeom prst="rect">
            <a:avLst/>
          </a:prstGeom>
          <a:noFill/>
          <a:ln/>
        </p:spPr>
        <p:txBody>
          <a:bodyPr wrap="square" lIns="0" tIns="0" rIns="0" bIns="0" rtlCol="0" anchor="ctr"/>
          <a:lstStyle/>
          <a:p>
            <a:pPr algn="ctr"/>
            <a:r>
              <a:rPr lang="en-US" sz="1200" b="1">
                <a:solidFill>
                  <a:srgbClr val="FFFFFF"/>
                </a:solidFill>
              </a:rPr>
              <a:t>1</a:t>
            </a:r>
            <a:endParaRPr lang="en-US" sz="1200"/>
          </a:p>
        </p:txBody>
      </p:sp>
      <p:sp>
        <p:nvSpPr>
          <p:cNvPr id="10" name="Text 7"/>
          <p:cNvSpPr/>
          <p:nvPr/>
        </p:nvSpPr>
        <p:spPr>
          <a:xfrm>
            <a:off x="1076706" y="1548839"/>
            <a:ext cx="1920240" cy="192024"/>
          </a:xfrm>
          <a:prstGeom prst="rect">
            <a:avLst/>
          </a:prstGeom>
          <a:noFill/>
          <a:ln/>
        </p:spPr>
        <p:txBody>
          <a:bodyPr wrap="square" lIns="0" tIns="0" rIns="0" bIns="0" rtlCol="0" anchor="ctr"/>
          <a:lstStyle/>
          <a:p>
            <a:r>
              <a:rPr lang="en-US" sz="1400" b="1">
                <a:solidFill>
                  <a:srgbClr val="102A30"/>
                </a:solidFill>
              </a:rPr>
              <a:t>Evidence - What changed?</a:t>
            </a:r>
            <a:endParaRPr lang="en-US" sz="1400"/>
          </a:p>
        </p:txBody>
      </p:sp>
      <p:sp>
        <p:nvSpPr>
          <p:cNvPr id="11" name="Text 8"/>
          <p:cNvSpPr/>
          <p:nvPr/>
        </p:nvSpPr>
        <p:spPr>
          <a:xfrm>
            <a:off x="1062990" y="2009395"/>
            <a:ext cx="1933956" cy="377190"/>
          </a:xfrm>
          <a:prstGeom prst="rect">
            <a:avLst/>
          </a:prstGeom>
          <a:noFill/>
          <a:ln/>
        </p:spPr>
        <p:txBody>
          <a:bodyPr wrap="square" lIns="0" tIns="0" rIns="0" bIns="0" rtlCol="0" anchor="ctr">
            <a:noAutofit/>
          </a:bodyPr>
          <a:lstStyle/>
          <a:p>
            <a:r>
              <a:rPr lang="en-US" sz="1200">
                <a:solidFill>
                  <a:srgbClr val="6E777B"/>
                </a:solidFill>
              </a:rPr>
              <a:t>The flow metrics show the operational shift versus baseline.</a:t>
            </a:r>
            <a:endParaRPr lang="en-US" sz="1200"/>
          </a:p>
        </p:txBody>
      </p:sp>
      <p:sp>
        <p:nvSpPr>
          <p:cNvPr id="12" name="Shape 9"/>
          <p:cNvSpPr/>
          <p:nvPr/>
        </p:nvSpPr>
        <p:spPr>
          <a:xfrm>
            <a:off x="3634740" y="1337309"/>
            <a:ext cx="2777490" cy="1245869"/>
          </a:xfrm>
          <a:prstGeom prst="roundRect">
            <a:avLst>
              <a:gd name="adj" fmla="val 2581"/>
            </a:avLst>
          </a:prstGeom>
          <a:solidFill>
            <a:srgbClr val="FFFFFF"/>
          </a:solidFill>
          <a:ln w="12700">
            <a:solidFill>
              <a:srgbClr val="DAD7D0"/>
            </a:solidFill>
            <a:prstDash val="solid"/>
          </a:ln>
        </p:spPr>
        <p:txBody>
          <a:bodyPr/>
          <a:lstStyle/>
          <a:p>
            <a:endParaRPr lang="en-US" sz="1350"/>
          </a:p>
        </p:txBody>
      </p:sp>
      <p:sp>
        <p:nvSpPr>
          <p:cNvPr id="13" name="Shape 10"/>
          <p:cNvSpPr/>
          <p:nvPr/>
        </p:nvSpPr>
        <p:spPr>
          <a:xfrm>
            <a:off x="3771900" y="1488186"/>
            <a:ext cx="329184" cy="329184"/>
          </a:xfrm>
          <a:prstGeom prst="ellipse">
            <a:avLst/>
          </a:prstGeom>
          <a:solidFill>
            <a:srgbClr val="81C8CC"/>
          </a:solidFill>
          <a:ln w="12700">
            <a:solidFill>
              <a:srgbClr val="81C8CC"/>
            </a:solidFill>
            <a:prstDash val="solid"/>
          </a:ln>
        </p:spPr>
        <p:txBody>
          <a:bodyPr/>
          <a:lstStyle/>
          <a:p>
            <a:endParaRPr lang="en-US" sz="1600"/>
          </a:p>
        </p:txBody>
      </p:sp>
      <p:sp>
        <p:nvSpPr>
          <p:cNvPr id="14" name="Text 11"/>
          <p:cNvSpPr/>
          <p:nvPr/>
        </p:nvSpPr>
        <p:spPr>
          <a:xfrm>
            <a:off x="3867912" y="1599978"/>
            <a:ext cx="137160" cy="109728"/>
          </a:xfrm>
          <a:prstGeom prst="rect">
            <a:avLst/>
          </a:prstGeom>
          <a:noFill/>
          <a:ln/>
        </p:spPr>
        <p:txBody>
          <a:bodyPr wrap="square" lIns="0" tIns="0" rIns="0" bIns="0" rtlCol="0" anchor="ctr"/>
          <a:lstStyle/>
          <a:p>
            <a:pPr algn="ctr"/>
            <a:r>
              <a:rPr lang="en-US" sz="1200" b="1">
                <a:solidFill>
                  <a:srgbClr val="FFFFFF"/>
                </a:solidFill>
              </a:rPr>
              <a:t>2</a:t>
            </a:r>
            <a:endParaRPr lang="en-US" sz="1200"/>
          </a:p>
        </p:txBody>
      </p:sp>
      <p:sp>
        <p:nvSpPr>
          <p:cNvPr id="15" name="Text 12"/>
          <p:cNvSpPr/>
          <p:nvPr/>
        </p:nvSpPr>
        <p:spPr>
          <a:xfrm>
            <a:off x="4197096" y="1557725"/>
            <a:ext cx="1920240" cy="192024"/>
          </a:xfrm>
          <a:prstGeom prst="rect">
            <a:avLst/>
          </a:prstGeom>
          <a:noFill/>
          <a:ln/>
        </p:spPr>
        <p:txBody>
          <a:bodyPr wrap="square" lIns="0" tIns="0" rIns="0" bIns="0" rtlCol="0" anchor="ctr"/>
          <a:lstStyle/>
          <a:p>
            <a:r>
              <a:rPr lang="en-US" sz="1400" b="1">
                <a:solidFill>
                  <a:srgbClr val="102A30"/>
                </a:solidFill>
              </a:rPr>
              <a:t>Economics - What is it worth?</a:t>
            </a:r>
            <a:endParaRPr lang="en-US" sz="1400"/>
          </a:p>
        </p:txBody>
      </p:sp>
      <p:sp>
        <p:nvSpPr>
          <p:cNvPr id="16" name="Text 13"/>
          <p:cNvSpPr/>
          <p:nvPr/>
        </p:nvSpPr>
        <p:spPr>
          <a:xfrm>
            <a:off x="4210812" y="1999852"/>
            <a:ext cx="1933956" cy="377190"/>
          </a:xfrm>
          <a:prstGeom prst="rect">
            <a:avLst/>
          </a:prstGeom>
          <a:noFill/>
          <a:ln/>
        </p:spPr>
        <p:txBody>
          <a:bodyPr wrap="square" lIns="0" tIns="0" rIns="0" bIns="0" rtlCol="0" anchor="ctr">
            <a:noAutofit/>
          </a:bodyPr>
          <a:lstStyle/>
          <a:p>
            <a:r>
              <a:rPr lang="en-US" sz="1200">
                <a:solidFill>
                  <a:srgbClr val="6E777B"/>
                </a:solidFill>
              </a:rPr>
              <a:t>The value formulas translate that shift into an economic estimate.</a:t>
            </a:r>
            <a:endParaRPr lang="en-US" sz="1200"/>
          </a:p>
        </p:txBody>
      </p:sp>
      <p:sp>
        <p:nvSpPr>
          <p:cNvPr id="17" name="Shape 14"/>
          <p:cNvSpPr/>
          <p:nvPr/>
        </p:nvSpPr>
        <p:spPr>
          <a:xfrm>
            <a:off x="514350" y="2750939"/>
            <a:ext cx="2777490" cy="1245869"/>
          </a:xfrm>
          <a:prstGeom prst="roundRect">
            <a:avLst>
              <a:gd name="adj" fmla="val 2581"/>
            </a:avLst>
          </a:prstGeom>
          <a:solidFill>
            <a:srgbClr val="FFFFFF"/>
          </a:solidFill>
          <a:ln w="12700">
            <a:solidFill>
              <a:srgbClr val="DAD7D0"/>
            </a:solidFill>
            <a:prstDash val="solid"/>
          </a:ln>
        </p:spPr>
        <p:txBody>
          <a:bodyPr/>
          <a:lstStyle/>
          <a:p>
            <a:endParaRPr lang="en-US" sz="1350"/>
          </a:p>
        </p:txBody>
      </p:sp>
      <p:sp>
        <p:nvSpPr>
          <p:cNvPr id="18" name="Shape 15"/>
          <p:cNvSpPr/>
          <p:nvPr/>
        </p:nvSpPr>
        <p:spPr>
          <a:xfrm>
            <a:off x="651510" y="2901816"/>
            <a:ext cx="329184" cy="329184"/>
          </a:xfrm>
          <a:prstGeom prst="ellipse">
            <a:avLst/>
          </a:prstGeom>
          <a:solidFill>
            <a:srgbClr val="F4A53D"/>
          </a:solidFill>
          <a:ln w="12700">
            <a:solidFill>
              <a:srgbClr val="F4A53D"/>
            </a:solidFill>
            <a:prstDash val="solid"/>
          </a:ln>
        </p:spPr>
        <p:txBody>
          <a:bodyPr/>
          <a:lstStyle/>
          <a:p>
            <a:endParaRPr lang="en-US" sz="1600"/>
          </a:p>
        </p:txBody>
      </p:sp>
      <p:sp>
        <p:nvSpPr>
          <p:cNvPr id="19" name="Text 16"/>
          <p:cNvSpPr/>
          <p:nvPr/>
        </p:nvSpPr>
        <p:spPr>
          <a:xfrm>
            <a:off x="747522" y="3013608"/>
            <a:ext cx="137160" cy="109728"/>
          </a:xfrm>
          <a:prstGeom prst="rect">
            <a:avLst/>
          </a:prstGeom>
          <a:noFill/>
          <a:ln/>
        </p:spPr>
        <p:txBody>
          <a:bodyPr wrap="square" lIns="0" tIns="0" rIns="0" bIns="0" rtlCol="0" anchor="ctr"/>
          <a:lstStyle/>
          <a:p>
            <a:pPr algn="ctr"/>
            <a:r>
              <a:rPr lang="en-US" sz="1200" b="1">
                <a:solidFill>
                  <a:srgbClr val="FFFFFF"/>
                </a:solidFill>
              </a:rPr>
              <a:t>3</a:t>
            </a:r>
            <a:endParaRPr lang="en-US" sz="1200"/>
          </a:p>
        </p:txBody>
      </p:sp>
      <p:sp>
        <p:nvSpPr>
          <p:cNvPr id="20" name="Text 17"/>
          <p:cNvSpPr/>
          <p:nvPr/>
        </p:nvSpPr>
        <p:spPr>
          <a:xfrm>
            <a:off x="1076706" y="2970395"/>
            <a:ext cx="2036826" cy="192024"/>
          </a:xfrm>
          <a:prstGeom prst="rect">
            <a:avLst/>
          </a:prstGeom>
          <a:noFill/>
          <a:ln/>
        </p:spPr>
        <p:txBody>
          <a:bodyPr wrap="square" lIns="0" tIns="0" rIns="0" bIns="0" rtlCol="0" anchor="ctr"/>
          <a:lstStyle/>
          <a:p>
            <a:r>
              <a:rPr lang="en-US" sz="1400" b="1">
                <a:solidFill>
                  <a:srgbClr val="102A30"/>
                </a:solidFill>
              </a:rPr>
              <a:t>Credibility - How confident are we?</a:t>
            </a:r>
            <a:endParaRPr lang="en-US" sz="1400"/>
          </a:p>
        </p:txBody>
      </p:sp>
      <p:sp>
        <p:nvSpPr>
          <p:cNvPr id="21" name="Text 18"/>
          <p:cNvSpPr/>
          <p:nvPr/>
        </p:nvSpPr>
        <p:spPr>
          <a:xfrm>
            <a:off x="1090422" y="3388468"/>
            <a:ext cx="1933956" cy="377190"/>
          </a:xfrm>
          <a:prstGeom prst="rect">
            <a:avLst/>
          </a:prstGeom>
          <a:noFill/>
          <a:ln/>
        </p:spPr>
        <p:txBody>
          <a:bodyPr wrap="square" lIns="0" tIns="0" rIns="0" bIns="0" rtlCol="0" anchor="ctr">
            <a:noAutofit/>
          </a:bodyPr>
          <a:lstStyle/>
          <a:p>
            <a:r>
              <a:rPr lang="en-US" sz="1200">
                <a:solidFill>
                  <a:srgbClr val="6E777B"/>
                </a:solidFill>
              </a:rPr>
              <a:t>Assumptions, attribution and data quality determine credibility.</a:t>
            </a:r>
            <a:endParaRPr lang="en-US" sz="1200"/>
          </a:p>
        </p:txBody>
      </p:sp>
      <p:sp>
        <p:nvSpPr>
          <p:cNvPr id="22" name="Shape 19"/>
          <p:cNvSpPr/>
          <p:nvPr/>
        </p:nvSpPr>
        <p:spPr>
          <a:xfrm>
            <a:off x="3634740" y="2750939"/>
            <a:ext cx="2777490" cy="1245869"/>
          </a:xfrm>
          <a:prstGeom prst="roundRect">
            <a:avLst>
              <a:gd name="adj" fmla="val 2581"/>
            </a:avLst>
          </a:prstGeom>
          <a:solidFill>
            <a:schemeClr val="tx1">
              <a:lumMod val="10000"/>
              <a:lumOff val="90000"/>
            </a:schemeClr>
          </a:solidFill>
          <a:ln w="12700">
            <a:solidFill>
              <a:srgbClr val="DAD7D0"/>
            </a:solidFill>
            <a:prstDash val="solid"/>
          </a:ln>
        </p:spPr>
        <p:txBody>
          <a:bodyPr/>
          <a:lstStyle/>
          <a:p>
            <a:endParaRPr lang="en-US" sz="1350"/>
          </a:p>
        </p:txBody>
      </p:sp>
      <p:sp>
        <p:nvSpPr>
          <p:cNvPr id="23" name="Shape 20"/>
          <p:cNvSpPr/>
          <p:nvPr/>
        </p:nvSpPr>
        <p:spPr>
          <a:xfrm>
            <a:off x="3771900" y="2901816"/>
            <a:ext cx="329184" cy="329184"/>
          </a:xfrm>
          <a:prstGeom prst="ellipse">
            <a:avLst/>
          </a:prstGeom>
          <a:solidFill>
            <a:srgbClr val="0A3A43"/>
          </a:solidFill>
          <a:ln w="12700">
            <a:solidFill>
              <a:srgbClr val="0A3A43"/>
            </a:solidFill>
            <a:prstDash val="solid"/>
          </a:ln>
        </p:spPr>
        <p:txBody>
          <a:bodyPr/>
          <a:lstStyle/>
          <a:p>
            <a:endParaRPr lang="en-US" sz="1600"/>
          </a:p>
        </p:txBody>
      </p:sp>
      <p:sp>
        <p:nvSpPr>
          <p:cNvPr id="24" name="Text 21"/>
          <p:cNvSpPr/>
          <p:nvPr/>
        </p:nvSpPr>
        <p:spPr>
          <a:xfrm>
            <a:off x="3867912" y="3013608"/>
            <a:ext cx="137160" cy="109728"/>
          </a:xfrm>
          <a:prstGeom prst="rect">
            <a:avLst/>
          </a:prstGeom>
          <a:noFill/>
          <a:ln/>
        </p:spPr>
        <p:txBody>
          <a:bodyPr wrap="square" lIns="0" tIns="0" rIns="0" bIns="0" rtlCol="0" anchor="ctr"/>
          <a:lstStyle/>
          <a:p>
            <a:pPr algn="ctr"/>
            <a:r>
              <a:rPr lang="en-US" sz="1200" b="1">
                <a:solidFill>
                  <a:srgbClr val="FFFFFF"/>
                </a:solidFill>
              </a:rPr>
              <a:t>4</a:t>
            </a:r>
            <a:endParaRPr lang="en-US" sz="1200"/>
          </a:p>
        </p:txBody>
      </p:sp>
      <p:sp>
        <p:nvSpPr>
          <p:cNvPr id="25" name="Text 22"/>
          <p:cNvSpPr/>
          <p:nvPr/>
        </p:nvSpPr>
        <p:spPr>
          <a:xfrm>
            <a:off x="4197096" y="2956164"/>
            <a:ext cx="2187702" cy="192024"/>
          </a:xfrm>
          <a:prstGeom prst="rect">
            <a:avLst/>
          </a:prstGeom>
          <a:noFill/>
          <a:ln/>
        </p:spPr>
        <p:txBody>
          <a:bodyPr wrap="square" lIns="0" tIns="0" rIns="0" bIns="0" rtlCol="0" anchor="ctr"/>
          <a:lstStyle/>
          <a:p>
            <a:r>
              <a:rPr lang="en-US" sz="1400" b="1">
                <a:solidFill>
                  <a:srgbClr val="102A30"/>
                </a:solidFill>
              </a:rPr>
              <a:t>Decision - What should we do next?</a:t>
            </a:r>
            <a:endParaRPr lang="en-US" sz="1400"/>
          </a:p>
        </p:txBody>
      </p:sp>
      <p:sp>
        <p:nvSpPr>
          <p:cNvPr id="26" name="Text 23"/>
          <p:cNvSpPr/>
          <p:nvPr/>
        </p:nvSpPr>
        <p:spPr>
          <a:xfrm>
            <a:off x="4197096" y="3388468"/>
            <a:ext cx="1933956" cy="377190"/>
          </a:xfrm>
          <a:prstGeom prst="rect">
            <a:avLst/>
          </a:prstGeom>
          <a:noFill/>
          <a:ln/>
        </p:spPr>
        <p:txBody>
          <a:bodyPr wrap="square" lIns="0" tIns="0" rIns="0" bIns="0" rtlCol="0" anchor="ctr">
            <a:noAutofit/>
          </a:bodyPr>
          <a:lstStyle/>
          <a:p>
            <a:r>
              <a:rPr lang="en-US" sz="1200">
                <a:solidFill>
                  <a:srgbClr val="6E777B"/>
                </a:solidFill>
              </a:rPr>
              <a:t>The point of the dashboard is better portfolio and investment decisions.</a:t>
            </a:r>
            <a:endParaRPr lang="en-US" sz="1200"/>
          </a:p>
        </p:txBody>
      </p:sp>
      <p:sp>
        <p:nvSpPr>
          <p:cNvPr id="27" name="Shape 24"/>
          <p:cNvSpPr/>
          <p:nvPr/>
        </p:nvSpPr>
        <p:spPr>
          <a:xfrm>
            <a:off x="6960870" y="788670"/>
            <a:ext cx="1954530" cy="2948940"/>
          </a:xfrm>
          <a:prstGeom prst="roundRect">
            <a:avLst>
              <a:gd name="adj" fmla="val 3243"/>
            </a:avLst>
          </a:prstGeom>
          <a:solidFill>
            <a:srgbClr val="0A3A43"/>
          </a:solidFill>
          <a:ln w="12700">
            <a:solidFill>
              <a:srgbClr val="0A3A43"/>
            </a:solidFill>
            <a:prstDash val="solid"/>
          </a:ln>
        </p:spPr>
        <p:txBody>
          <a:bodyPr/>
          <a:lstStyle/>
          <a:p>
            <a:endParaRPr lang="en-US" sz="1350"/>
          </a:p>
        </p:txBody>
      </p:sp>
      <p:sp>
        <p:nvSpPr>
          <p:cNvPr id="28" name="Text 25"/>
          <p:cNvSpPr/>
          <p:nvPr/>
        </p:nvSpPr>
        <p:spPr>
          <a:xfrm>
            <a:off x="7103745" y="935271"/>
            <a:ext cx="1579626" cy="617220"/>
          </a:xfrm>
          <a:prstGeom prst="rect">
            <a:avLst/>
          </a:prstGeom>
          <a:noFill/>
          <a:ln/>
        </p:spPr>
        <p:txBody>
          <a:bodyPr wrap="square" lIns="0" tIns="0" rIns="0" bIns="0" rtlCol="0" anchor="ctr"/>
          <a:lstStyle/>
          <a:p>
            <a:pPr algn="ctr"/>
            <a:r>
              <a:rPr lang="en-US" sz="1600" b="1">
                <a:solidFill>
                  <a:srgbClr val="FFFFFF"/>
                </a:solidFill>
              </a:rPr>
              <a:t>The dashboard is not the story.</a:t>
            </a:r>
            <a:endParaRPr lang="en-US" sz="1600"/>
          </a:p>
        </p:txBody>
      </p:sp>
      <p:sp>
        <p:nvSpPr>
          <p:cNvPr id="29" name="Text 26"/>
          <p:cNvSpPr/>
          <p:nvPr/>
        </p:nvSpPr>
        <p:spPr>
          <a:xfrm>
            <a:off x="7102602" y="1752442"/>
            <a:ext cx="1580769" cy="534924"/>
          </a:xfrm>
          <a:prstGeom prst="rect">
            <a:avLst/>
          </a:prstGeom>
          <a:noFill/>
          <a:ln/>
        </p:spPr>
        <p:txBody>
          <a:bodyPr wrap="square" lIns="0" tIns="0" rIns="0" bIns="0" rtlCol="0" anchor="ctr"/>
          <a:lstStyle/>
          <a:p>
            <a:pPr algn="ctr"/>
            <a:r>
              <a:rPr lang="en-US" sz="1600">
                <a:solidFill>
                  <a:srgbClr val="81C8CC"/>
                </a:solidFill>
              </a:rPr>
              <a:t>It is the executive conversation starter.</a:t>
            </a:r>
            <a:endParaRPr lang="en-US" sz="1600"/>
          </a:p>
        </p:txBody>
      </p:sp>
      <p:sp>
        <p:nvSpPr>
          <p:cNvPr id="30" name="Text 27"/>
          <p:cNvSpPr/>
          <p:nvPr/>
        </p:nvSpPr>
        <p:spPr>
          <a:xfrm>
            <a:off x="7165467" y="2551970"/>
            <a:ext cx="1545336" cy="914616"/>
          </a:xfrm>
          <a:prstGeom prst="rect">
            <a:avLst/>
          </a:prstGeom>
          <a:noFill/>
          <a:ln/>
        </p:spPr>
        <p:txBody>
          <a:bodyPr wrap="square" lIns="0" tIns="0" rIns="0" bIns="0" rtlCol="0" anchor="ctr"/>
          <a:lstStyle/>
          <a:p>
            <a:pPr algn="ctr"/>
            <a:r>
              <a:rPr lang="en-US" sz="1600" b="1">
                <a:solidFill>
                  <a:srgbClr val="F4A53D"/>
                </a:solidFill>
              </a:rPr>
              <a:t>Metrics → Economics → Confidence →</a:t>
            </a:r>
          </a:p>
          <a:p>
            <a:pPr algn="ctr"/>
            <a:r>
              <a:rPr lang="en-US" sz="1600" b="1">
                <a:solidFill>
                  <a:srgbClr val="F4A53D"/>
                </a:solidFill>
              </a:rPr>
              <a:t>Decisions</a:t>
            </a:r>
            <a:endParaRPr lang="en-US" sz="1600"/>
          </a:p>
        </p:txBody>
      </p:sp>
      <p:sp>
        <p:nvSpPr>
          <p:cNvPr id="34" name="Rectangle 33">
            <a:extLst>
              <a:ext uri="{FF2B5EF4-FFF2-40B4-BE49-F238E27FC236}">
                <a16:creationId xmlns:a16="http://schemas.microsoft.com/office/drawing/2014/main" id="{009E45F4-E444-4E03-9E8A-D1BADBFBFDB7}"/>
              </a:ext>
            </a:extLst>
          </p:cNvPr>
          <p:cNvSpPr/>
          <p:nvPr/>
        </p:nvSpPr>
        <p:spPr>
          <a:xfrm>
            <a:off x="8382000" y="4838700"/>
            <a:ext cx="304800" cy="3048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t"/>
          <a:lstStyle/>
          <a:p>
            <a:pPr algn="ctr"/>
            <a:endParaRPr lang="en-US"/>
          </a:p>
        </p:txBody>
      </p:sp>
      <p:sp>
        <p:nvSpPr>
          <p:cNvPr id="35" name="BP_PageNumber">
            <a:extLst>
              <a:ext uri="{FF2B5EF4-FFF2-40B4-BE49-F238E27FC236}">
                <a16:creationId xmlns:a16="http://schemas.microsoft.com/office/drawing/2014/main" id="{5845A7A7-3A74-45BA-B8D1-4B55C6BB2803}"/>
              </a:ext>
            </a:extLst>
          </p:cNvPr>
          <p:cNvSpPr/>
          <p:nvPr/>
        </p:nvSpPr>
        <p:spPr>
          <a:xfrm>
            <a:off x="8686800" y="4838700"/>
            <a:ext cx="457200" cy="3048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wrap="none" rtlCol="0" anchor="ctr" anchorCtr="0">
            <a:noAutofit/>
          </a:bodyPr>
          <a:lstStyle/>
          <a:p>
            <a:pPr algn="ctr"/>
            <a:r>
              <a:rPr lang="en-US" sz="800" b="1">
                <a:solidFill>
                  <a:srgbClr val="FFFFFF"/>
                </a:solidFill>
              </a:rPr>
              <a:t>15</a:t>
            </a:r>
          </a:p>
        </p:txBody>
      </p:sp>
    </p:spTree>
    <p:extLst>
      <p:ext uri="{BB962C8B-B14F-4D97-AF65-F5344CB8AC3E}">
        <p14:creationId xmlns:p14="http://schemas.microsoft.com/office/powerpoint/2010/main" val="1810802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2026-SAFeSummit-SanDiego-BreakoutSession-Speakers-MasterTemplate/slide-2.png"/>
          <p:cNvPicPr>
            <a:picLocks noChangeAspect="1"/>
          </p:cNvPicPr>
          <p:nvPr/>
        </p:nvPicPr>
        <p:blipFill>
          <a:blip r:embed="rId3"/>
          <a:stretch>
            <a:fillRect/>
          </a:stretch>
        </p:blipFill>
        <p:spPr>
          <a:xfrm>
            <a:off x="1" y="0"/>
            <a:ext cx="9143771" cy="5143500"/>
          </a:xfrm>
          <a:prstGeom prst="rect">
            <a:avLst/>
          </a:prstGeom>
        </p:spPr>
      </p:pic>
      <p:sp>
        <p:nvSpPr>
          <p:cNvPr id="3" name="Shape 0"/>
          <p:cNvSpPr/>
          <p:nvPr/>
        </p:nvSpPr>
        <p:spPr>
          <a:xfrm>
            <a:off x="356616" y="685800"/>
            <a:ext cx="6549390" cy="3806190"/>
          </a:xfrm>
          <a:prstGeom prst="rect">
            <a:avLst/>
          </a:prstGeom>
          <a:solidFill>
            <a:srgbClr val="F4F1EA"/>
          </a:solidFill>
          <a:ln w="12700">
            <a:solidFill>
              <a:srgbClr val="F4F1EA"/>
            </a:solidFill>
            <a:prstDash val="solid"/>
          </a:ln>
        </p:spPr>
        <p:txBody>
          <a:bodyPr/>
          <a:lstStyle/>
          <a:p>
            <a:endParaRPr lang="en-US" sz="1350"/>
          </a:p>
        </p:txBody>
      </p:sp>
      <p:sp>
        <p:nvSpPr>
          <p:cNvPr id="4" name="Text 1"/>
          <p:cNvSpPr/>
          <p:nvPr/>
        </p:nvSpPr>
        <p:spPr>
          <a:xfrm>
            <a:off x="466344" y="384048"/>
            <a:ext cx="6412230" cy="356616"/>
          </a:xfrm>
          <a:prstGeom prst="rect">
            <a:avLst/>
          </a:prstGeom>
          <a:noFill/>
          <a:ln/>
        </p:spPr>
        <p:txBody>
          <a:bodyPr wrap="square" lIns="0" tIns="0" rIns="0" bIns="0" rtlCol="0" anchor="ctr"/>
          <a:lstStyle/>
          <a:p>
            <a:r>
              <a:rPr lang="en-US" sz="1875" b="1">
                <a:solidFill>
                  <a:srgbClr val="102A30"/>
                </a:solidFill>
                <a:latin typeface="Arial" pitchFamily="34" charset="0"/>
                <a:ea typeface="Arial" pitchFamily="34" charset="-122"/>
                <a:cs typeface="Arial" pitchFamily="34" charset="-120"/>
              </a:rPr>
              <a:t>Key Takeaways</a:t>
            </a:r>
            <a:endParaRPr lang="en-US" sz="1875"/>
          </a:p>
        </p:txBody>
      </p:sp>
      <p:sp>
        <p:nvSpPr>
          <p:cNvPr id="5" name="Shape 2"/>
          <p:cNvSpPr/>
          <p:nvPr/>
        </p:nvSpPr>
        <p:spPr>
          <a:xfrm>
            <a:off x="466344" y="860863"/>
            <a:ext cx="720090" cy="0"/>
          </a:xfrm>
          <a:prstGeom prst="line">
            <a:avLst/>
          </a:prstGeom>
          <a:noFill/>
          <a:ln w="38100">
            <a:solidFill>
              <a:srgbClr val="6D5BC0"/>
            </a:solidFill>
            <a:prstDash val="solid"/>
          </a:ln>
        </p:spPr>
        <p:txBody>
          <a:bodyPr/>
          <a:lstStyle/>
          <a:p>
            <a:endParaRPr lang="en-US" sz="1350"/>
          </a:p>
        </p:txBody>
      </p:sp>
      <p:sp>
        <p:nvSpPr>
          <p:cNvPr id="6" name="Text 3"/>
          <p:cNvSpPr/>
          <p:nvPr/>
        </p:nvSpPr>
        <p:spPr>
          <a:xfrm>
            <a:off x="466344" y="1025750"/>
            <a:ext cx="6858000" cy="150876"/>
          </a:xfrm>
          <a:prstGeom prst="rect">
            <a:avLst/>
          </a:prstGeom>
          <a:noFill/>
          <a:ln/>
        </p:spPr>
        <p:txBody>
          <a:bodyPr wrap="square" lIns="0" tIns="0" rIns="0" bIns="0" rtlCol="0" anchor="ctr"/>
          <a:lstStyle/>
          <a:p>
            <a:r>
              <a:rPr lang="en-US" sz="1400" b="1" kern="0" spc="90">
                <a:solidFill>
                  <a:srgbClr val="6D5BC0"/>
                </a:solidFill>
              </a:rPr>
              <a:t>THREE KEY TAKEAWAYS</a:t>
            </a:r>
            <a:endParaRPr lang="en-US" sz="1400"/>
          </a:p>
        </p:txBody>
      </p:sp>
      <p:grpSp>
        <p:nvGrpSpPr>
          <p:cNvPr id="11" name="Group 10">
            <a:extLst>
              <a:ext uri="{FF2B5EF4-FFF2-40B4-BE49-F238E27FC236}">
                <a16:creationId xmlns:a16="http://schemas.microsoft.com/office/drawing/2014/main" id="{4B6020DA-3C3A-1D45-1916-FC3A618004CD}"/>
              </a:ext>
            </a:extLst>
          </p:cNvPr>
          <p:cNvGrpSpPr/>
          <p:nvPr/>
        </p:nvGrpSpPr>
        <p:grpSpPr>
          <a:xfrm>
            <a:off x="514350" y="1405890"/>
            <a:ext cx="1728216" cy="2105406"/>
            <a:chOff x="514350" y="1405890"/>
            <a:chExt cx="1728216" cy="2105406"/>
          </a:xfrm>
        </p:grpSpPr>
        <p:sp>
          <p:nvSpPr>
            <p:cNvPr id="7" name="Shape 4"/>
            <p:cNvSpPr/>
            <p:nvPr/>
          </p:nvSpPr>
          <p:spPr>
            <a:xfrm>
              <a:off x="514350" y="1405890"/>
              <a:ext cx="1728216" cy="2105406"/>
            </a:xfrm>
            <a:prstGeom prst="roundRect">
              <a:avLst>
                <a:gd name="adj" fmla="val 1587"/>
              </a:avLst>
            </a:prstGeom>
            <a:solidFill>
              <a:srgbClr val="FFFFFF"/>
            </a:solidFill>
            <a:ln w="12700">
              <a:solidFill>
                <a:srgbClr val="DAD7D0"/>
              </a:solidFill>
              <a:prstDash val="solid"/>
            </a:ln>
          </p:spPr>
          <p:txBody>
            <a:bodyPr/>
            <a:lstStyle/>
            <a:p>
              <a:endParaRPr lang="en-US" sz="1350"/>
            </a:p>
          </p:txBody>
        </p:sp>
        <p:sp>
          <p:nvSpPr>
            <p:cNvPr id="8" name="Text 5"/>
            <p:cNvSpPr/>
            <p:nvPr/>
          </p:nvSpPr>
          <p:spPr>
            <a:xfrm>
              <a:off x="637794" y="1536192"/>
              <a:ext cx="1426464" cy="171450"/>
            </a:xfrm>
            <a:prstGeom prst="rect">
              <a:avLst/>
            </a:prstGeom>
            <a:noFill/>
            <a:ln/>
          </p:spPr>
          <p:txBody>
            <a:bodyPr wrap="square" lIns="0" tIns="0" rIns="0" bIns="0" rtlCol="0" anchor="ctr"/>
            <a:lstStyle/>
            <a:p>
              <a:r>
                <a:rPr lang="en-US" sz="1100" b="1">
                  <a:solidFill>
                    <a:srgbClr val="6D5BC0"/>
                  </a:solidFill>
                </a:rPr>
                <a:t>1. EVIDENCE</a:t>
              </a:r>
              <a:endParaRPr lang="en-US" sz="1100"/>
            </a:p>
          </p:txBody>
        </p:sp>
        <p:sp>
          <p:nvSpPr>
            <p:cNvPr id="9" name="Text 6"/>
            <p:cNvSpPr/>
            <p:nvPr/>
          </p:nvSpPr>
          <p:spPr>
            <a:xfrm>
              <a:off x="637794" y="1837944"/>
              <a:ext cx="1563624" cy="377190"/>
            </a:xfrm>
            <a:prstGeom prst="rect">
              <a:avLst/>
            </a:prstGeom>
            <a:noFill/>
            <a:ln/>
          </p:spPr>
          <p:txBody>
            <a:bodyPr wrap="square" lIns="0" tIns="0" rIns="0" bIns="0" rtlCol="0" anchor="ctr"/>
            <a:lstStyle/>
            <a:p>
              <a:r>
                <a:rPr lang="en-US" sz="1400" b="1">
                  <a:solidFill>
                    <a:srgbClr val="102A30"/>
                  </a:solidFill>
                </a:rPr>
                <a:t>Metrics show what changed</a:t>
              </a:r>
              <a:endParaRPr lang="en-US" sz="1400"/>
            </a:p>
          </p:txBody>
        </p:sp>
        <p:sp>
          <p:nvSpPr>
            <p:cNvPr id="10" name="Text 7"/>
            <p:cNvSpPr/>
            <p:nvPr/>
          </p:nvSpPr>
          <p:spPr>
            <a:xfrm>
              <a:off x="648081" y="2440858"/>
              <a:ext cx="1405890" cy="754380"/>
            </a:xfrm>
            <a:prstGeom prst="rect">
              <a:avLst/>
            </a:prstGeom>
            <a:noFill/>
            <a:ln/>
          </p:spPr>
          <p:txBody>
            <a:bodyPr wrap="square" lIns="0" tIns="0" rIns="0" bIns="0" rtlCol="0" anchor="ctr">
              <a:noAutofit/>
            </a:bodyPr>
            <a:lstStyle/>
            <a:p>
              <a:r>
                <a:rPr lang="en-US" sz="1100">
                  <a:solidFill>
                    <a:srgbClr val="6E777B"/>
                  </a:solidFill>
                </a:rPr>
                <a:t>Flow Metrics turn transformation into operational evidence against a clear baseline.</a:t>
              </a:r>
              <a:endParaRPr lang="en-US" sz="1100"/>
            </a:p>
          </p:txBody>
        </p:sp>
      </p:grpSp>
      <p:sp>
        <p:nvSpPr>
          <p:cNvPr id="21" name="Shape 18"/>
          <p:cNvSpPr/>
          <p:nvPr/>
        </p:nvSpPr>
        <p:spPr>
          <a:xfrm>
            <a:off x="514350" y="3717035"/>
            <a:ext cx="5664708" cy="677983"/>
          </a:xfrm>
          <a:prstGeom prst="roundRect">
            <a:avLst>
              <a:gd name="adj" fmla="val 5128"/>
            </a:avLst>
          </a:prstGeom>
          <a:solidFill>
            <a:srgbClr val="0A3A43"/>
          </a:solidFill>
          <a:ln w="12700">
            <a:solidFill>
              <a:srgbClr val="0A3A43"/>
            </a:solidFill>
            <a:prstDash val="solid"/>
          </a:ln>
        </p:spPr>
        <p:txBody>
          <a:bodyPr/>
          <a:lstStyle/>
          <a:p>
            <a:endParaRPr lang="en-US" sz="1350"/>
          </a:p>
        </p:txBody>
      </p:sp>
      <p:sp>
        <p:nvSpPr>
          <p:cNvPr id="22" name="Text 19"/>
          <p:cNvSpPr/>
          <p:nvPr/>
        </p:nvSpPr>
        <p:spPr>
          <a:xfrm>
            <a:off x="724232" y="3791900"/>
            <a:ext cx="5033772" cy="521689"/>
          </a:xfrm>
          <a:prstGeom prst="rect">
            <a:avLst/>
          </a:prstGeom>
          <a:noFill/>
          <a:ln/>
        </p:spPr>
        <p:txBody>
          <a:bodyPr wrap="square" lIns="0" tIns="0" rIns="0" bIns="0" rtlCol="0" anchor="ctr"/>
          <a:lstStyle/>
          <a:p>
            <a:pPr algn="ctr"/>
            <a:r>
              <a:rPr lang="en-US" sz="1600" b="1" i="1">
                <a:solidFill>
                  <a:srgbClr val="FFFFFF"/>
                </a:solidFill>
              </a:rPr>
              <a:t>Metrics create evidence. Economics creates relevance. Confidence enables better decisions.</a:t>
            </a:r>
            <a:endParaRPr lang="en-US" sz="1600" i="1"/>
          </a:p>
        </p:txBody>
      </p:sp>
      <p:grpSp>
        <p:nvGrpSpPr>
          <p:cNvPr id="16" name="Group 15">
            <a:extLst>
              <a:ext uri="{FF2B5EF4-FFF2-40B4-BE49-F238E27FC236}">
                <a16:creationId xmlns:a16="http://schemas.microsoft.com/office/drawing/2014/main" id="{B864CA56-3B04-3B98-A14C-D25621094950}"/>
              </a:ext>
            </a:extLst>
          </p:cNvPr>
          <p:cNvGrpSpPr/>
          <p:nvPr/>
        </p:nvGrpSpPr>
        <p:grpSpPr>
          <a:xfrm>
            <a:off x="2242566" y="1405890"/>
            <a:ext cx="1968246" cy="2105406"/>
            <a:chOff x="2242566" y="1405890"/>
            <a:chExt cx="1968246" cy="2105406"/>
          </a:xfrm>
        </p:grpSpPr>
        <p:sp>
          <p:nvSpPr>
            <p:cNvPr id="12" name="Shape 9"/>
            <p:cNvSpPr/>
            <p:nvPr/>
          </p:nvSpPr>
          <p:spPr>
            <a:xfrm>
              <a:off x="2482596" y="1405890"/>
              <a:ext cx="1728216" cy="2105406"/>
            </a:xfrm>
            <a:prstGeom prst="roundRect">
              <a:avLst>
                <a:gd name="adj" fmla="val 1587"/>
              </a:avLst>
            </a:prstGeom>
            <a:solidFill>
              <a:srgbClr val="FFFFFF"/>
            </a:solidFill>
            <a:ln w="12700">
              <a:solidFill>
                <a:srgbClr val="DAD7D0"/>
              </a:solidFill>
              <a:prstDash val="solid"/>
            </a:ln>
          </p:spPr>
          <p:txBody>
            <a:bodyPr/>
            <a:lstStyle/>
            <a:p>
              <a:endParaRPr lang="en-US" sz="1350"/>
            </a:p>
          </p:txBody>
        </p:sp>
        <p:sp>
          <p:nvSpPr>
            <p:cNvPr id="13" name="Text 10"/>
            <p:cNvSpPr/>
            <p:nvPr/>
          </p:nvSpPr>
          <p:spPr>
            <a:xfrm>
              <a:off x="2606040" y="1536192"/>
              <a:ext cx="1426464" cy="171450"/>
            </a:xfrm>
            <a:prstGeom prst="rect">
              <a:avLst/>
            </a:prstGeom>
            <a:noFill/>
            <a:ln/>
          </p:spPr>
          <p:txBody>
            <a:bodyPr wrap="square" lIns="0" tIns="0" rIns="0" bIns="0" rtlCol="0" anchor="ctr"/>
            <a:lstStyle/>
            <a:p>
              <a:r>
                <a:rPr lang="en-US" sz="1100" b="1">
                  <a:solidFill>
                    <a:srgbClr val="81C8CC"/>
                  </a:solidFill>
                </a:rPr>
                <a:t>2. ECONOMICS</a:t>
              </a:r>
              <a:endParaRPr lang="en-US" sz="1100"/>
            </a:p>
          </p:txBody>
        </p:sp>
        <p:sp>
          <p:nvSpPr>
            <p:cNvPr id="14" name="Text 11"/>
            <p:cNvSpPr/>
            <p:nvPr/>
          </p:nvSpPr>
          <p:spPr>
            <a:xfrm>
              <a:off x="2606040" y="1837944"/>
              <a:ext cx="1563624" cy="377190"/>
            </a:xfrm>
            <a:prstGeom prst="rect">
              <a:avLst/>
            </a:prstGeom>
            <a:noFill/>
            <a:ln/>
          </p:spPr>
          <p:txBody>
            <a:bodyPr wrap="square" lIns="0" tIns="0" rIns="0" bIns="0" rtlCol="0" anchor="ctr"/>
            <a:lstStyle/>
            <a:p>
              <a:r>
                <a:rPr lang="en-US" sz="1400" b="1">
                  <a:solidFill>
                    <a:srgbClr val="102A30"/>
                  </a:solidFill>
                </a:rPr>
                <a:t>Translate change into value</a:t>
              </a:r>
              <a:endParaRPr lang="en-US" sz="1400"/>
            </a:p>
          </p:txBody>
        </p:sp>
        <p:sp>
          <p:nvSpPr>
            <p:cNvPr id="15" name="Text 12"/>
            <p:cNvSpPr/>
            <p:nvPr/>
          </p:nvSpPr>
          <p:spPr>
            <a:xfrm>
              <a:off x="2606040" y="2366010"/>
              <a:ext cx="1405890" cy="754380"/>
            </a:xfrm>
            <a:prstGeom prst="rect">
              <a:avLst/>
            </a:prstGeom>
            <a:noFill/>
            <a:ln/>
          </p:spPr>
          <p:txBody>
            <a:bodyPr wrap="square" lIns="0" tIns="0" rIns="0" bIns="0" rtlCol="0" anchor="ctr">
              <a:normAutofit fontScale="92500" lnSpcReduction="10000"/>
            </a:bodyPr>
            <a:lstStyle/>
            <a:p>
              <a:r>
                <a:rPr lang="en-US" sz="1100">
                  <a:solidFill>
                    <a:srgbClr val="6E777B"/>
                  </a:solidFill>
                </a:rPr>
                <a:t>Economic formulas make delivery improvements relevant—without creating false precision.</a:t>
              </a:r>
              <a:endParaRPr lang="en-US" sz="1100"/>
            </a:p>
          </p:txBody>
        </p:sp>
        <p:cxnSp>
          <p:nvCxnSpPr>
            <p:cNvPr id="26" name="Straight Arrow Connector 25">
              <a:extLst>
                <a:ext uri="{FF2B5EF4-FFF2-40B4-BE49-F238E27FC236}">
                  <a16:creationId xmlns:a16="http://schemas.microsoft.com/office/drawing/2014/main" id="{486DF811-A121-56E0-CE7A-DEEE98E2B091}"/>
                </a:ext>
              </a:extLst>
            </p:cNvPr>
            <p:cNvCxnSpPr>
              <a:stCxn id="7" idx="3"/>
              <a:endCxn id="12" idx="1"/>
            </p:cNvCxnSpPr>
            <p:nvPr/>
          </p:nvCxnSpPr>
          <p:spPr>
            <a:xfrm>
              <a:off x="2242566" y="2458593"/>
              <a:ext cx="24003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555268C6-687B-9B0F-A906-85E1E2C7310D}"/>
              </a:ext>
            </a:extLst>
          </p:cNvPr>
          <p:cNvGrpSpPr/>
          <p:nvPr/>
        </p:nvGrpSpPr>
        <p:grpSpPr>
          <a:xfrm>
            <a:off x="4210812" y="1405890"/>
            <a:ext cx="1968246" cy="2105406"/>
            <a:chOff x="4210812" y="1405890"/>
            <a:chExt cx="1968246" cy="2105406"/>
          </a:xfrm>
        </p:grpSpPr>
        <p:sp>
          <p:nvSpPr>
            <p:cNvPr id="17" name="Shape 14"/>
            <p:cNvSpPr/>
            <p:nvPr/>
          </p:nvSpPr>
          <p:spPr>
            <a:xfrm>
              <a:off x="4450842" y="1405890"/>
              <a:ext cx="1728216" cy="2105406"/>
            </a:xfrm>
            <a:prstGeom prst="roundRect">
              <a:avLst>
                <a:gd name="adj" fmla="val 1587"/>
              </a:avLst>
            </a:prstGeom>
            <a:solidFill>
              <a:srgbClr val="FFFFFF"/>
            </a:solidFill>
            <a:ln w="12700">
              <a:solidFill>
                <a:srgbClr val="DAD7D0"/>
              </a:solidFill>
              <a:prstDash val="solid"/>
            </a:ln>
          </p:spPr>
          <p:txBody>
            <a:bodyPr/>
            <a:lstStyle/>
            <a:p>
              <a:endParaRPr lang="en-US" sz="1350"/>
            </a:p>
          </p:txBody>
        </p:sp>
        <p:sp>
          <p:nvSpPr>
            <p:cNvPr id="18" name="Text 15"/>
            <p:cNvSpPr/>
            <p:nvPr/>
          </p:nvSpPr>
          <p:spPr>
            <a:xfrm>
              <a:off x="4544790" y="1536192"/>
              <a:ext cx="1426464" cy="171450"/>
            </a:xfrm>
            <a:prstGeom prst="rect">
              <a:avLst/>
            </a:prstGeom>
            <a:noFill/>
            <a:ln/>
          </p:spPr>
          <p:txBody>
            <a:bodyPr wrap="square" lIns="0" tIns="0" rIns="0" bIns="0" rtlCol="0" anchor="ctr"/>
            <a:lstStyle/>
            <a:p>
              <a:r>
                <a:rPr lang="en-US" sz="1100" b="1">
                  <a:solidFill>
                    <a:srgbClr val="F4A53D"/>
                  </a:solidFill>
                </a:rPr>
                <a:t>3. DECISIONS</a:t>
              </a:r>
              <a:endParaRPr lang="en-US" sz="1100"/>
            </a:p>
          </p:txBody>
        </p:sp>
        <p:sp>
          <p:nvSpPr>
            <p:cNvPr id="19" name="Text 16"/>
            <p:cNvSpPr/>
            <p:nvPr/>
          </p:nvSpPr>
          <p:spPr>
            <a:xfrm>
              <a:off x="4544790" y="1837944"/>
              <a:ext cx="1563624" cy="377190"/>
            </a:xfrm>
            <a:prstGeom prst="rect">
              <a:avLst/>
            </a:prstGeom>
            <a:noFill/>
            <a:ln/>
          </p:spPr>
          <p:txBody>
            <a:bodyPr wrap="square" lIns="0" tIns="0" rIns="0" bIns="0" rtlCol="0" anchor="ctr"/>
            <a:lstStyle/>
            <a:p>
              <a:r>
                <a:rPr lang="en-US" sz="1400" b="1">
                  <a:solidFill>
                    <a:srgbClr val="102A30"/>
                  </a:solidFill>
                </a:rPr>
                <a:t>Use confidence to decide</a:t>
              </a:r>
              <a:endParaRPr lang="en-US" sz="1400"/>
            </a:p>
          </p:txBody>
        </p:sp>
        <p:sp>
          <p:nvSpPr>
            <p:cNvPr id="20" name="Text 17"/>
            <p:cNvSpPr/>
            <p:nvPr/>
          </p:nvSpPr>
          <p:spPr>
            <a:xfrm>
              <a:off x="4567427" y="2424708"/>
              <a:ext cx="1474470" cy="754380"/>
            </a:xfrm>
            <a:prstGeom prst="rect">
              <a:avLst/>
            </a:prstGeom>
            <a:noFill/>
            <a:ln/>
          </p:spPr>
          <p:txBody>
            <a:bodyPr wrap="square" lIns="0" tIns="0" rIns="0" bIns="0" rtlCol="0" anchor="ctr">
              <a:noAutofit/>
            </a:bodyPr>
            <a:lstStyle/>
            <a:p>
              <a:r>
                <a:rPr lang="en-US" sz="1100">
                  <a:solidFill>
                    <a:srgbClr val="6E777B"/>
                  </a:solidFill>
                </a:rPr>
                <a:t>Assumptions and data quality guide where to invest, stop, or accelerate.</a:t>
              </a:r>
              <a:endParaRPr lang="en-US" sz="1100"/>
            </a:p>
          </p:txBody>
        </p:sp>
        <p:cxnSp>
          <p:nvCxnSpPr>
            <p:cNvPr id="27" name="Straight Arrow Connector 26">
              <a:extLst>
                <a:ext uri="{FF2B5EF4-FFF2-40B4-BE49-F238E27FC236}">
                  <a16:creationId xmlns:a16="http://schemas.microsoft.com/office/drawing/2014/main" id="{2D5433D0-B888-CE9E-8D5B-E741742010D7}"/>
                </a:ext>
              </a:extLst>
            </p:cNvPr>
            <p:cNvCxnSpPr/>
            <p:nvPr/>
          </p:nvCxnSpPr>
          <p:spPr>
            <a:xfrm>
              <a:off x="4210812" y="2458593"/>
              <a:ext cx="24003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24" name="Rectangle 23">
            <a:extLst>
              <a:ext uri="{FF2B5EF4-FFF2-40B4-BE49-F238E27FC236}">
                <a16:creationId xmlns:a16="http://schemas.microsoft.com/office/drawing/2014/main" id="{DB046E4D-E078-4F65-AE73-63725B36C4B1}"/>
              </a:ext>
            </a:extLst>
          </p:cNvPr>
          <p:cNvSpPr/>
          <p:nvPr/>
        </p:nvSpPr>
        <p:spPr>
          <a:xfrm>
            <a:off x="8382000" y="4838700"/>
            <a:ext cx="304800" cy="3048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rtlCol="0" anchor="t"/>
          <a:lstStyle/>
          <a:p>
            <a:pPr algn="ctr"/>
            <a:endParaRPr lang="en-US"/>
          </a:p>
        </p:txBody>
      </p:sp>
      <p:sp>
        <p:nvSpPr>
          <p:cNvPr id="25" name="BP_PageNumber">
            <a:extLst>
              <a:ext uri="{FF2B5EF4-FFF2-40B4-BE49-F238E27FC236}">
                <a16:creationId xmlns:a16="http://schemas.microsoft.com/office/drawing/2014/main" id="{D08235AB-A94C-4406-8331-0419CAE534F0}"/>
              </a:ext>
            </a:extLst>
          </p:cNvPr>
          <p:cNvSpPr/>
          <p:nvPr/>
        </p:nvSpPr>
        <p:spPr>
          <a:xfrm>
            <a:off x="8686800" y="4838700"/>
            <a:ext cx="457200" cy="304800"/>
          </a:xfrm>
          <a:prstGeom prst="rect">
            <a:avLst/>
          </a:prstGeom>
          <a:solidFill>
            <a:srgbClr val="032E35"/>
          </a:solidFill>
          <a:ln w="28575" cap="flat" cmpd="sng" algn="ctr">
            <a:noFill/>
            <a:prstDash val="solid"/>
          </a:ln>
        </p:spPr>
        <p:style>
          <a:lnRef idx="2">
            <a:schemeClr val="accent5">
              <a:shade val="50000"/>
            </a:schemeClr>
          </a:lnRef>
          <a:fillRef idx="1">
            <a:schemeClr val="accent5"/>
          </a:fillRef>
          <a:effectRef idx="0">
            <a:schemeClr val="accent5"/>
          </a:effectRef>
          <a:fontRef idx="minor">
            <a:schemeClr val="lt1"/>
          </a:fontRef>
        </p:style>
        <p:txBody>
          <a:bodyPr vertOverflow="clip" horzOverflow="clip" wrap="none" rtlCol="0" anchor="ctr" anchorCtr="0">
            <a:noAutofit/>
          </a:bodyPr>
          <a:lstStyle/>
          <a:p>
            <a:pPr algn="ctr"/>
            <a:r>
              <a:rPr lang="en-US" sz="800" b="1">
                <a:solidFill>
                  <a:srgbClr val="FFFFFF"/>
                </a:solidFill>
              </a:rPr>
              <a:t>16</a:t>
            </a:r>
          </a:p>
        </p:txBody>
      </p:sp>
    </p:spTree>
    <p:extLst>
      <p:ext uri="{BB962C8B-B14F-4D97-AF65-F5344CB8AC3E}">
        <p14:creationId xmlns:p14="http://schemas.microsoft.com/office/powerpoint/2010/main" val="4190297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x_Picture 1">
            <a:extLst>
              <a:ext uri="{FF2B5EF4-FFF2-40B4-BE49-F238E27FC236}">
                <a16:creationId xmlns:a16="http://schemas.microsoft.com/office/drawing/2014/main" id="{5430DB4C-0496-8045-9F74-977DBA2D4BA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8075" y="-1212850"/>
            <a:ext cx="11360150" cy="7569200"/>
          </a:xfrm>
          <a:prstGeom prst="rect">
            <a:avLst/>
          </a:prstGeom>
          <a:noFill/>
          <a:ln>
            <a:noFill/>
          </a:ln>
        </p:spPr>
      </p:pic>
      <p:sp>
        <p:nvSpPr>
          <p:cNvPr id="2" name="Rectangle 1">
            <a:extLst>
              <a:ext uri="{FF2B5EF4-FFF2-40B4-BE49-F238E27FC236}">
                <a16:creationId xmlns:a16="http://schemas.microsoft.com/office/drawing/2014/main" id="{02DF9F41-EA4E-D3A2-7E8D-033C1B18F63C}"/>
              </a:ext>
            </a:extLst>
          </p:cNvPr>
          <p:cNvSpPr/>
          <p:nvPr/>
        </p:nvSpPr>
        <p:spPr>
          <a:xfrm>
            <a:off x="-1025912" y="1483112"/>
            <a:ext cx="2207941" cy="825190"/>
          </a:xfrm>
          <a:prstGeom prst="rect">
            <a:avLst/>
          </a:prstGeom>
          <a:noFill/>
          <a:ln>
            <a:solidFill>
              <a:schemeClr val="accent3"/>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A2046BA-B2A7-8C88-60C8-CB6ECE47421D}"/>
              </a:ext>
            </a:extLst>
          </p:cNvPr>
          <p:cNvSpPr/>
          <p:nvPr/>
        </p:nvSpPr>
        <p:spPr>
          <a:xfrm>
            <a:off x="6129454" y="-159834"/>
            <a:ext cx="2207941" cy="825190"/>
          </a:xfrm>
          <a:prstGeom prst="rect">
            <a:avLst/>
          </a:prstGeom>
          <a:noFill/>
          <a:ln>
            <a:solidFill>
              <a:schemeClr val="accent3"/>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3390972-8471-1D8A-F023-CBEAE6585624}"/>
              </a:ext>
            </a:extLst>
          </p:cNvPr>
          <p:cNvSpPr/>
          <p:nvPr/>
        </p:nvSpPr>
        <p:spPr>
          <a:xfrm>
            <a:off x="5962176" y="4211443"/>
            <a:ext cx="2207941" cy="472069"/>
          </a:xfrm>
          <a:prstGeom prst="rect">
            <a:avLst/>
          </a:prstGeom>
          <a:noFill/>
          <a:ln>
            <a:solidFill>
              <a:schemeClr val="accent3"/>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18292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I_Corporate Template_V4">
  <a:themeElements>
    <a:clrScheme name="SAI-v1b 1">
      <a:dk1>
        <a:srgbClr val="053946"/>
      </a:dk1>
      <a:lt1>
        <a:srgbClr val="FFFFFF"/>
      </a:lt1>
      <a:dk2>
        <a:srgbClr val="333333"/>
      </a:dk2>
      <a:lt2>
        <a:srgbClr val="F8F2E6"/>
      </a:lt2>
      <a:accent1>
        <a:srgbClr val="993320"/>
      </a:accent1>
      <a:accent2>
        <a:srgbClr val="0A83A0"/>
      </a:accent2>
      <a:accent3>
        <a:srgbClr val="CB9349"/>
      </a:accent3>
      <a:accent4>
        <a:srgbClr val="1A6137"/>
      </a:accent4>
      <a:accent5>
        <a:srgbClr val="76B5C3"/>
      </a:accent5>
      <a:accent6>
        <a:srgbClr val="DCBD91"/>
      </a:accent6>
      <a:hlink>
        <a:srgbClr val="0983A0"/>
      </a:hlink>
      <a:folHlink>
        <a:srgbClr val="05394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spDef>
      <a:spPr>
        <a:solidFill>
          <a:schemeClr val="accent5">
            <a:lumMod val="60000"/>
            <a:lumOff val="40000"/>
          </a:schemeClr>
        </a:solidFill>
        <a:ln>
          <a:noFill/>
        </a:ln>
      </a:spPr>
      <a:bodyPr rtlCol="0" anchor="ctr"/>
      <a:lstStyle>
        <a:defPPr algn="ctr">
          <a:defRPr/>
        </a:defPPr>
      </a:lstStyle>
      <a:style>
        <a:lnRef idx="2">
          <a:schemeClr val="accent5">
            <a:shade val="50000"/>
          </a:schemeClr>
        </a:lnRef>
        <a:fillRef idx="1">
          <a:schemeClr val="accent5"/>
        </a:fillRef>
        <a:effectRef idx="0">
          <a:schemeClr val="accent5"/>
        </a:effectRef>
        <a:fontRef idx="minor">
          <a:schemeClr val="lt1"/>
        </a:fontRef>
      </a:style>
    </a:spDef>
  </a:objectDefaults>
  <a:extraClrSchemeLst/>
  <a:extLst>
    <a:ext uri="{05A4C25C-085E-4340-85A3-A5531E510DB2}">
      <thm15:themeFamily xmlns:thm15="http://schemas.microsoft.com/office/thememl/2012/main" name="Presentation4" id="{F72AE06C-F3B5-E44A-B4C4-4DA60CFB7230}" vid="{8DCC218B-635B-B347-8509-1C34F4B60CD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BC00B43-E7FC-43E9-A8F8-2D03915806F7}">
  <we:reference id="WA200010215" version="2.0.0.0" store="Omex" storeType="OMEX"/>
  <we:alternateReferences>
    <we:reference id="WA200010215" version="2.0.0.0" store="WA200010215" storeType="OMEX"/>
  </we:alternateReferences>
  <we:properties>
    <we:property name="bps.codex_control.document_id" value="&quot;db092a1a-6759-41df-933f-a53b3766b03c&quot;"/>
  </we:properties>
  <we:bindings/>
  <we:snapshot xmlns:r="http://schemas.openxmlformats.org/officeDocument/2006/relationships"/>
</we:webextension>
</file>

<file path=docMetadata/LabelInfo.xml><?xml version="1.0" encoding="utf-8"?>
<clbl:labelList xmlns:clbl="http://schemas.microsoft.com/office/2020/mipLabelMetadata">
  <clbl:label id="{d9290083-bd2f-48a2-8ac5-09a524b17d15}" enabled="1" method="Privileged" siteId="{b9fec68c-c92d-461e-9a97-3d03a0f18b82}" contentBits="1" removed="0"/>
</clbl:labelList>
</file>

<file path=docProps/app.xml><?xml version="1.0" encoding="utf-8"?>
<Properties xmlns="http://schemas.openxmlformats.org/officeDocument/2006/extended-properties" xmlns:vt="http://schemas.openxmlformats.org/officeDocument/2006/docPropsVTypes">
  <Template>SAI_Corporate Template_V4</Template>
  <Application>Microsoft Office PowerPoint</Application>
  <PresentationFormat>On-screen Show (16:9)</PresentationFormat>
  <Slides>18</Slides>
  <Notes>18</Notes>
  <HiddenSlides>0</HiddenSlides>
  <ScaleCrop>false</ScaleCrop>
  <HeadingPairs>
    <vt:vector size="4" baseType="variant">
      <vt:variant>
        <vt:lpstr>Theme</vt:lpstr>
      </vt:variant>
      <vt:variant>
        <vt:i4>2</vt:i4>
      </vt:variant>
      <vt:variant>
        <vt:lpstr>Slide Titles</vt:lpstr>
      </vt:variant>
      <vt:variant>
        <vt:i4>18</vt:i4>
      </vt:variant>
    </vt:vector>
  </HeadingPairs>
  <TitlesOfParts>
    <vt:vector size="20" baseType="lpstr">
      <vt:lpstr>SAI_Corporate Template_V4</vt:lpstr>
      <vt:lpstr>Office Theme</vt:lpstr>
      <vt:lpstr>From Flow Metrics to Executive Value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Creating a New Presentation with the  New Corporate Template</dc:title>
  <dc:subject/>
  <dc:creator>Microsoft Office User</dc:creator>
  <cp:keywords/>
  <dc:description/>
  <cp:revision>4</cp:revision>
  <dcterms:created xsi:type="dcterms:W3CDTF">2023-02-21T21:03:02Z</dcterms:created>
  <dcterms:modified xsi:type="dcterms:W3CDTF">2026-09-16T23:06:19Z</dcterms:modified>
  <cp:category/>
</cp:coreProperties>
</file>